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670" r:id="rId1"/>
  </p:sldMasterIdLst>
  <p:notesMasterIdLst>
    <p:notesMasterId r:id="rId38"/>
  </p:notesMasterIdLst>
  <p:handoutMasterIdLst>
    <p:handoutMasterId r:id="rId39"/>
  </p:handoutMasterIdLst>
  <p:sldIdLst>
    <p:sldId id="472" r:id="rId2"/>
    <p:sldId id="426" r:id="rId3"/>
    <p:sldId id="427" r:id="rId4"/>
    <p:sldId id="428" r:id="rId5"/>
    <p:sldId id="429" r:id="rId6"/>
    <p:sldId id="430" r:id="rId7"/>
    <p:sldId id="431" r:id="rId8"/>
    <p:sldId id="435" r:id="rId9"/>
    <p:sldId id="433" r:id="rId10"/>
    <p:sldId id="436" r:id="rId11"/>
    <p:sldId id="437" r:id="rId12"/>
    <p:sldId id="438" r:id="rId13"/>
    <p:sldId id="440" r:id="rId14"/>
    <p:sldId id="442" r:id="rId15"/>
    <p:sldId id="443" r:id="rId16"/>
    <p:sldId id="444" r:id="rId17"/>
    <p:sldId id="445" r:id="rId18"/>
    <p:sldId id="447" r:id="rId19"/>
    <p:sldId id="449" r:id="rId20"/>
    <p:sldId id="450" r:id="rId21"/>
    <p:sldId id="452" r:id="rId22"/>
    <p:sldId id="453" r:id="rId23"/>
    <p:sldId id="454" r:id="rId24"/>
    <p:sldId id="455" r:id="rId25"/>
    <p:sldId id="456" r:id="rId26"/>
    <p:sldId id="458" r:id="rId27"/>
    <p:sldId id="459" r:id="rId28"/>
    <p:sldId id="460" r:id="rId29"/>
    <p:sldId id="461" r:id="rId30"/>
    <p:sldId id="462" r:id="rId31"/>
    <p:sldId id="463" r:id="rId32"/>
    <p:sldId id="464" r:id="rId33"/>
    <p:sldId id="466" r:id="rId34"/>
    <p:sldId id="467" r:id="rId35"/>
    <p:sldId id="469" r:id="rId36"/>
    <p:sldId id="470" r:id="rId37"/>
  </p:sldIdLst>
  <p:sldSz cx="12161838" cy="6858000"/>
  <p:notesSz cx="6858000" cy="9144000"/>
  <p:embeddedFontLst>
    <p:embeddedFont>
      <p:font typeface="Book Antiqua" panose="02040602050305030304" pitchFamily="18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MS Reference Serif" panose="020B0604020202020204" charset="0"/>
      <p:regular r:id="rId45"/>
      <p:bold r:id="rId46"/>
      <p:italic r:id="rId47"/>
      <p:boldItalic r:id="rId48"/>
    </p:embeddedFont>
  </p:embeddedFont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S Reference Serif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pos="6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bitha Kamath" initials="" lastIdx="0" clrIdx="0"/>
  <p:cmAuthor id="2" name="Julie Angel" initials="JA" lastIdx="2" clrIdx="1">
    <p:extLst>
      <p:ext uri="{19B8F6BF-5375-455C-9EA6-DF929625EA0E}">
        <p15:presenceInfo xmlns:p15="http://schemas.microsoft.com/office/powerpoint/2012/main" userId="fec48bcc1f8699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60033"/>
    <a:srgbClr val="729A00"/>
    <a:srgbClr val="33CCCC"/>
    <a:srgbClr val="7CA800"/>
    <a:srgbClr val="82B000"/>
    <a:srgbClr val="72AF2F"/>
    <a:srgbClr val="527B0F"/>
    <a:srgbClr val="9CC80E"/>
    <a:srgbClr val="A7D7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87500" autoAdjust="0"/>
  </p:normalViewPr>
  <p:slideViewPr>
    <p:cSldViewPr snapToGrid="0">
      <p:cViewPr varScale="1">
        <p:scale>
          <a:sx n="69" d="100"/>
          <a:sy n="69" d="100"/>
        </p:scale>
        <p:origin x="974" y="58"/>
      </p:cViewPr>
      <p:guideLst>
        <p:guide orient="horz" pos="708"/>
        <p:guide pos="660"/>
      </p:guideLst>
    </p:cSldViewPr>
  </p:slideViewPr>
  <p:outlineViewPr>
    <p:cViewPr>
      <p:scale>
        <a:sx n="33" d="100"/>
        <a:sy n="33" d="100"/>
      </p:scale>
      <p:origin x="0" y="-3340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81750" y="8750300"/>
            <a:ext cx="4064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/>
          <a:p>
            <a:pPr algn="r"/>
            <a:fld id="{05814E8E-8452-456F-B75E-497F72984E8A}" type="slidenum">
              <a:rPr lang="en-US" sz="1400">
                <a:effectLst/>
                <a:latin typeface="Book Antiqua" pitchFamily="18" charset="0"/>
              </a:rPr>
              <a:pPr algn="r"/>
              <a:t>‹#›</a:t>
            </a:fld>
            <a:endParaRPr lang="en-US" sz="1400">
              <a:effectLst/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248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0050" y="692150"/>
            <a:ext cx="60579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81750" y="8750300"/>
            <a:ext cx="406400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/>
          <a:p>
            <a:pPr algn="r"/>
            <a:fld id="{FF53787D-237A-4E90-A982-1DF133F8C0B7}" type="slidenum">
              <a:rPr lang="en-US" sz="1400">
                <a:effectLst/>
                <a:latin typeface="Book Antiqua" pitchFamily="18" charset="0"/>
              </a:rPr>
              <a:pPr algn="r"/>
              <a:t>‹#›</a:t>
            </a:fld>
            <a:endParaRPr lang="en-US" sz="1400">
              <a:effectLst/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3263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8183C1DF-5E15-4B5F-BDE0-920118E0A9B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555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68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6127" y="2534653"/>
            <a:ext cx="5372812" cy="1186447"/>
          </a:xfrm>
        </p:spPr>
        <p:txBody>
          <a:bodyPr anchor="t">
            <a:noAutofit/>
          </a:bodyPr>
          <a:lstStyle>
            <a:lvl1pPr algn="l">
              <a:defRPr sz="319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6127" y="3962400"/>
            <a:ext cx="5372812" cy="737937"/>
          </a:xfrm>
        </p:spPr>
        <p:txBody>
          <a:bodyPr>
            <a:noAutofit/>
          </a:bodyPr>
          <a:lstStyle>
            <a:lvl1pPr marL="0" indent="0" algn="l">
              <a:buNone/>
              <a:defRPr sz="1596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9262F-EE24-423F-9BD8-0C9EC60622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127" y="6448426"/>
            <a:ext cx="9485434" cy="409575"/>
          </a:xfrm>
        </p:spPr>
        <p:txBody>
          <a:bodyPr>
            <a:normAutofit/>
          </a:bodyPr>
          <a:lstStyle>
            <a:lvl1pPr marL="0" indent="0">
              <a:buNone/>
              <a:defRPr sz="798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 descr="The cover of Statistics for Business and Economics features a busy highway headed into a big city filled with skyscrapers. It is dusk; lights and reflections are scattered across the image.">
            <a:extLst>
              <a:ext uri="{FF2B5EF4-FFF2-40B4-BE49-F238E27FC236}">
                <a16:creationId xmlns:a16="http://schemas.microsoft.com/office/drawing/2014/main" id="{6E8A0320-B4C5-4F1D-9324-E74C6C306A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29174" y="659095"/>
            <a:ext cx="4301053" cy="537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48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ffectLst/>
                <a:latin typeface="+mn-lt"/>
              </a:defRPr>
            </a:lvl1pPr>
          </a:lstStyle>
          <a:p>
            <a:fld id="{949EBC64-41CB-41B8-B6DF-9B1367312B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778BA-37CC-4C6B-B131-5CE1FB1B2A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8200" y="6448508"/>
            <a:ext cx="9442837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80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© 2020  Cengage.  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May not be scanned, copied or duplicated, or posted to a publicly accessible website, in whole or in part, except for use as permitted</a:t>
            </a:r>
            <a:r>
              <a:rPr lang="en-US" sz="800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in a license distributed with a certain product or service or otherwise on a password-protected website or</a:t>
            </a:r>
            <a:r>
              <a:rPr lang="en-US" sz="800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school-approved learning management system f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7928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6" y="1463040"/>
            <a:ext cx="5168781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6931" y="1463040"/>
            <a:ext cx="5168781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732230-687E-4DE6-A0FF-C4F9BA66D3C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8200" y="6448508"/>
            <a:ext cx="9442837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80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© 2020  Cengage.  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May not be scanned, copied or duplicated, or posted to a publicly accessible website, in whole or in part, except for use as permitted</a:t>
            </a:r>
            <a:r>
              <a:rPr lang="en-US" sz="800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in a license distributed with a certain product or service or otherwise on a password-protected website or</a:t>
            </a:r>
            <a:r>
              <a:rPr lang="en-US" sz="800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school-approved learning management system f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241213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836127" y="1547264"/>
            <a:ext cx="10489585" cy="131625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Content Placeholder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836127" y="2995499"/>
            <a:ext cx="10489585" cy="142009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Content Placeholder 2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FF95CBC-B56A-442D-BB6F-B0C2C54B38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6127" y="4551998"/>
            <a:ext cx="10489585" cy="142009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Content Placeholder 3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9C50A-5E8D-4215-A2DE-4149A42A61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127" y="6448509"/>
            <a:ext cx="9419476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264" tIns="44340" rIns="90264" bIns="4434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98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© 2020  Cengage.  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May not be scanned, copied or duplicated, or posted to a publicly accessible website, in whole or in part, except for use as permitted</a:t>
            </a:r>
            <a:r>
              <a:rPr lang="en-US" sz="798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in a license distributed with a certain product or service or otherwise on a password-protected website or</a:t>
            </a:r>
            <a:r>
              <a:rPr lang="en-US" sz="798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school-approved learning management system f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7243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6" y="1547264"/>
            <a:ext cx="5023368" cy="20535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126" y="3919839"/>
            <a:ext cx="5023368" cy="205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1EA97922-68D1-4A28-85F3-CE1C535B35D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02346" y="1547264"/>
            <a:ext cx="5023368" cy="20535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3CC27E8A-B85C-4DA8-8400-C5DD9CDACDE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02346" y="3919839"/>
            <a:ext cx="5023368" cy="205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9C50A-5E8D-4215-A2DE-4149A42A61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127" y="6448509"/>
            <a:ext cx="9419476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264" tIns="44340" rIns="90264" bIns="4434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98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© 2020  Cengage.  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May not be scanned, copied or duplicated, or posted to a publicly accessible website, in whole or in part, except for use as permitted</a:t>
            </a:r>
            <a:r>
              <a:rPr lang="en-US" sz="798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in a license distributed with a certain product or service or otherwise on a password-protected website or</a:t>
            </a:r>
            <a:r>
              <a:rPr lang="en-US" sz="798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school-approved learning management system f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7557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836126" y="1547264"/>
            <a:ext cx="5023368" cy="1316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836126" y="2995499"/>
            <a:ext cx="5023368" cy="142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FF95CBC-B56A-442D-BB6F-B0C2C54B38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126" y="4551998"/>
            <a:ext cx="5023368" cy="14200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1EA97922-68D1-4A28-85F3-CE1C535B35D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02346" y="1547264"/>
            <a:ext cx="5023368" cy="1316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3CC27E8A-B85C-4DA8-8400-C5DD9CDACDE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02346" y="2995499"/>
            <a:ext cx="5023368" cy="142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521CB01A-58A0-425F-A930-A35E44F536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2346" y="4551998"/>
            <a:ext cx="5023368" cy="14200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9C50A-5E8D-4215-A2DE-4149A42A61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127" y="6448509"/>
            <a:ext cx="9419476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264" tIns="44340" rIns="90264" bIns="4434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98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© 2020  Cengage.  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May not be scanned, copied or duplicated, or posted to a publicly accessible website, in whole or in part, except for use as permitted</a:t>
            </a:r>
            <a:r>
              <a:rPr lang="en-US" sz="798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in a license distributed with a certain product or service or otherwise on a password-protected website or</a:t>
            </a:r>
            <a:r>
              <a:rPr lang="en-US" sz="798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school-approved learning management system f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95347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836126" y="1547264"/>
            <a:ext cx="3179263" cy="1316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836126" y="2995499"/>
            <a:ext cx="3179263" cy="142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FF95CBC-B56A-442D-BB6F-B0C2C54B38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126" y="4551998"/>
            <a:ext cx="3179263" cy="14200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D12FFE69-8A81-407D-A4B6-C6F651E0EBB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491288" y="1547264"/>
            <a:ext cx="3179263" cy="1316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939EBEFC-74FB-4864-A9C1-7F4A6C438D4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491288" y="2995499"/>
            <a:ext cx="3179263" cy="142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09799651-BA94-4F79-8B8B-22BE40E35BE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91288" y="4551998"/>
            <a:ext cx="3179263" cy="14200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03C49D1E-4578-469C-B11F-063464DCCEEA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46449" y="1547264"/>
            <a:ext cx="3179263" cy="1316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F291FBCD-33AA-48C9-81C6-4C086525CBD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146449" y="2995499"/>
            <a:ext cx="3179263" cy="142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8389CB71-4AEB-432E-8E45-D9B850C56B7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46449" y="4551998"/>
            <a:ext cx="3179263" cy="14200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9C50A-5E8D-4215-A2DE-4149A42A61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127" y="6448509"/>
            <a:ext cx="9419476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264" tIns="44340" rIns="90264" bIns="4434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798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© 2020  Cengage.  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May not be scanned, copied or duplicated, or posted to a publicly accessible website, in whole or in part, except for use as permitted</a:t>
            </a:r>
            <a:r>
              <a:rPr lang="en-US" sz="798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in a license distributed with a certain product or service or otherwise on a password-protected website or</a:t>
            </a:r>
            <a:r>
              <a:rPr lang="en-US" sz="798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school-approved learning management system f</a:t>
            </a:r>
            <a:r>
              <a:rPr lang="en-US" sz="798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7194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711" y="1463040"/>
            <a:ext cx="5145027" cy="7398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7711" y="2298811"/>
            <a:ext cx="5145027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56931" y="1463040"/>
            <a:ext cx="5170365" cy="73988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56931" y="2298811"/>
            <a:ext cx="5170365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6127" y="640081"/>
            <a:ext cx="10489585" cy="727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474344-07ED-40EB-9D8E-5E7974ED54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8200" y="6448508"/>
            <a:ext cx="9442837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80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© 2020  Cengage.  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May not be scanned, copied or duplicated, or posted to a publicly accessible website, in whole or in part, except for use as permitted</a:t>
            </a:r>
            <a:r>
              <a:rPr lang="en-US" sz="800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in a license distributed with a certain product or service or otherwise on a password-protected website or</a:t>
            </a:r>
            <a:r>
              <a:rPr lang="en-US" sz="800" baseline="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 school-approved learning management system f</a:t>
            </a:r>
            <a:r>
              <a:rPr lang="en-US" sz="800" dirty="0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3772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" y="1"/>
            <a:ext cx="12191996" cy="464388"/>
          </a:xfrm>
          <a:prstGeom prst="rect">
            <a:avLst/>
          </a:prstGeom>
          <a:solidFill>
            <a:srgbClr val="BF2317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6127" y="640081"/>
            <a:ext cx="10489585" cy="727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127" y="1463040"/>
            <a:ext cx="10489585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99774" y="6448509"/>
            <a:ext cx="625938" cy="27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EBC64-41CB-41B8-B6DF-9B1367312BD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64389"/>
            <a:ext cx="12196108" cy="111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6248402"/>
            <a:ext cx="12196106" cy="111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6098056" y="48578"/>
            <a:ext cx="5227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effectLst/>
                <a:latin typeface="+mn-lt"/>
              </a:rPr>
              <a:t>Statistics for Business and Economics </a:t>
            </a:r>
            <a:r>
              <a:rPr lang="en-US" sz="1800">
                <a:solidFill>
                  <a:schemeClr val="bg1"/>
                </a:solidFill>
                <a:effectLst/>
                <a:latin typeface="+mn-lt"/>
              </a:rPr>
              <a:t>(14e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</a:rPr>
              <a:t>)</a:t>
            </a: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0" y="6175652"/>
            <a:ext cx="12191997" cy="796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3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72" r:id="rId2"/>
    <p:sldLayoutId id="2147483674" r:id="rId3"/>
    <p:sldLayoutId id="2147483695" r:id="rId4"/>
    <p:sldLayoutId id="2147483696" r:id="rId5"/>
    <p:sldLayoutId id="2147483697" r:id="rId6"/>
    <p:sldLayoutId id="2147483698" r:id="rId7"/>
    <p:sldLayoutId id="2147483675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Statistics for </a:t>
            </a:r>
            <a:br>
              <a:rPr lang="en-US" dirty="0"/>
            </a:br>
            <a:r>
              <a:rPr lang="en-US" dirty="0"/>
              <a:t>Business and Economics (14e)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B83FB1D-EE04-4C33-A619-5D92621F0B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Anderson, Sweeney, Williams, </a:t>
            </a:r>
            <a:r>
              <a:rPr lang="en-US" dirty="0" err="1"/>
              <a:t>Camm</a:t>
            </a:r>
            <a:r>
              <a:rPr lang="en-US" dirty="0"/>
              <a:t>, Cochran, Fry, </a:t>
            </a:r>
            <a:r>
              <a:rPr lang="en-US" dirty="0" err="1"/>
              <a:t>Ohlmann</a:t>
            </a:r>
            <a:endParaRPr lang="en-US" dirty="0"/>
          </a:p>
          <a:p>
            <a:r>
              <a:rPr lang="en-US" dirty="0"/>
              <a:t>© 2020 Cengage Learning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D073E9-755F-4611-8600-4823B05987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© 2020  Cengage. 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77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Chapter 6 -</a:t>
            </a:r>
            <a:r>
              <a:rPr lang="en-US" b="1" baseline="0" dirty="0"/>
              <a:t> </a:t>
            </a:r>
            <a:r>
              <a:rPr lang="en-US" b="1" dirty="0"/>
              <a:t>Continuous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6" y="1547263"/>
            <a:ext cx="5023368" cy="2516737"/>
          </a:xfrm>
        </p:spPr>
        <p:txBody>
          <a:bodyPr>
            <a:noAutofit/>
          </a:bodyPr>
          <a:lstStyle/>
          <a:p>
            <a:pPr marL="0" indent="0">
              <a:buSzPct val="100000"/>
              <a:buNone/>
            </a:pPr>
            <a:r>
              <a:rPr lang="en-US" sz="2400" dirty="0"/>
              <a:t>6.1 – Uniform Probability Distribution</a:t>
            </a:r>
          </a:p>
          <a:p>
            <a:pPr marL="0" indent="0">
              <a:buSzPct val="100000"/>
              <a:buNone/>
            </a:pPr>
            <a:r>
              <a:rPr lang="en-US" sz="2400" dirty="0"/>
              <a:t>6.2 – Normal Probability Distribution</a:t>
            </a:r>
          </a:p>
          <a:p>
            <a:pPr marL="0" indent="0">
              <a:buSzPct val="100000"/>
              <a:buNone/>
            </a:pPr>
            <a:r>
              <a:rPr lang="en-US" sz="2400" dirty="0"/>
              <a:t>6.3 – Normal Approximation of Binomial Probabilities</a:t>
            </a:r>
          </a:p>
          <a:p>
            <a:pPr marL="0" indent="0">
              <a:buSzPct val="100000"/>
              <a:buNone/>
            </a:pPr>
            <a:r>
              <a:rPr lang="en-US" sz="2400" dirty="0"/>
              <a:t>6.4 – Exponential Probability Distribution</a:t>
            </a:r>
          </a:p>
        </p:txBody>
      </p:sp>
      <p:pic>
        <p:nvPicPr>
          <p:cNvPr id="13" name="Content Placeholder 12" descr="A uniform probability distribution graph. The x-axis is x, while the y-axis is function x. A rectangle laying on the x-axis makes up the shape of the uniform function.">
            <a:extLst>
              <a:ext uri="{FF2B5EF4-FFF2-40B4-BE49-F238E27FC236}">
                <a16:creationId xmlns:a16="http://schemas.microsoft.com/office/drawing/2014/main" id="{500F8B8D-6AC4-463F-ABFE-BC5012D4E51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970" y="3753400"/>
            <a:ext cx="3607735" cy="229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 descr="A normal probability distribution. The x-axis is x. The y-axis is function x. There is a bell curve on the graph. ">
            <a:extLst>
              <a:ext uri="{FF2B5EF4-FFF2-40B4-BE49-F238E27FC236}">
                <a16:creationId xmlns:a16="http://schemas.microsoft.com/office/drawing/2014/main" id="{63D4E060-6B6C-45AE-8FD0-7BA5B848E2D7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008" y="1367156"/>
            <a:ext cx="3607735" cy="2313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An exponential probability distribution graph. The x-axis is x, while the y-axis is function x. A negative exponential curve makes up the function of the graph.">
            <a:extLst>
              <a:ext uri="{FF2B5EF4-FFF2-40B4-BE49-F238E27FC236}">
                <a16:creationId xmlns:a16="http://schemas.microsoft.com/office/drawing/2014/main" id="{5A3CD0D5-D3B1-4EEA-B7C5-E1D64CF324B9}"/>
              </a:ext>
            </a:extLst>
          </p:cNvPr>
          <p:cNvPicPr>
            <a:picLocks noGrp="1" noChangeAspect="1" noChangeArrowheads="1"/>
          </p:cNvPicPr>
          <p:nvPr>
            <p:ph sz="half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007" y="3804901"/>
            <a:ext cx="3607735" cy="229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2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Probability Distributions </a:t>
            </a:r>
            <a:r>
              <a:rPr lang="en-US" sz="16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A </a:t>
            </a:r>
            <a:r>
              <a:rPr lang="en-US" u="sng" dirty="0">
                <a:solidFill>
                  <a:srgbClr val="000000"/>
                </a:solidFill>
                <a:cs typeface="Arial" panose="020B0604020202020204" pitchFamily="34" charset="0"/>
              </a:rPr>
              <a:t>continuous random variable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can assume any value in an interval on the real line or in a collection of intervals.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It is not possible to talk about the probability of the random variable assuming a particular value.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Instead, we talk about the probability of the random variable assuming a value within a given interval.</a:t>
            </a:r>
            <a:endParaRPr lang="en-US" i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78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Continuous Probability Distributions </a:t>
            </a:r>
            <a:r>
              <a:rPr lang="en-US" sz="16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6" y="1547264"/>
            <a:ext cx="10489584" cy="13162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probability of the random variable assuming a value within some given interval from 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sz="24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to 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sz="24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is defined to be the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area under the graph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of the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probability density function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between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 x</a:t>
            </a:r>
            <a:r>
              <a:rPr lang="en-US" sz="24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and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 x</a:t>
            </a:r>
            <a:r>
              <a:rPr lang="en-US" sz="24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3" name="Picture 2" descr="A uniform probability distribution graph. The x-axis is x, while the y-axis is function x. A rectangle laying on the x-axis makes up the shape of the uniform function. There are two lines on the rectangle called x subscript 1 baseline and x subscript 2 baseline and the area between them is shaded.">
            <a:extLst>
              <a:ext uri="{FF2B5EF4-FFF2-40B4-BE49-F238E27FC236}">
                <a16:creationId xmlns:a16="http://schemas.microsoft.com/office/drawing/2014/main" id="{9ED37EFF-1577-440A-8823-216C413FABD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02" y="3389432"/>
            <a:ext cx="3372436" cy="2303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 descr="A normal probability distribution. The x-axis is x. The y-axis is function x. There is a binomial curve on the graph. There are two lines on the right side of the graph called x subscript 1 baseline and x subscript 2 baseline. The area between them is shaded. ">
            <a:extLst>
              <a:ext uri="{FF2B5EF4-FFF2-40B4-BE49-F238E27FC236}">
                <a16:creationId xmlns:a16="http://schemas.microsoft.com/office/drawing/2014/main" id="{0C00745C-4AF9-4D60-B430-CADA3DCF51BD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766" y="3389432"/>
            <a:ext cx="3375402" cy="2303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 descr="An exponential probability distribution graph. The x-axis is x, while the y-axis is function x. A negative exponential curve makes up the function of the graph. There are two lines on the left side of the graph called x subscript 1 baseline and x subscript 2 baseline. The area between them is shaded. ">
            <a:extLst>
              <a:ext uri="{FF2B5EF4-FFF2-40B4-BE49-F238E27FC236}">
                <a16:creationId xmlns:a16="http://schemas.microsoft.com/office/drawing/2014/main" id="{E448A0D4-0E69-4CC3-859E-FE1FE802170B}"/>
              </a:ext>
            </a:extLst>
          </p:cNvPr>
          <p:cNvPicPr>
            <a:picLocks noGrp="1" noChangeAspect="1" noChangeArrowheads="1"/>
          </p:cNvPicPr>
          <p:nvPr>
            <p:ph sz="half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096" y="3378200"/>
            <a:ext cx="3326740" cy="2303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Probability Distribution </a:t>
            </a:r>
            <a:r>
              <a:rPr lang="en-US" sz="1600" dirty="0"/>
              <a:t>(1 of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A random variable is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uniformly distributed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whenever the probability is proportional to the interval’s length. </a:t>
            </a:r>
          </a:p>
          <a:p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uniform probability density function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is: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ct val="20000"/>
              </a:spcBef>
              <a:buSzPct val="75000"/>
              <a:buNone/>
            </a:pPr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indent="0">
              <a:spcBef>
                <a:spcPct val="20000"/>
              </a:spcBef>
              <a:buSzPct val="75000"/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8" name="Content Placeholder 7" descr="Start equation. F of x equals start fraction 1 over left parenthesis b minus a right parenthesis end fraction equals 0 end equation. for a is less than or equals to x is less than or equal to b elsewhere. ">
            <a:extLst>
              <a:ext uri="{FF2B5EF4-FFF2-40B4-BE49-F238E27FC236}">
                <a16:creationId xmlns:a16="http://schemas.microsoft.com/office/drawing/2014/main" id="{27B08A5F-062E-4068-8FCD-08DB68051A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00213" y="3051507"/>
            <a:ext cx="4161412" cy="105335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D2C9F9-E1FB-470E-A926-B52E9B8113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127" y="4396154"/>
            <a:ext cx="10489585" cy="1420094"/>
          </a:xfrm>
        </p:spPr>
        <p:txBody>
          <a:bodyPr>
            <a:noAutofit/>
          </a:bodyPr>
          <a:lstStyle/>
          <a:p>
            <a:pPr marL="976313" indent="0">
              <a:spcBef>
                <a:spcPct val="20000"/>
              </a:spcBef>
              <a:buSzPct val="75000"/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where:  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smallest value the variable can assume</a:t>
            </a:r>
          </a:p>
          <a:p>
            <a:pPr marL="0" indent="0">
              <a:spcBef>
                <a:spcPct val="20000"/>
              </a:spcBef>
              <a:buSzPct val="75000"/>
              <a:buNone/>
            </a:pP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		  b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largest value the variable can assume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Uniform Probability Distribution </a:t>
            </a:r>
            <a:r>
              <a:rPr lang="en-US" sz="1600" dirty="0"/>
              <a:t>(2 of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expected value of 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x is E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 = 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a + b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/2. </a:t>
            </a:r>
          </a:p>
          <a:p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variance of 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x is Var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 = 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b – a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r>
              <a:rPr lang="en-US" sz="2400" i="1" baseline="30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/12.</a:t>
            </a:r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1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Probability Distribution </a:t>
            </a:r>
            <a:r>
              <a:rPr lang="en-US" sz="1600" dirty="0"/>
              <a:t>(3 of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6" y="1547263"/>
            <a:ext cx="10672702" cy="209730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Example: Slater's Buffet</a:t>
            </a:r>
          </a:p>
          <a:p>
            <a:pPr marL="0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Slater’s customers are charged for the amount of salad they take.  Sampling suggests that the amount of salad taken is uniformly distributed between 5 ounces and 15 ounces.</a:t>
            </a:r>
          </a:p>
          <a:p>
            <a:pPr marL="0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uniform probability density function is</a:t>
            </a:r>
          </a:p>
          <a:p>
            <a:pPr marL="457200" lvl="1" indent="0">
              <a:buNone/>
            </a:pPr>
            <a:endParaRPr lang="en-US" sz="2400" i="1" dirty="0">
              <a:latin typeface="Cambria Math" panose="02040503050406030204" pitchFamily="18" charset="0"/>
            </a:endParaRPr>
          </a:p>
          <a:p>
            <a:pPr>
              <a:spcBef>
                <a:spcPct val="20000"/>
              </a:spcBef>
              <a:buClr>
                <a:srgbClr val="66FFFF"/>
              </a:buClr>
              <a:buSzPct val="75000"/>
              <a:buNone/>
            </a:pPr>
            <a:endParaRPr lang="en-US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66FFFF"/>
              </a:buClr>
              <a:buSzPct val="75000"/>
              <a:buNone/>
            </a:pPr>
            <a:endParaRPr 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2" name="Content Placeholder 11" descr="Start equation. f of x equals start fraction 1 over 10 end fraction end equation. for 5 is less than or equal to x less than or equals to 15 elsewhere. ">
            <a:extLst>
              <a:ext uri="{FF2B5EF4-FFF2-40B4-BE49-F238E27FC236}">
                <a16:creationId xmlns:a16="http://schemas.microsoft.com/office/drawing/2014/main" id="{CC1D6DC0-1C42-4FA5-B4B7-6DBA028053EF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1706144" y="3644570"/>
            <a:ext cx="3473937" cy="911479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EB1C69-77F5-4480-9226-EE90700C3D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124" y="4776952"/>
            <a:ext cx="4887310" cy="1288794"/>
          </a:xfrm>
        </p:spPr>
        <p:txBody>
          <a:bodyPr>
            <a:noAutofit/>
          </a:bodyPr>
          <a:lstStyle/>
          <a:p>
            <a:pPr marL="0" indent="0">
              <a:spcBef>
                <a:spcPct val="20000"/>
              </a:spcBef>
              <a:buClr>
                <a:srgbClr val="66FFFF"/>
              </a:buClr>
              <a:buSzPct val="75000"/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where:</a:t>
            </a:r>
          </a:p>
          <a:p>
            <a:pPr marL="0" indent="0">
              <a:spcBef>
                <a:spcPct val="20000"/>
              </a:spcBef>
              <a:buClr>
                <a:srgbClr val="66FFFF"/>
              </a:buClr>
              <a:buSzPct val="75000"/>
              <a:buNone/>
            </a:pP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        x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salad plate filling weight</a:t>
            </a:r>
          </a:p>
        </p:txBody>
      </p:sp>
      <p:pic>
        <p:nvPicPr>
          <p:cNvPr id="13" name="Picture 2" descr="A uniform probability distribution graph. The x-axis, salad weight in ounces, ranges from 0 to 15. The y-axis is function x. The uniform probability function ranges from x-axis points 5 to 15 and y-axis points 0 to 1 tenth.">
            <a:extLst>
              <a:ext uri="{FF2B5EF4-FFF2-40B4-BE49-F238E27FC236}">
                <a16:creationId xmlns:a16="http://schemas.microsoft.com/office/drawing/2014/main" id="{14482621-F6C5-4224-B8CB-F4EC79DA29C3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214" y="2910069"/>
            <a:ext cx="5987133" cy="281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6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Uniform Probability Distribution </a:t>
            </a:r>
            <a:r>
              <a:rPr lang="en-US" sz="1600" dirty="0"/>
              <a:t>(4 of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ct val="20000"/>
              </a:spcBef>
              <a:buSzPct val="75000"/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What is the probability that a customer will take between 12 and 15 ounces of salad?	</a:t>
            </a:r>
          </a:p>
        </p:txBody>
      </p:sp>
      <p:pic>
        <p:nvPicPr>
          <p:cNvPr id="8" name="Picture 2" descr="A uniform probability distribution graph. The x-axis, salad weight in ounces, ranges from 0 to 15. The y-axis is function x. The uniform probability function ranges from x-axis points 5 to 15 and y-axis points 0 to 1 tenth. The area from 12 ounces to 15 ounces is begin equation P left parenthesis 12 less than or equal to x less than or equal to 15 right parenthesis equals start fraction 1 over 10 times left parenthesis 3 right parenthesis end fraction equals 0.3. end equation. 0.3 is circled.">
            <a:extLst>
              <a:ext uri="{FF2B5EF4-FFF2-40B4-BE49-F238E27FC236}">
                <a16:creationId xmlns:a16="http://schemas.microsoft.com/office/drawing/2014/main" id="{3A4CBDA2-01D0-4B17-A77C-F575E584417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375" y="2617240"/>
            <a:ext cx="6536547" cy="3011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4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Uniform Probability Distribution </a:t>
            </a:r>
            <a:r>
              <a:rPr lang="en-US" sz="1600" dirty="0"/>
              <a:t>(5 of 5)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114800" algn="l"/>
              </a:tabLst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The expected value of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 is E(x) = 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a + b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/2</a:t>
            </a:r>
          </a:p>
          <a:p>
            <a:pPr marL="0" indent="0">
              <a:buNone/>
              <a:tabLst>
                <a:tab pos="4003675" algn="l"/>
              </a:tabLst>
            </a:pP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                                                          	= 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(5 + 15)/2</a:t>
            </a:r>
          </a:p>
          <a:p>
            <a:pPr marL="0" indent="0">
              <a:buNone/>
              <a:tabLst>
                <a:tab pos="4003675" algn="l"/>
              </a:tabLst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	= 10 </a:t>
            </a:r>
          </a:p>
          <a:p>
            <a:pPr>
              <a:tabLst>
                <a:tab pos="3436938" algn="l"/>
              </a:tabLst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The variance of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 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is Var(x) = (b – a)</a:t>
            </a:r>
            <a:r>
              <a:rPr lang="en-US" baseline="30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/12</a:t>
            </a:r>
          </a:p>
          <a:p>
            <a:pPr marL="0" indent="0">
              <a:buNone/>
              <a:tabLst>
                <a:tab pos="3436938" algn="l"/>
              </a:tabLst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	= (15 – 5)</a:t>
            </a:r>
            <a:r>
              <a:rPr lang="en-US" baseline="30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/12</a:t>
            </a:r>
          </a:p>
          <a:p>
            <a:pPr marL="0" indent="0">
              <a:buNone/>
              <a:tabLst>
                <a:tab pos="3436938" algn="l"/>
              </a:tabLst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	= 8.33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7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cs typeface="Arial" panose="020B0604020202020204" pitchFamily="34" charset="0"/>
              </a:rPr>
              <a:t>Area as a Measure of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The area under the graph of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f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) and probability are identical.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This is valid for all continuous random variables.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The probability that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takes on a value between some lower value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and some higher value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can be found by computing the area under the graph of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f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) over the interval from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to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56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Probability Distribution </a:t>
            </a:r>
            <a:r>
              <a:rPr lang="en-US" sz="1600" dirty="0"/>
              <a:t>(1 of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</a:t>
            </a:r>
            <a:r>
              <a:rPr lang="en-US" u="sng" dirty="0"/>
              <a:t>normal probability distribution</a:t>
            </a:r>
            <a:r>
              <a:rPr lang="en-US" dirty="0"/>
              <a:t> is the most important distribution for describing a continuous random variable.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It is widely used in statistical inference.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It has been used in a wide variety of applications including:</a:t>
            </a:r>
          </a:p>
          <a:p>
            <a:pPr lvl="1"/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Heights of people</a:t>
            </a:r>
          </a:p>
          <a:p>
            <a:pPr lvl="1"/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Amounts of rainfall</a:t>
            </a:r>
          </a:p>
          <a:p>
            <a:pPr lvl="1"/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Test scores</a:t>
            </a:r>
          </a:p>
          <a:p>
            <a:pPr lvl="1"/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Scientific measurements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Abraham de </a:t>
            </a:r>
            <a:r>
              <a:rPr lang="en-US" dirty="0" err="1">
                <a:solidFill>
                  <a:srgbClr val="000000"/>
                </a:solidFill>
                <a:cs typeface="Arial" panose="020B0604020202020204" pitchFamily="34" charset="0"/>
              </a:rPr>
              <a:t>Moivre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, a French mathematician, published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The Doctrine of Chances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in 1733.</a:t>
            </a:r>
          </a:p>
          <a:p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He derived the normal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2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Probability Distribution </a:t>
            </a:r>
            <a:r>
              <a:rPr lang="en-US" sz="1600" dirty="0"/>
              <a:t>(2 of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5" y="1530639"/>
            <a:ext cx="7283115" cy="5900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Normal Probability Density Function</a:t>
            </a:r>
          </a:p>
        </p:txBody>
      </p:sp>
      <p:pic>
        <p:nvPicPr>
          <p:cNvPr id="8" name="Content Placeholder 7" descr="Start equation. f left parenthesis x right parenthesis equals start fraction 1 over sigma start root 2 pi end root end fraction e superscript start fraction negative 1 over 2 end fraction left parenthesis start fraction left parenthesis x minus mu right parenthesis over standard deviation right parenthesis squared baseline end equation. ">
            <a:extLst>
              <a:ext uri="{FF2B5EF4-FFF2-40B4-BE49-F238E27FC236}">
                <a16:creationId xmlns:a16="http://schemas.microsoft.com/office/drawing/2014/main" id="{87961165-AF81-4D48-B639-6820AE51B6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03333" y="1964645"/>
            <a:ext cx="4377586" cy="12655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E60868FF-0408-4057-83F1-5027E448097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36125" y="3445324"/>
                <a:ext cx="5023368" cy="142009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where: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= mean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/>
                  <a:t> = standard deviation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 = 3.14159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400" i="1" dirty="0"/>
                  <a:t>e</a:t>
                </a:r>
                <a:r>
                  <a:rPr lang="en-US" sz="2400" dirty="0"/>
                  <a:t> = 2.71828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E60868FF-0408-4057-83F1-5027E44809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36125" y="3445324"/>
                <a:ext cx="5023368" cy="1420094"/>
              </a:xfrm>
              <a:blipFill>
                <a:blip r:embed="rId4"/>
                <a:stretch>
                  <a:fillRect l="-1820" t="-6009" b="-53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 descr="A normal probability distribution graph. Its shape is a binomial curve. ">
            <a:extLst>
              <a:ext uri="{FF2B5EF4-FFF2-40B4-BE49-F238E27FC236}">
                <a16:creationId xmlns:a16="http://schemas.microsoft.com/office/drawing/2014/main" id="{A0FA560A-178F-4826-95DB-63CB3C63409F}"/>
              </a:ext>
            </a:extLst>
          </p:cNvPr>
          <p:cNvPicPr>
            <a:picLocks noGrp="1" noChangeAspect="1" noChangeArrowheads="1"/>
          </p:cNvPicPr>
          <p:nvPr>
            <p:ph sz="half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988" y="3195223"/>
            <a:ext cx="6013267" cy="2623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00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Normal Probability Distribution </a:t>
            </a:r>
            <a:r>
              <a:rPr lang="en-US" sz="1600" dirty="0"/>
              <a:t>(3 of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7" y="1547264"/>
            <a:ext cx="10489585" cy="2031508"/>
          </a:xfrm>
        </p:spPr>
        <p:txBody>
          <a:bodyPr>
            <a:noAutofit/>
          </a:bodyPr>
          <a:lstStyle/>
          <a:p>
            <a:pPr marL="111125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entire family of normal probability distributions is defined by its</a:t>
            </a:r>
            <a:r>
              <a:rPr 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mean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l-GR" sz="2400" dirty="0"/>
              <a:t>μ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and its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standard deviation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l-GR" sz="2400" dirty="0"/>
              <a:t>σ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111125" lvl="1" indent="0">
              <a:buNone/>
            </a:pPr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11125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highest point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on the normal curve is at the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mean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, which is also the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median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and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mode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111125" lvl="1" indent="0">
              <a:buNone/>
            </a:pPr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8" name="Picture 2" descr="A binomial curve graph. In the center of the x-axis is the mean mu. To the right of the binomial curve is the text captioned: Standard deviation sigma.">
            <a:extLst>
              <a:ext uri="{FF2B5EF4-FFF2-40B4-BE49-F238E27FC236}">
                <a16:creationId xmlns:a16="http://schemas.microsoft.com/office/drawing/2014/main" id="{F99533DE-12B7-439D-9150-68EACFCCB9B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376" y="3429000"/>
            <a:ext cx="6816245" cy="265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26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Normal Probability Distribution </a:t>
            </a:r>
            <a:r>
              <a:rPr lang="en-US" sz="1600" dirty="0"/>
              <a:t>(4 of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111125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mean can be any numerical value: negative, zero, or positive.</a:t>
            </a:r>
          </a:p>
        </p:txBody>
      </p:sp>
      <p:pic>
        <p:nvPicPr>
          <p:cNvPr id="13" name="Picture 2" descr="Three binomial curves on the graph. The center of the binomials curves are at the following x-axis points: negative 10, 0, and 25.">
            <a:extLst>
              <a:ext uri="{FF2B5EF4-FFF2-40B4-BE49-F238E27FC236}">
                <a16:creationId xmlns:a16="http://schemas.microsoft.com/office/drawing/2014/main" id="{A27E31EC-9A8F-400C-871D-67E42AA8B73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78" y="2564034"/>
            <a:ext cx="9406165" cy="2860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45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Normal Probability Distribution </a:t>
            </a:r>
            <a:r>
              <a:rPr lang="en-US" sz="1600" dirty="0"/>
              <a:t>(5 of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standard deviation determines the width of the curve: larger values result in wider, flatter curves.</a:t>
            </a:r>
          </a:p>
        </p:txBody>
      </p:sp>
      <p:pic>
        <p:nvPicPr>
          <p:cNvPr id="8" name="Picture 2" descr="There are two binomial curves on the x-axis. The curve with longer length has a sigma value of 15, while the curve with the shorter length has a sigma value of 25.">
            <a:extLst>
              <a:ext uri="{FF2B5EF4-FFF2-40B4-BE49-F238E27FC236}">
                <a16:creationId xmlns:a16="http://schemas.microsoft.com/office/drawing/2014/main" id="{87F4FE6B-B0DB-4C98-8FE5-3FE5D754EE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380" y="2863516"/>
            <a:ext cx="6215077" cy="3222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61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Normal Probability Distribution </a:t>
            </a:r>
            <a:r>
              <a:rPr lang="en-US" sz="1600" dirty="0"/>
              <a:t>(6 of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111125" lvl="1" indent="0">
              <a:buNone/>
            </a:pPr>
            <a:r>
              <a:rPr lang="en-US" sz="2400" dirty="0"/>
              <a:t>Probabilities for the normal random variable are given by areas under the curve. The total area under the curve is 1 (0.5 to the left of the mean and 0.5 to the right).</a:t>
            </a:r>
          </a:p>
        </p:txBody>
      </p:sp>
      <p:pic>
        <p:nvPicPr>
          <p:cNvPr id="8" name="Picture 2" descr="A binomial curve with an x-axis. The highest point on the curve divides it into two with a broken line. On both sides of the broken line is 0.5.">
            <a:extLst>
              <a:ext uri="{FF2B5EF4-FFF2-40B4-BE49-F238E27FC236}">
                <a16:creationId xmlns:a16="http://schemas.microsoft.com/office/drawing/2014/main" id="{92420463-D256-4CA4-BA8D-D7A4EDC4400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68" y="3355963"/>
            <a:ext cx="7488102" cy="2469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4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Normal Probability Distribution </a:t>
            </a:r>
            <a:r>
              <a:rPr lang="en-US" sz="1600" dirty="0"/>
              <a:t>(7 of 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6127" y="1547263"/>
                <a:ext cx="4563187" cy="44616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Empirical Rule</a:t>
                </a:r>
              </a:p>
              <a:p>
                <a:pPr marL="60325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68.26% of values of a normal random variable are within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1 standard deviation of its mean.</a:t>
                </a:r>
              </a:p>
              <a:p>
                <a:pPr marL="60325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95.44% of values of a normal random variable are within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2 standard deviations of its mean.</a:t>
                </a:r>
              </a:p>
              <a:p>
                <a:pPr marL="60325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99.72% of values of a normal random variable are within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3 standard deviations of its mean.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6127" y="1547263"/>
                <a:ext cx="4563187" cy="4461651"/>
              </a:xfrm>
              <a:blipFill>
                <a:blip r:embed="rId2"/>
                <a:stretch>
                  <a:fillRect l="-2003" t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A normal probability distribution graph with a binomial curve. The x-axis is x and the center of the curve is mu. There are three percentages shown on the curve. 68.26 percent is from mu minus 1 sigma to mu plus 1 sigma. 95.44 percent is from mu minus 2 sigma to mu plus 2 sigma. 99.72 percent is from mu minus 3 sigma to mu plus 3 sigma. ">
            <a:extLst>
              <a:ext uri="{FF2B5EF4-FFF2-40B4-BE49-F238E27FC236}">
                <a16:creationId xmlns:a16="http://schemas.microsoft.com/office/drawing/2014/main" id="{4FF83011-2AA4-4EA1-A031-9C550E46A11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14" y="2156577"/>
            <a:ext cx="6343910" cy="3569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54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(1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60325" lvl="1" indent="4763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A random variable having a normal distribution with a mean of 0 and a standard deviation of 1 is said to have a </a:t>
            </a:r>
            <a:r>
              <a:rPr lang="en-US" sz="2400" u="sng" dirty="0">
                <a:solidFill>
                  <a:srgbClr val="000000"/>
                </a:solidFill>
                <a:cs typeface="Arial" panose="020B0604020202020204" pitchFamily="34" charset="0"/>
              </a:rPr>
              <a:t>standard normal probability distribution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60325" lvl="1" indent="4763">
              <a:buNone/>
            </a:pPr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60325" lvl="1" indent="4763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letter z is used to designate the standard normal random variable.</a:t>
            </a:r>
          </a:p>
        </p:txBody>
      </p:sp>
      <p:pic>
        <p:nvPicPr>
          <p:cNvPr id="8" name="Picture 2" descr="A binomial curve. The x-axis is z. The point in the center of the curve is 0 on the x-axis. The curve is called sigma equals 1. ">
            <a:extLst>
              <a:ext uri="{FF2B5EF4-FFF2-40B4-BE49-F238E27FC236}">
                <a16:creationId xmlns:a16="http://schemas.microsoft.com/office/drawing/2014/main" id="{637F4549-59E9-45DE-842F-A24792DE118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618" y="3330456"/>
            <a:ext cx="6208602" cy="2735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94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(2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Converting to the Standard Normal Distribution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8" name="Content Placeholder 7" descr="Start equation. z equals start fraction x minus mu over sigma end fraction end equation. ">
            <a:extLst>
              <a:ext uri="{FF2B5EF4-FFF2-40B4-BE49-F238E27FC236}">
                <a16:creationId xmlns:a16="http://schemas.microsoft.com/office/drawing/2014/main" id="{13DBDC3B-D8CE-4BA7-AFF7-E7803B454DA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15716" y="2437570"/>
            <a:ext cx="1730405" cy="85189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36127" y="3568539"/>
            <a:ext cx="10489585" cy="20936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We can think of 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z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as a measure of the number of standard deviations 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is from </a:t>
            </a:r>
            <a:r>
              <a:rPr lang="el-GR" sz="2400" i="1" dirty="0"/>
              <a:t>μ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28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(3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Example: Pep Zone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Pep Zone sells auto parts and supplies including a popular multi-grade motor oil.  When the stock of this oil drops to 20 gallons, a replenishment order is placed.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store manager is concerned that sales are being lost due to stockouts while waiting for a replenishment order.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It has been determined that demand during replenishment lead-time is normally distributed with a mean of 15 gallons and a standard deviation of 6 gallons.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manager would like to know the probability of a stockout during replenishment lead-time. In other words, what is the probability that demand during lead-time will exceed 20 gallons?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50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(4 of 10)</a:t>
            </a:r>
          </a:p>
        </p:txBody>
      </p:sp>
      <p:sp>
        <p:nvSpPr>
          <p:cNvPr id="3" name="Content Placeholder 2" descr="Three-step solution to an equation. Start equation. z equals start fraction left parenthesis x minus mu right parenthesis over sigma end fraction end equation.&#10;Start equation. z equals start fraction left parenthesis 20 minus 15 right parenthesis over 6 end fraction end equation.&#10;Start equation. z equals 0.83 end equation. 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Solving for the Stockout Probability</a:t>
            </a:r>
            <a:endParaRPr lang="en-US" i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Step 1:  Convert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to the standard normal distribution.</a:t>
            </a: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8" name="Content Placeholder 7" descr="An equation. Start equation. z equals start fraction left parenthesis x minus mu right parenthesis over sigma end fraction equals start fraction left parenthesis 20 minus 15 right parenthesis over 6 end fraction equals 0.83 end equation. ">
            <a:extLst>
              <a:ext uri="{FF2B5EF4-FFF2-40B4-BE49-F238E27FC236}">
                <a16:creationId xmlns:a16="http://schemas.microsoft.com/office/drawing/2014/main" id="{7924DDF5-A274-4C75-BEA1-7859CC62B61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275121" y="2602263"/>
            <a:ext cx="2018308" cy="21944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836126" y="5375184"/>
                <a:ext cx="10489585" cy="998986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spcBef>
                    <a:spcPts val="1000"/>
                  </a:spcBef>
                  <a:buNone/>
                </a:pPr>
                <a:r>
                  <a:rPr 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Step 2:  Find the area under the standard normal curve to the left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= 0.83.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6126" y="5375184"/>
                <a:ext cx="10489585" cy="998986"/>
              </a:xfrm>
              <a:blipFill>
                <a:blip r:embed="rId3"/>
                <a:stretch>
                  <a:fillRect t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37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(5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127" y="1547264"/>
            <a:ext cx="10489585" cy="727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Cumulative Probability Table for the Standard Normal Distribution</a:t>
            </a:r>
          </a:p>
        </p:txBody>
      </p:sp>
      <p:pic>
        <p:nvPicPr>
          <p:cNvPr id="10" name="Content Placeholder 9" descr="Start equation. Upper P left parenthesis z less than or equals to 0.83 right parenthesis equals 0.7967 end equation. ">
            <a:extLst>
              <a:ext uri="{FF2B5EF4-FFF2-40B4-BE49-F238E27FC236}">
                <a16:creationId xmlns:a16="http://schemas.microsoft.com/office/drawing/2014/main" id="{5C0119E8-EE6C-4F2F-B697-4957DBABEC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9328" y="2448725"/>
            <a:ext cx="2303179" cy="414791"/>
          </a:xfrm>
          <a:prstGeom prst="rect">
            <a:avLst/>
          </a:prstGeom>
        </p:spPr>
      </p:pic>
      <p:graphicFrame>
        <p:nvGraphicFramePr>
          <p:cNvPr id="9" name="Content Placeholder 8" descr="Table with eleven columns and eight rows. Column headers are z, 0.00, 0.01, 0.02, 0.03, 0.04, 0.05, 0.06, 0.07, 0.08, 0.09.">
            <a:extLst>
              <a:ext uri="{FF2B5EF4-FFF2-40B4-BE49-F238E27FC236}">
                <a16:creationId xmlns:a16="http://schemas.microsoft.com/office/drawing/2014/main" id="{D2EF5B7C-AE40-41C9-A66C-646576BE89D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95317465"/>
              </p:ext>
            </p:extLst>
          </p:nvPr>
        </p:nvGraphicFramePr>
        <p:xfrm>
          <a:off x="2218304" y="3393717"/>
          <a:ext cx="7725228" cy="2375408"/>
        </p:xfrm>
        <a:graphic>
          <a:graphicData uri="http://schemas.openxmlformats.org/drawingml/2006/table">
            <a:tbl>
              <a:tblPr firstRow="1" firstCol="1" bandRow="1"/>
              <a:tblGrid>
                <a:gridCol w="701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26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26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26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26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z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.00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.01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.02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.03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.04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.05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.06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.07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.08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.09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.6915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.6950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.6985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.7019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.7054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.7088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.7123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.7157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.7190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.7224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.6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.7257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.7291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.7324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.7357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.7389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.7422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.7454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.7486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.7517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.7549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.7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.7580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.7611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.7642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.7673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.7704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.7734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.7764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.7794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.7823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.7852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.8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.7881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.7910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.7939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.7967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.7795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.8023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.8051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.8078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.8106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.8133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.9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.8129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.8186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.8212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.8238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.8264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.8289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.8315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.8340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.8365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.8389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25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(6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Solving for the Stockout Probability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Step 3:  Compute the area under the standard normal curve to the right of </a:t>
            </a:r>
            <a:r>
              <a:rPr 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z</a:t>
            </a: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0.83.</a:t>
            </a:r>
          </a:p>
          <a:p>
            <a:pPr marL="457200" lvl="1" indent="0">
              <a:buNone/>
            </a:pPr>
            <a:endParaRPr 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8" name="Content Placeholder 7" descr="An equation. Begin equation P left parenthesis z is greater than 0.83 right parenthesis equals 1 minus P left parenthesis z less than or equal to 0.83 right parenthesis equals 1 minus 0.7967 equals 0.2033 end equation. ">
            <a:extLst>
              <a:ext uri="{FF2B5EF4-FFF2-40B4-BE49-F238E27FC236}">
                <a16:creationId xmlns:a16="http://schemas.microsoft.com/office/drawing/2014/main" id="{AC95E09C-AA59-4F7F-911F-FBD34C05B9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42154" y="2891470"/>
            <a:ext cx="3277530" cy="11030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59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(7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Solving for the Stockout Probability</a:t>
            </a:r>
            <a:endParaRPr lang="en-US" dirty="0"/>
          </a:p>
        </p:txBody>
      </p:sp>
      <p:pic>
        <p:nvPicPr>
          <p:cNvPr id="8" name="Picture 2" descr="A graph of a binomial curve. The x-axis is labeled z and at its middle is the point 0. To the right of 0 is the point 0.83. The area left of the vertical line is labeled: Area equals 0.7967. The area right of the vertical line is labeled: Area equals 1 minus 0.9767 equals 0.2033.">
            <a:extLst>
              <a:ext uri="{FF2B5EF4-FFF2-40B4-BE49-F238E27FC236}">
                <a16:creationId xmlns:a16="http://schemas.microsoft.com/office/drawing/2014/main" id="{D31B86B2-82B4-4AD9-9994-F3AB0DFFC68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7" y="2574919"/>
            <a:ext cx="6319823" cy="325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62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(8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If the manager of Pep Zone wants the probability of a stockout during replenishment lead-time to be no more than .05, what should the reorder point be?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8" name="Picture 2" descr="A graph of a binomial curve. The x-axis is labeled z and at its middle is the point 0. To the right of 0 is the point z subscript 0.5 baseline, with a vertical line going through it and the binomial curve. The area left of the vertical line is labeled: Area equals 0.9500. The area right of the vertical line is labeled: Area equals 0.0500.">
            <a:extLst>
              <a:ext uri="{FF2B5EF4-FFF2-40B4-BE49-F238E27FC236}">
                <a16:creationId xmlns:a16="http://schemas.microsoft.com/office/drawing/2014/main" id="{75A1EF51-7E0A-47B1-8965-A9C50330862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657" y="2699558"/>
            <a:ext cx="5440054" cy="3272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AAE6C6-2EC5-45D6-B76B-4A8000FE93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127" y="3707756"/>
            <a:ext cx="5244792" cy="14200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(Hint:  Given a probability, we can use the standard normal table in an inverse fashion to find the corresponding z value.)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49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Standard Normal Probability Distribution </a:t>
            </a:r>
            <a:r>
              <a:rPr lang="en-US" sz="1600" dirty="0"/>
              <a:t>(9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Solving for the Reorder Point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Step 1: Find the z-value that cuts off an area of .05 in the right tail of the standard normal distribution by looking up the complement of the right tail area 1 – 0.05 = 0.95.</a:t>
            </a:r>
          </a:p>
        </p:txBody>
      </p:sp>
      <p:graphicFrame>
        <p:nvGraphicFramePr>
          <p:cNvPr id="12" name="Content Placeholder 11" descr="A table with eleven columns and eight rows. Column headers are z, 0.00, 0.01, 0.02, 0.03, 0.04, 0.05, 0.06, 0.07, 0.08, 0.09.">
            <a:extLst>
              <a:ext uri="{FF2B5EF4-FFF2-40B4-BE49-F238E27FC236}">
                <a16:creationId xmlns:a16="http://schemas.microsoft.com/office/drawing/2014/main" id="{E0F7212A-521B-4032-8085-6BD38FD89C5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40816757"/>
              </p:ext>
            </p:extLst>
          </p:nvPr>
        </p:nvGraphicFramePr>
        <p:xfrm>
          <a:off x="1345113" y="3705225"/>
          <a:ext cx="9667630" cy="22169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77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9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93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3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53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93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93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7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z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.00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.01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.02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.03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.04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.05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.06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.07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.08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.09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1.5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.9332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.9345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.9357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.9370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.9382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.9394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.9406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.9418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.9429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.9441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1.6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.9452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.9463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.9474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.9484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.9495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.9505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.9515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.9525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.9535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.9545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1.7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.9554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.9564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.9573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.9582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.9591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.9599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.9608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.9616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.9625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.9633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.9641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.9649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.9656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.9664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.9671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.9678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.9686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.9693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.9699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.9706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.9713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.9719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.9726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.9732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.9738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.9744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.9750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.9756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.9761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.9767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Content Placeholder 8" descr="A screenshot of a table.">
            <a:extLst>
              <a:ext uri="{FF2B5EF4-FFF2-40B4-BE49-F238E27FC236}">
                <a16:creationId xmlns:a16="http://schemas.microsoft.com/office/drawing/2014/main" id="{C57A18D0-2089-4C19-B96E-E884418789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95" y="3178933"/>
            <a:ext cx="10176617" cy="294836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63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lang="en-US" dirty="0"/>
              <a:t>Standard Normal Probability Distribution </a:t>
            </a:r>
            <a:r>
              <a:rPr lang="en-US" sz="1600" dirty="0"/>
              <a:t>(10 of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Solving for the Reorder Point</a:t>
            </a:r>
          </a:p>
          <a:p>
            <a:pPr marL="457200" lvl="1" indent="0">
              <a:buNone/>
            </a:pPr>
            <a:r>
              <a:rPr lang="en-US" dirty="0"/>
              <a:t>Step 2:  Convert z</a:t>
            </a:r>
            <a:r>
              <a:rPr lang="en-US" baseline="-25000" dirty="0"/>
              <a:t>.05 </a:t>
            </a:r>
            <a:r>
              <a:rPr lang="en-US" dirty="0"/>
              <a:t>to the corresponding value of x.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Content Placeholder 7" descr="An equation. Begin equation. x equals mu plus z subscript 0.05 baseline sigma equals 15 plus 1.645 left parenthesis 6 right parenthesis equals 24.87 or 25 end equation. which we round to 25.">
            <a:extLst>
              <a:ext uri="{FF2B5EF4-FFF2-40B4-BE49-F238E27FC236}">
                <a16:creationId xmlns:a16="http://schemas.microsoft.com/office/drawing/2014/main" id="{BD8F65C0-8C4B-4E6D-8294-B6B69E6DC01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5981" y="2863516"/>
            <a:ext cx="3425419" cy="1515979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836127" y="4797825"/>
            <a:ext cx="10489585" cy="872714"/>
          </a:xfrm>
        </p:spPr>
        <p:txBody>
          <a:bodyPr>
            <a:noAutofit/>
          </a:bodyPr>
          <a:lstStyle/>
          <a:p>
            <a:pPr marL="457200" indent="0">
              <a:buNone/>
            </a:pPr>
            <a:r>
              <a:rPr lang="en-US" sz="2400" dirty="0"/>
              <a:t>A reorder point of 25 gallons will place the probability of a stockout during lead time at (slightly less than) 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75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Probability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Solving for the Reorder Point</a:t>
            </a:r>
          </a:p>
        </p:txBody>
      </p:sp>
      <p:pic>
        <p:nvPicPr>
          <p:cNvPr id="8" name="Picture 2" descr="A graph called binomial curve. The x-axis is x and at its middle is the point 15. To the right of 15 is the point 24.87. The area to the left of 24.87 is: Probability of no stockout during replenishment lead-time equals 0.95. The area to the right is: Probability of a stockout during replenishment lead-time equals 0.05.">
            <a:extLst>
              <a:ext uri="{FF2B5EF4-FFF2-40B4-BE49-F238E27FC236}">
                <a16:creationId xmlns:a16="http://schemas.microsoft.com/office/drawing/2014/main" id="{B07B44E6-A0CC-428F-8003-63EA2748FE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073" y="2725287"/>
            <a:ext cx="6047692" cy="297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97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kern="0" dirty="0"/>
              <a:t>Standard Normal Probability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Solving for the Reorder Point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By raising the reorder point from 20 gallons to 25 gallons on hand, the probability of a stockout decreases from about .20 to .05.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This is a significant decrease in the chance that Pep Zone will be out of stock and unable to meet a customer’s desire to make a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94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cs typeface="Arial" panose="020B0604020202020204" pitchFamily="34" charset="0"/>
              </a:rPr>
              <a:t>Using Excel to Compute Normal Probabilities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Excel has two functions for computing cumulative probabilities and </a:t>
            </a:r>
            <a:r>
              <a:rPr lang="en-US" i="1" dirty="0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values for </a:t>
            </a:r>
            <a:r>
              <a:rPr lang="en-US" u="sng" dirty="0">
                <a:solidFill>
                  <a:srgbClr val="000000"/>
                </a:solidFill>
                <a:cs typeface="Arial" panose="020B0604020202020204" pitchFamily="34" charset="0"/>
              </a:rPr>
              <a:t>any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 normal distribution: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NORM.DIST is used to compute the cumulative probability given an x value. 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NORM.INV is used to compute the x value given a cumulative probability.</a:t>
            </a:r>
            <a:endParaRPr 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59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Exponential Probability Distribution </a:t>
            </a:r>
            <a:r>
              <a:rPr lang="en-US" sz="1600" dirty="0">
                <a:cs typeface="Arial" panose="020B0604020202020204" pitchFamily="34" charset="0"/>
              </a:rPr>
              <a:t>(1 of 4)</a:t>
            </a:r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exponential probability distribution is useful in describing the time it takes to complete a task.</a:t>
            </a:r>
          </a:p>
          <a:p>
            <a:r>
              <a:rPr lang="en-US" dirty="0"/>
              <a:t>The exponential random variables can be used to describe:</a:t>
            </a:r>
          </a:p>
          <a:p>
            <a:pPr lvl="1"/>
            <a:r>
              <a:rPr lang="en-US" sz="2400" dirty="0"/>
              <a:t>Time between vehicle arrivals at a toll booth</a:t>
            </a:r>
          </a:p>
          <a:p>
            <a:pPr lvl="1"/>
            <a:r>
              <a:rPr lang="en-US" sz="2400" dirty="0"/>
              <a:t>Time required to complete a questionnaire</a:t>
            </a:r>
          </a:p>
          <a:p>
            <a:pPr lvl="1"/>
            <a:r>
              <a:rPr lang="en-US" sz="2400" dirty="0"/>
              <a:t>Distance between major defects in a highway</a:t>
            </a:r>
          </a:p>
          <a:p>
            <a:pPr marL="342900" indent="-342900">
              <a:spcBef>
                <a:spcPct val="20000"/>
              </a:spcBef>
              <a:buSzPct val="100000"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In waiting line applications, the exponential distribution is often used for service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9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Arial" panose="020B0604020202020204" pitchFamily="34" charset="0"/>
              </a:rPr>
              <a:t>Exponential Probability Distribution </a:t>
            </a:r>
            <a:r>
              <a:rPr lang="en-US" sz="1600" dirty="0">
                <a:cs typeface="Arial" panose="020B0604020202020204" pitchFamily="34" charset="0"/>
              </a:rPr>
              <a:t>(2 of 4)</a:t>
            </a:r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A property of the exponential distribution is that the mean and standard deviation are equal.</a:t>
            </a:r>
          </a:p>
          <a:p>
            <a:r>
              <a:rPr 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exponential distribution is skewed to the right.  Its skewness measure is 2.</a:t>
            </a:r>
          </a:p>
          <a:p>
            <a:r>
              <a:rPr lang="en-US" sz="2400" dirty="0"/>
              <a:t>Density Function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8" name="Content Placeholder 7" descr="An equation. Start equation. F left parenthesis x right parenthesis equals start fraction 1 over mu end fraction e superscript start fraction minus x over mu end fraction baseline end equation. for x is greater than or equal to 0. ">
            <a:extLst>
              <a:ext uri="{FF2B5EF4-FFF2-40B4-BE49-F238E27FC236}">
                <a16:creationId xmlns:a16="http://schemas.microsoft.com/office/drawing/2014/main" id="{FE85C8FB-4ACE-4264-86FA-3CE970B5C2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89985" y="3429000"/>
            <a:ext cx="3981867" cy="8620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1131804-CA83-4D02-A6B5-D1A36428DE7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Autofit/>
              </a:bodyPr>
              <a:lstStyle/>
              <a:p>
                <a:pPr marL="174625" indent="0"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= expected value or mean and </a:t>
                </a:r>
                <a:r>
                  <a:rPr lang="en-US" sz="2400" i="1" dirty="0"/>
                  <a:t>e</a:t>
                </a:r>
                <a:r>
                  <a:rPr lang="en-US" sz="2400" dirty="0"/>
                  <a:t> = 2.71828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1131804-CA83-4D02-A6B5-D1A36428D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4"/>
                <a:stretch>
                  <a:fillRect t="-6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31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cs typeface="Arial" panose="020B0604020202020204" pitchFamily="34" charset="0"/>
              </a:rPr>
              <a:t>Exponential Probability Distribution </a:t>
            </a:r>
            <a:r>
              <a:rPr lang="en-US" sz="1600" dirty="0">
                <a:cs typeface="Arial" panose="020B0604020202020204" pitchFamily="34" charset="0"/>
              </a:rPr>
              <a:t>(3 of 4)</a:t>
            </a:r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Cumulative Probabilities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Content Placeholder 7" descr="An equation. Start equation. P left parenthesis x is less than or equal to x subscript 0 baseline right parenthesis equals 1 minus e superscript start fraction minus x subscript 0 baseline over mu end fraction baseline. end equation. Where x subscript 0 baseline equals some specific value of x. ">
            <a:extLst>
              <a:ext uri="{FF2B5EF4-FFF2-40B4-BE49-F238E27FC236}">
                <a16:creationId xmlns:a16="http://schemas.microsoft.com/office/drawing/2014/main" id="{86C921CE-E57E-482F-BC96-5CD3C88ECB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48715" y="2058256"/>
            <a:ext cx="5329019" cy="169559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cs typeface="Arial" panose="020B0604020202020204" pitchFamily="34" charset="0"/>
              </a:rPr>
              <a:t>Exponential Probability Distribution </a:t>
            </a:r>
            <a:r>
              <a:rPr lang="en-US" sz="1600" dirty="0">
                <a:cs typeface="Arial" panose="020B0604020202020204" pitchFamily="34" charset="0"/>
              </a:rPr>
              <a:t>(4 of 4)</a:t>
            </a:r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Example: Al’s Full-Service Pump</a:t>
            </a:r>
          </a:p>
          <a:p>
            <a:pPr marL="457200" lvl="1" indent="0">
              <a:buNone/>
            </a:pPr>
            <a:r>
              <a:rPr lang="en-US" sz="2400" dirty="0"/>
              <a:t>The time between arrivals of cars at Al’s full-service gas pump follows an exponential probability distribution with a mean time between arrivals of 3 minutes.  Al would like to know the probability that the time between two successive arrivals will be 2 minutes or less.</a:t>
            </a:r>
          </a:p>
        </p:txBody>
      </p:sp>
      <p:pic>
        <p:nvPicPr>
          <p:cNvPr id="8" name="Picture 2" descr="A line graph. The x-axis, time between successive arrivals in minutes, ranges from 0 to 10. The y-axis, function x, ranges from 0 to 0.4. An exponential curve makes up the function in the graph. The area under the curve between 0 and 3 minutes is begin equation P left parenthesis x less than or equal to 2 right parenthesis equals 1 minus 2.71828 to the negative two-thirds power equals 1 minus 0.5134 equals 0.4866. end equation. ">
            <a:extLst>
              <a:ext uri="{FF2B5EF4-FFF2-40B4-BE49-F238E27FC236}">
                <a16:creationId xmlns:a16="http://schemas.microsoft.com/office/drawing/2014/main" id="{E83FFFFB-F94B-4F04-9A77-E90009677EB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711" y="3429000"/>
            <a:ext cx="4462415" cy="254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132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Relationship between the Poisson and Exponential Distributions</a:t>
            </a:r>
          </a:p>
        </p:txBody>
      </p:sp>
      <p:pic>
        <p:nvPicPr>
          <p:cNvPr id="6" name="Picture 2" descr="Two ellipses have a pair of arrows, up and down, between each other. The top ellipse is captioned: The Poisson distribution provides an appropriate description of the number of occurrences per interval. The bottom ellipse is captioned: The exponential distribution provides an appropriate description of the length of the interval between occurrences.">
            <a:extLst>
              <a:ext uri="{FF2B5EF4-FFF2-40B4-BE49-F238E27FC236}">
                <a16:creationId xmlns:a16="http://schemas.microsoft.com/office/drawing/2014/main" id="{07453D61-CC86-478C-B569-6DB6E1EEB2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454" y="1716483"/>
            <a:ext cx="5742930" cy="406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987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Chapter 6</a:t>
            </a:r>
          </a:p>
        </p:txBody>
      </p:sp>
      <p:pic>
        <p:nvPicPr>
          <p:cNvPr id="6" name="Content Placeholder 5" descr="A check mark.">
            <a:extLst>
              <a:ext uri="{FF2B5EF4-FFF2-40B4-BE49-F238E27FC236}">
                <a16:creationId xmlns:a16="http://schemas.microsoft.com/office/drawing/2014/main" id="{0C22CCD0-AB96-4B9A-ACFE-B11E3E7F5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4506" y="1687512"/>
            <a:ext cx="3552825" cy="41243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0442"/>
      </p:ext>
    </p:extLst>
  </p:cSld>
  <p:clrMapOvr>
    <a:masterClrMapping/>
  </p:clrMapOvr>
</p:sld>
</file>

<file path=ppt/theme/theme1.xml><?xml version="1.0" encoding="utf-8"?>
<a:theme xmlns:a="http://schemas.openxmlformats.org/drawingml/2006/main" name="SBE14ch06_Ne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SBE13ch01_New</Template>
  <TotalTime>6570</TotalTime>
  <Pages>21</Pages>
  <Words>1995</Words>
  <Application>Microsoft Office PowerPoint</Application>
  <PresentationFormat>Custom</PresentationFormat>
  <Paragraphs>355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Book Antiqua</vt:lpstr>
      <vt:lpstr>Arial</vt:lpstr>
      <vt:lpstr>MS Reference Serif</vt:lpstr>
      <vt:lpstr>Calibri</vt:lpstr>
      <vt:lpstr>Cambria Math</vt:lpstr>
      <vt:lpstr>SBE14ch06_New</vt:lpstr>
      <vt:lpstr>Statistics for  Business and Economics (14e)</vt:lpstr>
      <vt:lpstr>Chapter 6 - Continuous Probability Distributions</vt:lpstr>
      <vt:lpstr>Continuous Probability Distributions (1 of 2)</vt:lpstr>
      <vt:lpstr>Continuous Probability Distributions (2 of 2)</vt:lpstr>
      <vt:lpstr>Uniform Probability Distribution (1 of 5)</vt:lpstr>
      <vt:lpstr>Uniform Probability Distribution (2 of 5)</vt:lpstr>
      <vt:lpstr>Uniform Probability Distribution (3 of 5)</vt:lpstr>
      <vt:lpstr>Uniform Probability Distribution (4 of 5)</vt:lpstr>
      <vt:lpstr>Uniform Probability Distribution (5 of 5)</vt:lpstr>
      <vt:lpstr>Area as a Measure of Probability</vt:lpstr>
      <vt:lpstr>Normal Probability Distribution (1 of 7)</vt:lpstr>
      <vt:lpstr>Normal Probability Distribution (2 of 7)</vt:lpstr>
      <vt:lpstr>Normal Probability Distribution (3 of 7)</vt:lpstr>
      <vt:lpstr>Normal Probability Distribution (4 of 7)</vt:lpstr>
      <vt:lpstr>Normal Probability Distribution (5 of 7)</vt:lpstr>
      <vt:lpstr>Normal Probability Distribution (6 of 7)</vt:lpstr>
      <vt:lpstr>Normal Probability Distribution (7 of 7)</vt:lpstr>
      <vt:lpstr>Standard Normal Probability Distribution (1 of 10)</vt:lpstr>
      <vt:lpstr>Standard Normal Probability Distribution (2 of 10)</vt:lpstr>
      <vt:lpstr>Standard Normal Probability Distribution (3 of 10)</vt:lpstr>
      <vt:lpstr>Standard Normal Probability Distribution (4 of 10)</vt:lpstr>
      <vt:lpstr>Standard Normal Probability Distribution (5 of 10)</vt:lpstr>
      <vt:lpstr>Standard Normal Probability Distribution (6 of 10)</vt:lpstr>
      <vt:lpstr>Standard Normal Probability Distribution (7 of 10)</vt:lpstr>
      <vt:lpstr>Standard Normal Probability Distribution (8 of 10)</vt:lpstr>
      <vt:lpstr>Standard Normal Probability Distribution (9 of 10)</vt:lpstr>
      <vt:lpstr>Standard Normal Probability Distribution (10 of 10)</vt:lpstr>
      <vt:lpstr>Normal Probability Distribution</vt:lpstr>
      <vt:lpstr>Standard Normal Probability Distribution</vt:lpstr>
      <vt:lpstr>Using Excel to Compute Normal Probabilities</vt:lpstr>
      <vt:lpstr>Exponential Probability Distribution (1 of 4)</vt:lpstr>
      <vt:lpstr>Exponential Probability Distribution (2 of 4)</vt:lpstr>
      <vt:lpstr>Exponential Probability Distribution (3 of 4)</vt:lpstr>
      <vt:lpstr>Exponential Probability Distribution (4 of 4)</vt:lpstr>
      <vt:lpstr>Relationship between the Poisson and Exponential Distributions</vt:lpstr>
      <vt:lpstr>End of Chapter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 CONTINUOUS PROBABILITY DISTRIBUTIONS</dc:title>
  <dc:creator>John IV</dc:creator>
  <cp:lastModifiedBy>Lazaj, Klotilda</cp:lastModifiedBy>
  <cp:revision>387</cp:revision>
  <cp:lastPrinted>1601-01-01T00:00:00Z</cp:lastPrinted>
  <dcterms:created xsi:type="dcterms:W3CDTF">1996-08-26T13:21:22Z</dcterms:created>
  <dcterms:modified xsi:type="dcterms:W3CDTF">2025-10-28T03:27:48Z</dcterms:modified>
</cp:coreProperties>
</file>