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8.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11.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12.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13.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14.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15.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17.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18.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19.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20.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21.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22.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23.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24.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25.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26.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27.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notesSlides/notesSlide28.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29.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6" r:id="rId1"/>
    <p:sldMasterId id="2147483730" r:id="rId2"/>
  </p:sldMasterIdLst>
  <p:notesMasterIdLst>
    <p:notesMasterId r:id="rId41"/>
  </p:notesMasterIdLst>
  <p:handoutMasterIdLst>
    <p:handoutMasterId r:id="rId42"/>
  </p:handoutMasterIdLst>
  <p:sldIdLst>
    <p:sldId id="302" r:id="rId3"/>
    <p:sldId id="257" r:id="rId4"/>
    <p:sldId id="329" r:id="rId5"/>
    <p:sldId id="331" r:id="rId6"/>
    <p:sldId id="261" r:id="rId7"/>
    <p:sldId id="264" r:id="rId8"/>
    <p:sldId id="354" r:id="rId9"/>
    <p:sldId id="360" r:id="rId10"/>
    <p:sldId id="287" r:id="rId11"/>
    <p:sldId id="288" r:id="rId12"/>
    <p:sldId id="284" r:id="rId13"/>
    <p:sldId id="357" r:id="rId14"/>
    <p:sldId id="359" r:id="rId15"/>
    <p:sldId id="332" r:id="rId16"/>
    <p:sldId id="352" r:id="rId17"/>
    <p:sldId id="324" r:id="rId18"/>
    <p:sldId id="299" r:id="rId19"/>
    <p:sldId id="363" r:id="rId20"/>
    <p:sldId id="268" r:id="rId21"/>
    <p:sldId id="269" r:id="rId22"/>
    <p:sldId id="364" r:id="rId23"/>
    <p:sldId id="271" r:id="rId24"/>
    <p:sldId id="361" r:id="rId25"/>
    <p:sldId id="301" r:id="rId26"/>
    <p:sldId id="325" r:id="rId27"/>
    <p:sldId id="353" r:id="rId28"/>
    <p:sldId id="273" r:id="rId29"/>
    <p:sldId id="274" r:id="rId30"/>
    <p:sldId id="335" r:id="rId31"/>
    <p:sldId id="321" r:id="rId32"/>
    <p:sldId id="275" r:id="rId33"/>
    <p:sldId id="276" r:id="rId34"/>
    <p:sldId id="277" r:id="rId35"/>
    <p:sldId id="327" r:id="rId36"/>
    <p:sldId id="340" r:id="rId37"/>
    <p:sldId id="279" r:id="rId38"/>
    <p:sldId id="328" r:id="rId39"/>
    <p:sldId id="366" r:id="rId40"/>
  </p:sldIdLst>
  <p:sldSz cx="12161838" cy="6858000"/>
  <p:notesSz cx="6858000" cy="9144000"/>
  <p:custDataLst>
    <p:tags r:id="rId43"/>
  </p:custDataLst>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MS Reference Serif" pitchFamily="18" charset="0"/>
        <a:ea typeface="+mn-ea"/>
        <a:cs typeface="+mn-cs"/>
      </a:defRPr>
    </a:lvl9pPr>
  </p:defaultTextStyle>
  <p:extLst>
    <p:ext uri="{EFAFB233-063F-42B5-8137-9DF3F51BA10A}">
      <p15:sldGuideLst xmlns:p15="http://schemas.microsoft.com/office/powerpoint/2012/main">
        <p15:guide id="1" orient="horz" pos="874">
          <p15:clr>
            <a:srgbClr val="A4A3A4"/>
          </p15:clr>
        </p15:guide>
        <p15:guide id="2" pos="673">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bitha Kamath"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6E6"/>
    <a:srgbClr val="000000"/>
    <a:srgbClr val="3C0023"/>
    <a:srgbClr val="680023"/>
    <a:srgbClr val="66FFFF"/>
    <a:srgbClr val="33CCCC"/>
    <a:srgbClr val="CCCC00"/>
    <a:srgbClr val="0099CC"/>
    <a:srgbClr val="003366"/>
    <a:srgbClr val="72AF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93817" autoAdjust="0"/>
  </p:normalViewPr>
  <p:slideViewPr>
    <p:cSldViewPr snapToGrid="0">
      <p:cViewPr varScale="1">
        <p:scale>
          <a:sx n="43" d="100"/>
          <a:sy n="43" d="100"/>
        </p:scale>
        <p:origin x="62" y="682"/>
      </p:cViewPr>
      <p:guideLst>
        <p:guide orient="horz" pos="874"/>
        <p:guide pos="673"/>
      </p:guideLst>
    </p:cSldViewPr>
  </p:slideViewPr>
  <p:outlineViewPr>
    <p:cViewPr>
      <p:scale>
        <a:sx n="33" d="100"/>
        <a:sy n="33" d="100"/>
      </p:scale>
      <p:origin x="0" y="-33380"/>
    </p:cViewPr>
  </p:outlineViewPr>
  <p:notesTextViewPr>
    <p:cViewPr>
      <p:scale>
        <a:sx n="100" d="100"/>
        <a:sy n="100" d="100"/>
      </p:scale>
      <p:origin x="0" y="0"/>
    </p:cViewPr>
  </p:notesTextViewPr>
  <p:sorterViewPr>
    <p:cViewPr>
      <p:scale>
        <a:sx n="100" d="100"/>
        <a:sy n="100" d="100"/>
      </p:scale>
      <p:origin x="0" y="-1592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gs" Target="tags/tag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381750" y="8750300"/>
            <a:ext cx="406400" cy="301625"/>
          </a:xfrm>
          <a:prstGeom prst="rect">
            <a:avLst/>
          </a:prstGeom>
          <a:noFill/>
          <a:ln w="12700">
            <a:noFill/>
            <a:miter lim="800000"/>
            <a:headEnd/>
            <a:tailEnd/>
          </a:ln>
          <a:effectLst/>
        </p:spPr>
        <p:txBody>
          <a:bodyPr wrap="none" lIns="90488" tIns="44450" rIns="90488" bIns="44450" anchor="ctr">
            <a:spAutoFit/>
          </a:bodyPr>
          <a:lstStyle/>
          <a:p>
            <a:pPr algn="r"/>
            <a:fld id="{600A3E91-8985-4949-9C57-CC4357DECD4A}" type="slidenum">
              <a:rPr lang="en-US" sz="1400">
                <a:effectLst/>
                <a:latin typeface="Book Antiqua" pitchFamily="18" charset="0"/>
              </a:rPr>
              <a:pPr algn="r"/>
              <a:t>‹#›</a:t>
            </a:fld>
            <a:endParaRPr lang="en-US" sz="1400">
              <a:effectLst/>
              <a:latin typeface="Book Antiqua" pitchFamily="18" charset="0"/>
            </a:endParaRPr>
          </a:p>
        </p:txBody>
      </p:sp>
    </p:spTree>
    <p:extLst>
      <p:ext uri="{BB962C8B-B14F-4D97-AF65-F5344CB8AC3E}">
        <p14:creationId xmlns:p14="http://schemas.microsoft.com/office/powerpoint/2010/main" val="31337620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notes styles</a:t>
            </a:r>
          </a:p>
          <a:p>
            <a:pPr lvl="0"/>
            <a:r>
              <a:rPr lang="en-US"/>
              <a:t>Second Level</a:t>
            </a:r>
          </a:p>
          <a:p>
            <a:pPr lvl="0"/>
            <a:r>
              <a:rPr lang="en-US"/>
              <a:t>Third Level</a:t>
            </a:r>
          </a:p>
          <a:p>
            <a:pPr lvl="0"/>
            <a:r>
              <a:rPr lang="en-US"/>
              <a:t>Fourth Level</a:t>
            </a:r>
          </a:p>
          <a:p>
            <a:pPr lvl="0"/>
            <a:r>
              <a:rPr lang="en-US"/>
              <a:t>Fifth Level</a:t>
            </a:r>
          </a:p>
        </p:txBody>
      </p:sp>
      <p:sp>
        <p:nvSpPr>
          <p:cNvPr id="2051" name="Rectangle 3"/>
          <p:cNvSpPr>
            <a:spLocks noGrp="1" noRot="1" noChangeAspect="1" noChangeArrowheads="1" noTextEdit="1"/>
          </p:cNvSpPr>
          <p:nvPr>
            <p:ph type="sldImg" idx="2"/>
          </p:nvPr>
        </p:nvSpPr>
        <p:spPr bwMode="auto">
          <a:xfrm>
            <a:off x="400050" y="692150"/>
            <a:ext cx="6057900" cy="3416300"/>
          </a:xfrm>
          <a:prstGeom prst="rect">
            <a:avLst/>
          </a:prstGeom>
          <a:noFill/>
          <a:ln w="12700">
            <a:solidFill>
              <a:schemeClr val="tx1"/>
            </a:solidFill>
            <a:miter lim="800000"/>
            <a:headEnd/>
            <a:tailEnd/>
          </a:ln>
          <a:effectLst/>
        </p:spPr>
      </p:sp>
      <p:sp>
        <p:nvSpPr>
          <p:cNvPr id="2052" name="Rectangle 4"/>
          <p:cNvSpPr>
            <a:spLocks noChangeArrowheads="1"/>
          </p:cNvSpPr>
          <p:nvPr/>
        </p:nvSpPr>
        <p:spPr bwMode="auto">
          <a:xfrm>
            <a:off x="6381750" y="8750300"/>
            <a:ext cx="406400" cy="301625"/>
          </a:xfrm>
          <a:prstGeom prst="rect">
            <a:avLst/>
          </a:prstGeom>
          <a:noFill/>
          <a:ln w="12700">
            <a:noFill/>
            <a:miter lim="800000"/>
            <a:headEnd/>
            <a:tailEnd/>
          </a:ln>
          <a:effectLst/>
        </p:spPr>
        <p:txBody>
          <a:bodyPr wrap="none" lIns="90488" tIns="44450" rIns="90488" bIns="44450" anchor="ctr">
            <a:spAutoFit/>
          </a:bodyPr>
          <a:lstStyle/>
          <a:p>
            <a:pPr algn="r"/>
            <a:fld id="{6BFB56B4-8147-4432-B711-9345A67E93C9}" type="slidenum">
              <a:rPr lang="en-US" sz="1400">
                <a:effectLst/>
                <a:latin typeface="Book Antiqua" pitchFamily="18" charset="0"/>
              </a:rPr>
              <a:pPr algn="r"/>
              <a:t>‹#›</a:t>
            </a:fld>
            <a:endParaRPr lang="en-US" sz="1400">
              <a:effectLst/>
              <a:latin typeface="Book Antiqua" pitchFamily="18" charset="0"/>
            </a:endParaRPr>
          </a:p>
        </p:txBody>
      </p:sp>
    </p:spTree>
    <p:extLst>
      <p:ext uri="{BB962C8B-B14F-4D97-AF65-F5344CB8AC3E}">
        <p14:creationId xmlns:p14="http://schemas.microsoft.com/office/powerpoint/2010/main" val="32429750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ook Antiqua"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Book Antiqua"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Book Antiqua"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Book Antiqua"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83C1DF-5E15-4B5F-BDE0-920118E0A9B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7417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400050" y="692150"/>
            <a:ext cx="6057900" cy="3416300"/>
          </a:xfrm>
          <a:ln/>
        </p:spPr>
      </p:sp>
      <p:sp>
        <p:nvSpPr>
          <p:cNvPr id="3277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751367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xfrm>
            <a:off x="400050" y="692150"/>
            <a:ext cx="6057900" cy="3416300"/>
          </a:xfrm>
          <a:ln/>
        </p:spPr>
      </p:sp>
      <p:sp>
        <p:nvSpPr>
          <p:cNvPr id="1648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67552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xfrm>
            <a:off x="400050" y="692150"/>
            <a:ext cx="6057900" cy="3416300"/>
          </a:xfrm>
          <a:ln/>
        </p:spPr>
      </p:sp>
      <p:sp>
        <p:nvSpPr>
          <p:cNvPr id="1669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50934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400050" y="692150"/>
            <a:ext cx="6057900" cy="3416300"/>
          </a:xfrm>
          <a:ln/>
        </p:spPr>
      </p:sp>
      <p:sp>
        <p:nvSpPr>
          <p:cNvPr id="368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53703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400050" y="692150"/>
            <a:ext cx="6057900" cy="3416300"/>
          </a:xfrm>
          <a:ln/>
        </p:spPr>
      </p:sp>
      <p:sp>
        <p:nvSpPr>
          <p:cNvPr id="39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28929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400050" y="692150"/>
            <a:ext cx="6057900" cy="3416300"/>
          </a:xfrm>
          <a:ln/>
        </p:spPr>
      </p:sp>
      <p:sp>
        <p:nvSpPr>
          <p:cNvPr id="798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61549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400050" y="692150"/>
            <a:ext cx="6057900" cy="3416300"/>
          </a:xfrm>
          <a:ln/>
        </p:spPr>
      </p:sp>
      <p:sp>
        <p:nvSpPr>
          <p:cNvPr id="808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67193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400050" y="692150"/>
            <a:ext cx="6057900" cy="3416300"/>
          </a:xfrm>
          <a:ln/>
        </p:spPr>
      </p:sp>
      <p:sp>
        <p:nvSpPr>
          <p:cNvPr id="819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71129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a:xfrm>
            <a:off x="400050" y="692150"/>
            <a:ext cx="6057900" cy="3416300"/>
          </a:xfrm>
          <a:ln/>
        </p:spPr>
      </p:sp>
      <p:sp>
        <p:nvSpPr>
          <p:cNvPr id="1710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03799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Rot="1" noChangeAspect="1" noChangeArrowheads="1" noTextEdit="1"/>
          </p:cNvSpPr>
          <p:nvPr>
            <p:ph type="sldImg"/>
          </p:nvPr>
        </p:nvSpPr>
        <p:spPr>
          <a:xfrm>
            <a:off x="400050" y="692150"/>
            <a:ext cx="6057900" cy="3416300"/>
          </a:xfrm>
          <a:ln/>
        </p:spPr>
      </p:sp>
      <p:sp>
        <p:nvSpPr>
          <p:cNvPr id="2129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36045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400050" y="692150"/>
            <a:ext cx="6057900" cy="3416300"/>
          </a:xfrm>
          <a:ln/>
        </p:spPr>
      </p:sp>
      <p:sp>
        <p:nvSpPr>
          <p:cNvPr id="1474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09780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400050" y="692150"/>
            <a:ext cx="6057900" cy="3416300"/>
          </a:xfrm>
          <a:ln/>
        </p:spPr>
      </p:sp>
      <p:sp>
        <p:nvSpPr>
          <p:cNvPr id="901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69628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400050" y="692150"/>
            <a:ext cx="6057900" cy="3416300"/>
          </a:xfrm>
          <a:ln/>
        </p:spPr>
      </p:sp>
      <p:sp>
        <p:nvSpPr>
          <p:cNvPr id="4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3563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400050" y="692150"/>
            <a:ext cx="6057900" cy="3416300"/>
          </a:xfrm>
          <a:ln/>
        </p:spPr>
      </p:sp>
      <p:sp>
        <p:nvSpPr>
          <p:cNvPr id="450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907192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400050" y="692150"/>
            <a:ext cx="6057900" cy="3416300"/>
          </a:xfrm>
          <a:ln/>
        </p:spPr>
      </p:sp>
      <p:sp>
        <p:nvSpPr>
          <p:cNvPr id="471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001430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400050" y="692150"/>
            <a:ext cx="6057900" cy="3416300"/>
          </a:xfrm>
          <a:ln/>
        </p:spPr>
      </p:sp>
      <p:sp>
        <p:nvSpPr>
          <p:cNvPr id="94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592949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400050" y="692150"/>
            <a:ext cx="6057900" cy="3416300"/>
          </a:xfrm>
          <a:ln/>
        </p:spPr>
      </p:sp>
      <p:sp>
        <p:nvSpPr>
          <p:cNvPr id="1546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80458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Rot="1" noChangeAspect="1" noChangeArrowheads="1" noTextEdit="1"/>
          </p:cNvSpPr>
          <p:nvPr>
            <p:ph type="sldImg"/>
          </p:nvPr>
        </p:nvSpPr>
        <p:spPr>
          <a:xfrm>
            <a:off x="400050" y="692150"/>
            <a:ext cx="6057900" cy="3416300"/>
          </a:xfrm>
          <a:ln/>
        </p:spPr>
      </p:sp>
      <p:sp>
        <p:nvSpPr>
          <p:cNvPr id="2150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20491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400050" y="692150"/>
            <a:ext cx="6057900" cy="3416300"/>
          </a:xfrm>
          <a:ln/>
        </p:spPr>
      </p:sp>
      <p:sp>
        <p:nvSpPr>
          <p:cNvPr id="491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100744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400050" y="692150"/>
            <a:ext cx="6057900" cy="3416300"/>
          </a:xfrm>
          <a:ln/>
        </p:spPr>
      </p:sp>
      <p:sp>
        <p:nvSpPr>
          <p:cNvPr id="50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96956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Rot="1" noChangeAspect="1" noChangeArrowheads="1" noTextEdit="1"/>
          </p:cNvSpPr>
          <p:nvPr>
            <p:ph type="sldImg"/>
          </p:nvPr>
        </p:nvSpPr>
        <p:spPr>
          <a:xfrm>
            <a:off x="400050" y="692150"/>
            <a:ext cx="6057900" cy="3416300"/>
          </a:xfrm>
          <a:ln/>
        </p:spPr>
      </p:sp>
      <p:sp>
        <p:nvSpPr>
          <p:cNvPr id="1822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014101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a:xfrm>
            <a:off x="400050" y="692150"/>
            <a:ext cx="6057900" cy="3416300"/>
          </a:xfrm>
          <a:ln/>
        </p:spPr>
      </p:sp>
      <p:sp>
        <p:nvSpPr>
          <p:cNvPr id="1392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3926051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400050" y="692150"/>
            <a:ext cx="6057900" cy="3416300"/>
          </a:xfrm>
          <a:ln/>
        </p:spPr>
      </p:sp>
      <p:sp>
        <p:nvSpPr>
          <p:cNvPr id="512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58040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400050" y="692150"/>
            <a:ext cx="6057900" cy="3416300"/>
          </a:xfrm>
          <a:ln/>
        </p:spPr>
      </p:sp>
      <p:sp>
        <p:nvSpPr>
          <p:cNvPr id="52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879725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400050" y="692150"/>
            <a:ext cx="6057900" cy="3416300"/>
          </a:xfrm>
          <a:ln/>
        </p:spPr>
      </p:sp>
      <p:sp>
        <p:nvSpPr>
          <p:cNvPr id="532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268344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xfrm>
            <a:off x="400050" y="692150"/>
            <a:ext cx="6057900" cy="3416300"/>
          </a:xfrm>
          <a:ln/>
        </p:spPr>
      </p:sp>
      <p:sp>
        <p:nvSpPr>
          <p:cNvPr id="1597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668829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xfrm>
            <a:off x="400050" y="692150"/>
            <a:ext cx="6057900" cy="3416300"/>
          </a:xfrm>
          <a:ln/>
        </p:spPr>
      </p:sp>
      <p:sp>
        <p:nvSpPr>
          <p:cNvPr id="1863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51812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400050" y="692150"/>
            <a:ext cx="6057900" cy="3416300"/>
          </a:xfrm>
          <a:ln/>
        </p:spPr>
      </p:sp>
      <p:sp>
        <p:nvSpPr>
          <p:cNvPr id="552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124467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Rot="1" noChangeAspect="1" noChangeArrowheads="1" noTextEdit="1"/>
          </p:cNvSpPr>
          <p:nvPr>
            <p:ph type="sldImg"/>
          </p:nvPr>
        </p:nvSpPr>
        <p:spPr>
          <a:xfrm>
            <a:off x="400050" y="692150"/>
            <a:ext cx="6057900" cy="3416300"/>
          </a:xfrm>
          <a:ln/>
        </p:spPr>
      </p:sp>
      <p:sp>
        <p:nvSpPr>
          <p:cNvPr id="1607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737132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6127" y="2534653"/>
            <a:ext cx="5372812" cy="1186447"/>
          </a:xfrm>
        </p:spPr>
        <p:txBody>
          <a:bodyPr anchor="t">
            <a:normAutofit/>
          </a:bodyPr>
          <a:lstStyle>
            <a:lvl1pPr algn="l">
              <a:defRPr sz="3192"/>
            </a:lvl1pPr>
          </a:lstStyle>
          <a:p>
            <a:r>
              <a:rPr lang="en-US"/>
              <a:t>Click to edit Master title style</a:t>
            </a:r>
          </a:p>
        </p:txBody>
      </p:sp>
      <p:sp>
        <p:nvSpPr>
          <p:cNvPr id="3" name="Subtitle 2"/>
          <p:cNvSpPr>
            <a:spLocks noGrp="1"/>
          </p:cNvSpPr>
          <p:nvPr>
            <p:ph type="subTitle" idx="1"/>
          </p:nvPr>
        </p:nvSpPr>
        <p:spPr>
          <a:xfrm>
            <a:off x="836127" y="3962400"/>
            <a:ext cx="5372812" cy="737937"/>
          </a:xfrm>
        </p:spPr>
        <p:txBody>
          <a:bodyPr>
            <a:normAutofit/>
          </a:bodyPr>
          <a:lstStyle>
            <a:lvl1pPr marL="0" indent="0" algn="l">
              <a:buNone/>
              <a:defRPr sz="1596"/>
            </a:lvl1pPr>
            <a:lvl2pPr marL="456057" indent="0" algn="ctr">
              <a:buNone/>
              <a:defRPr sz="1995"/>
            </a:lvl2pPr>
            <a:lvl3pPr marL="912114" indent="0" algn="ctr">
              <a:buNone/>
              <a:defRPr sz="1795"/>
            </a:lvl3pPr>
            <a:lvl4pPr marL="1368171" indent="0" algn="ctr">
              <a:buNone/>
              <a:defRPr sz="1596"/>
            </a:lvl4pPr>
            <a:lvl5pPr marL="1824228" indent="0" algn="ctr">
              <a:buNone/>
              <a:defRPr sz="1596"/>
            </a:lvl5pPr>
            <a:lvl6pPr marL="2280285" indent="0" algn="ctr">
              <a:buNone/>
              <a:defRPr sz="1596"/>
            </a:lvl6pPr>
            <a:lvl7pPr marL="2736342" indent="0" algn="ctr">
              <a:buNone/>
              <a:defRPr sz="1596"/>
            </a:lvl7pPr>
            <a:lvl8pPr marL="3192399" indent="0" algn="ctr">
              <a:buNone/>
              <a:defRPr sz="1596"/>
            </a:lvl8pPr>
            <a:lvl9pPr marL="3648456" indent="0" algn="ctr">
              <a:buNone/>
              <a:defRPr sz="1596"/>
            </a:lvl9pPr>
          </a:lstStyle>
          <a:p>
            <a:r>
              <a:rPr lang="en-US"/>
              <a:t>Click to edit Master subtitle style</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5" name="Text Placeholder 4">
            <a:extLst>
              <a:ext uri="{FF2B5EF4-FFF2-40B4-BE49-F238E27FC236}">
                <a16:creationId xmlns:a16="http://schemas.microsoft.com/office/drawing/2014/main" id="{5F39262F-EE24-423F-9BD8-0C9EC6062257}"/>
              </a:ext>
            </a:extLst>
          </p:cNvPr>
          <p:cNvSpPr>
            <a:spLocks noGrp="1"/>
          </p:cNvSpPr>
          <p:nvPr>
            <p:ph type="body" sz="quarter" idx="13"/>
          </p:nvPr>
        </p:nvSpPr>
        <p:spPr>
          <a:xfrm>
            <a:off x="836127" y="6448426"/>
            <a:ext cx="9485434" cy="409575"/>
          </a:xfrm>
        </p:spPr>
        <p:txBody>
          <a:bodyPr>
            <a:normAutofit/>
          </a:bodyPr>
          <a:lstStyle>
            <a:lvl1pPr marL="0" indent="0">
              <a:buNone/>
              <a:defRPr sz="798">
                <a:latin typeface="+mj-lt"/>
              </a:defRPr>
            </a:lvl1pPr>
          </a:lstStyle>
          <a:p>
            <a:pPr lvl="0"/>
            <a:r>
              <a:rPr lang="en-US"/>
              <a:t>Edit Master text styles</a:t>
            </a:r>
          </a:p>
        </p:txBody>
      </p:sp>
      <p:pic>
        <p:nvPicPr>
          <p:cNvPr id="7" name="Picture 6" descr="The cover of Statistics for Business and Economics features a busy highway headed into a big city filled with skyscrapers. It is dusk; lights and reflections are scattered across the image.">
            <a:extLst>
              <a:ext uri="{FF2B5EF4-FFF2-40B4-BE49-F238E27FC236}">
                <a16:creationId xmlns:a16="http://schemas.microsoft.com/office/drawing/2014/main" id="{6E8A0320-B4C5-4F1D-9324-E74C6C306A1F}"/>
              </a:ext>
            </a:extLst>
          </p:cNvPr>
          <p:cNvPicPr>
            <a:picLocks noChangeAspect="1"/>
          </p:cNvPicPr>
          <p:nvPr userDrawn="1"/>
        </p:nvPicPr>
        <p:blipFill>
          <a:blip r:embed="rId2"/>
          <a:stretch>
            <a:fillRect/>
          </a:stretch>
        </p:blipFill>
        <p:spPr>
          <a:xfrm>
            <a:off x="7129174" y="659095"/>
            <a:ext cx="4301053" cy="5376436"/>
          </a:xfrm>
          <a:prstGeom prst="rect">
            <a:avLst/>
          </a:prstGeom>
        </p:spPr>
      </p:pic>
    </p:spTree>
    <p:extLst>
      <p:ext uri="{BB962C8B-B14F-4D97-AF65-F5344CB8AC3E}">
        <p14:creationId xmlns:p14="http://schemas.microsoft.com/office/powerpoint/2010/main" val="116116920"/>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400"/>
            </a:lvl1pPr>
            <a:lvl2pPr>
              <a:defRPr sz="20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dirty="0"/>
          </a:p>
        </p:txBody>
      </p:sp>
      <p:sp>
        <p:nvSpPr>
          <p:cNvPr id="5" name="Rectangle 4">
            <a:extLst>
              <a:ext uri="{FF2B5EF4-FFF2-40B4-BE49-F238E27FC236}">
                <a16:creationId xmlns:a16="http://schemas.microsoft.com/office/drawing/2014/main" id="{4C85CB59-7EB1-4EF8-B05F-035EA03A2D9F}"/>
              </a:ext>
            </a:extLst>
          </p:cNvPr>
          <p:cNvSpPr>
            <a:spLocks noChangeArrowheads="1"/>
          </p:cNvSpPr>
          <p:nvPr userDrawn="1"/>
        </p:nvSpPr>
        <p:spPr bwMode="auto">
          <a:xfrm>
            <a:off x="838200" y="6448508"/>
            <a:ext cx="9442837" cy="335989"/>
          </a:xfrm>
          <a:prstGeom prst="rect">
            <a:avLst/>
          </a:prstGeom>
          <a:noFill/>
          <a:ln w="12700">
            <a:noFill/>
            <a:miter lim="800000"/>
            <a:headEnd/>
            <a:tailEnd/>
          </a:ln>
          <a:effectLst/>
        </p:spPr>
        <p:txBody>
          <a:bodyPr wrap="square" lIns="90488" tIns="44450" rIns="90488" bIns="4445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800">
                <a:solidFill>
                  <a:srgbClr val="000000"/>
                </a:solidFill>
                <a:effectLst/>
                <a:latin typeface="+mj-lt"/>
                <a:cs typeface="Arial" panose="020B0604020202020204" pitchFamily="34" charset="0"/>
              </a:rPr>
              <a:t>© 2020  Cengage.  </a:t>
            </a:r>
            <a:r>
              <a:rPr lang="en-US" sz="800"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800" baseline="0" dirty="0">
                <a:solidFill>
                  <a:srgbClr val="000000"/>
                </a:solidFill>
                <a:effectLst/>
                <a:latin typeface="+mj-lt"/>
                <a:cs typeface="Arial" panose="020B0604020202020204" pitchFamily="34" charset="0"/>
              </a:rPr>
              <a:t> </a:t>
            </a:r>
            <a:r>
              <a:rPr lang="en-US" sz="800"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800" baseline="0" dirty="0">
                <a:solidFill>
                  <a:srgbClr val="000000"/>
                </a:solidFill>
                <a:effectLst/>
                <a:latin typeface="+mj-lt"/>
                <a:cs typeface="Arial" panose="020B0604020202020204" pitchFamily="34" charset="0"/>
              </a:rPr>
              <a:t> school-approved learning management system f</a:t>
            </a:r>
            <a:r>
              <a:rPr lang="en-US" sz="800"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1896883392"/>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6126" y="1463040"/>
            <a:ext cx="5168781"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56931" y="1463040"/>
            <a:ext cx="5168781"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dirty="0"/>
          </a:p>
        </p:txBody>
      </p:sp>
      <p:sp>
        <p:nvSpPr>
          <p:cNvPr id="6" name="Content Placeholder 5"/>
          <p:cNvSpPr>
            <a:spLocks noGrp="1"/>
          </p:cNvSpPr>
          <p:nvPr>
            <p:ph sz="quarter" idx="13"/>
          </p:nvPr>
        </p:nvSpPr>
        <p:spPr>
          <a:xfrm>
            <a:off x="5324475" y="5122863"/>
            <a:ext cx="2649538" cy="9128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8900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1"/>
          <p:cNvSpPr>
            <a:spLocks noGrp="1"/>
          </p:cNvSpPr>
          <p:nvPr>
            <p:ph sz="half" idx="1" hasCustomPrompt="1"/>
          </p:nvPr>
        </p:nvSpPr>
        <p:spPr>
          <a:xfrm>
            <a:off x="836126" y="1463040"/>
            <a:ext cx="5168781" cy="4572000"/>
          </a:xfrm>
        </p:spPr>
        <p:txBody>
          <a:bodyPr/>
          <a:lstStyle>
            <a:lvl1pPr>
              <a:defRPr/>
            </a:lvl1pPr>
          </a:lstStyle>
          <a:p>
            <a:pPr lvl="0"/>
            <a:r>
              <a:rPr lang="en-US"/>
              <a:t>Content Placeholder 1</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half" idx="2" hasCustomPrompt="1"/>
          </p:nvPr>
        </p:nvSpPr>
        <p:spPr>
          <a:xfrm>
            <a:off x="6156931" y="1463040"/>
            <a:ext cx="5168781" cy="4572000"/>
          </a:xfrm>
        </p:spPr>
        <p:txBody>
          <a:bodyPr/>
          <a:lstStyle>
            <a:lvl1pPr>
              <a:defRPr/>
            </a:lvl1pPr>
          </a:lstStyle>
          <a:p>
            <a:pPr lvl="0"/>
            <a:r>
              <a:rPr lang="en-US"/>
              <a:t>Content Placeholder 2</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879432247"/>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7711" y="1463040"/>
            <a:ext cx="5145027" cy="73988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7711" y="2298811"/>
            <a:ext cx="5145027"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56931" y="1463040"/>
            <a:ext cx="5170365" cy="73988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56931" y="2298811"/>
            <a:ext cx="5170365"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949EBC64-41CB-41B8-B6DF-9B1367312BD4}" type="slidenum">
              <a:rPr lang="en-US" smtClean="0"/>
              <a:t>‹#›</a:t>
            </a:fld>
            <a:endParaRPr lang="en-US" dirty="0"/>
          </a:p>
        </p:txBody>
      </p:sp>
      <p:sp>
        <p:nvSpPr>
          <p:cNvPr id="10" name="Title 1"/>
          <p:cNvSpPr>
            <a:spLocks noGrp="1"/>
          </p:cNvSpPr>
          <p:nvPr>
            <p:ph type="title"/>
          </p:nvPr>
        </p:nvSpPr>
        <p:spPr>
          <a:xfrm>
            <a:off x="836127" y="640081"/>
            <a:ext cx="10489585" cy="727075"/>
          </a:xfrm>
        </p:spPr>
        <p:txBody>
          <a:bodyPr/>
          <a:lstStyle/>
          <a:p>
            <a:r>
              <a:rPr lang="en-US"/>
              <a:t>Click to edit Master title style</a:t>
            </a:r>
          </a:p>
        </p:txBody>
      </p:sp>
      <p:sp>
        <p:nvSpPr>
          <p:cNvPr id="8" name="Rectangle 7">
            <a:extLst>
              <a:ext uri="{FF2B5EF4-FFF2-40B4-BE49-F238E27FC236}">
                <a16:creationId xmlns:a16="http://schemas.microsoft.com/office/drawing/2014/main" id="{298E1DBC-2085-47BC-AB88-4F321A6BE85E}"/>
              </a:ext>
            </a:extLst>
          </p:cNvPr>
          <p:cNvSpPr>
            <a:spLocks noChangeArrowheads="1"/>
          </p:cNvSpPr>
          <p:nvPr userDrawn="1"/>
        </p:nvSpPr>
        <p:spPr bwMode="auto">
          <a:xfrm>
            <a:off x="838200" y="6448508"/>
            <a:ext cx="9442837" cy="335989"/>
          </a:xfrm>
          <a:prstGeom prst="rect">
            <a:avLst/>
          </a:prstGeom>
          <a:noFill/>
          <a:ln w="12700">
            <a:noFill/>
            <a:miter lim="800000"/>
            <a:headEnd/>
            <a:tailEnd/>
          </a:ln>
          <a:effectLst/>
        </p:spPr>
        <p:txBody>
          <a:bodyPr wrap="square" lIns="90488" tIns="44450" rIns="90488" bIns="4445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800">
                <a:solidFill>
                  <a:srgbClr val="000000"/>
                </a:solidFill>
                <a:effectLst/>
                <a:latin typeface="+mj-lt"/>
                <a:cs typeface="Arial" panose="020B0604020202020204" pitchFamily="34" charset="0"/>
              </a:rPr>
              <a:t>© 2020  Cengage.  </a:t>
            </a:r>
            <a:r>
              <a:rPr lang="en-US" sz="800"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800" baseline="0" dirty="0">
                <a:solidFill>
                  <a:srgbClr val="000000"/>
                </a:solidFill>
                <a:effectLst/>
                <a:latin typeface="+mj-lt"/>
                <a:cs typeface="Arial" panose="020B0604020202020204" pitchFamily="34" charset="0"/>
              </a:rPr>
              <a:t> </a:t>
            </a:r>
            <a:r>
              <a:rPr lang="en-US" sz="800"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800" baseline="0" dirty="0">
                <a:solidFill>
                  <a:srgbClr val="000000"/>
                </a:solidFill>
                <a:effectLst/>
                <a:latin typeface="+mj-lt"/>
                <a:cs typeface="Arial" panose="020B0604020202020204" pitchFamily="34" charset="0"/>
              </a:rPr>
              <a:t> school-approved learning management system f</a:t>
            </a:r>
            <a:r>
              <a:rPr lang="en-US" sz="800"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37851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 y="502920"/>
            <a:ext cx="11115400" cy="907183"/>
          </a:xfrm>
        </p:spPr>
        <p:txBody>
          <a:bodyPr/>
          <a:lstStyle/>
          <a:p>
            <a:r>
              <a:rPr lang="en-US"/>
              <a:t>Click to edit Master title style</a:t>
            </a:r>
          </a:p>
        </p:txBody>
      </p:sp>
      <p:sp>
        <p:nvSpPr>
          <p:cNvPr id="3" name="Content Placeholder 1"/>
          <p:cNvSpPr>
            <a:spLocks noGrp="1"/>
          </p:cNvSpPr>
          <p:nvPr>
            <p:ph sz="half" idx="1" hasCustomPrompt="1"/>
          </p:nvPr>
        </p:nvSpPr>
        <p:spPr>
          <a:xfrm>
            <a:off x="210312" y="1547264"/>
            <a:ext cx="10489585" cy="1316252"/>
          </a:xfrm>
        </p:spPr>
        <p:txBody>
          <a:bodyPr/>
          <a:lstStyle>
            <a:lvl1pPr>
              <a:defRPr/>
            </a:lvl1pPr>
          </a:lstStyle>
          <a:p>
            <a:pPr lvl="0"/>
            <a:r>
              <a:rPr lang="en-US"/>
              <a:t>Content Placeholder 1</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half" idx="2" hasCustomPrompt="1"/>
          </p:nvPr>
        </p:nvSpPr>
        <p:spPr>
          <a:xfrm>
            <a:off x="210313" y="2995499"/>
            <a:ext cx="11115400" cy="1316252"/>
          </a:xfrm>
        </p:spPr>
        <p:txBody>
          <a:bodyPr/>
          <a:lstStyle>
            <a:lvl1pPr>
              <a:defRPr/>
            </a:lvl1pPr>
          </a:lstStyle>
          <a:p>
            <a:pPr lvl="0"/>
            <a:r>
              <a:rPr lang="en-US"/>
              <a:t>Content Placeholder 2</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9FF95CBC-B56A-442D-BB6F-B0C2C54B38AC}"/>
              </a:ext>
            </a:extLst>
          </p:cNvPr>
          <p:cNvSpPr>
            <a:spLocks noGrp="1"/>
          </p:cNvSpPr>
          <p:nvPr>
            <p:ph sz="quarter" idx="13" hasCustomPrompt="1"/>
          </p:nvPr>
        </p:nvSpPr>
        <p:spPr>
          <a:xfrm>
            <a:off x="210313" y="4551998"/>
            <a:ext cx="11115400" cy="1316252"/>
          </a:xfrm>
        </p:spPr>
        <p:txBody>
          <a:bodyPr/>
          <a:lstStyle>
            <a:lvl1pPr>
              <a:defRPr/>
            </a:lvl1pPr>
          </a:lstStyle>
          <a:p>
            <a:pPr lvl="0"/>
            <a:r>
              <a:rPr lang="en-US"/>
              <a:t>Content Placeholder 3</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852661887"/>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Four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 y="502920"/>
            <a:ext cx="10489585" cy="727075"/>
          </a:xfrm>
        </p:spPr>
        <p:txBody>
          <a:bodyPr/>
          <a:lstStyle/>
          <a:p>
            <a:r>
              <a:rPr lang="en-US"/>
              <a:t>Click to edit Master title style</a:t>
            </a:r>
          </a:p>
        </p:txBody>
      </p:sp>
      <p:sp>
        <p:nvSpPr>
          <p:cNvPr id="3" name="Content Placeholder 2"/>
          <p:cNvSpPr>
            <a:spLocks noGrp="1"/>
          </p:cNvSpPr>
          <p:nvPr>
            <p:ph sz="half" idx="1"/>
          </p:nvPr>
        </p:nvSpPr>
        <p:spPr>
          <a:xfrm>
            <a:off x="210312" y="1547264"/>
            <a:ext cx="5649182" cy="20535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0312" y="3919839"/>
            <a:ext cx="5649182" cy="2053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4">
            <a:extLst>
              <a:ext uri="{FF2B5EF4-FFF2-40B4-BE49-F238E27FC236}">
                <a16:creationId xmlns:a16="http://schemas.microsoft.com/office/drawing/2014/main" id="{1EA97922-68D1-4A28-85F3-CE1C535B35D2}"/>
              </a:ext>
            </a:extLst>
          </p:cNvPr>
          <p:cNvSpPr>
            <a:spLocks noGrp="1"/>
          </p:cNvSpPr>
          <p:nvPr>
            <p:ph sz="half" idx="14"/>
          </p:nvPr>
        </p:nvSpPr>
        <p:spPr>
          <a:xfrm>
            <a:off x="6302346" y="1547264"/>
            <a:ext cx="5023368" cy="20535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5">
            <a:extLst>
              <a:ext uri="{FF2B5EF4-FFF2-40B4-BE49-F238E27FC236}">
                <a16:creationId xmlns:a16="http://schemas.microsoft.com/office/drawing/2014/main" id="{3CC27E8A-B85C-4DA8-8400-C5DD9CDACDE3}"/>
              </a:ext>
            </a:extLst>
          </p:cNvPr>
          <p:cNvSpPr>
            <a:spLocks noGrp="1"/>
          </p:cNvSpPr>
          <p:nvPr>
            <p:ph sz="half" idx="15"/>
          </p:nvPr>
        </p:nvSpPr>
        <p:spPr>
          <a:xfrm>
            <a:off x="6302346" y="3919839"/>
            <a:ext cx="5023368" cy="2053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3461985283"/>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Four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 y="502920"/>
            <a:ext cx="10489585" cy="727075"/>
          </a:xfrm>
        </p:spPr>
        <p:txBody>
          <a:bodyPr/>
          <a:lstStyle/>
          <a:p>
            <a:r>
              <a:rPr lang="en-US"/>
              <a:t>Click to edit Master title style</a:t>
            </a:r>
          </a:p>
        </p:txBody>
      </p:sp>
      <p:sp>
        <p:nvSpPr>
          <p:cNvPr id="3" name="Content Placeholder 2"/>
          <p:cNvSpPr>
            <a:spLocks noGrp="1"/>
          </p:cNvSpPr>
          <p:nvPr>
            <p:ph sz="half" idx="1"/>
          </p:nvPr>
        </p:nvSpPr>
        <p:spPr>
          <a:xfrm>
            <a:off x="210321" y="1543216"/>
            <a:ext cx="11115389" cy="908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0320" y="2626931"/>
            <a:ext cx="11115388" cy="10836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4">
            <a:extLst>
              <a:ext uri="{FF2B5EF4-FFF2-40B4-BE49-F238E27FC236}">
                <a16:creationId xmlns:a16="http://schemas.microsoft.com/office/drawing/2014/main" id="{1EA97922-68D1-4A28-85F3-CE1C535B35D2}"/>
              </a:ext>
            </a:extLst>
          </p:cNvPr>
          <p:cNvSpPr>
            <a:spLocks noGrp="1"/>
          </p:cNvSpPr>
          <p:nvPr>
            <p:ph sz="half" idx="14"/>
          </p:nvPr>
        </p:nvSpPr>
        <p:spPr>
          <a:xfrm>
            <a:off x="210312" y="3980329"/>
            <a:ext cx="11115395" cy="9430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5">
            <a:extLst>
              <a:ext uri="{FF2B5EF4-FFF2-40B4-BE49-F238E27FC236}">
                <a16:creationId xmlns:a16="http://schemas.microsoft.com/office/drawing/2014/main" id="{3CC27E8A-B85C-4DA8-8400-C5DD9CDACDE3}"/>
              </a:ext>
            </a:extLst>
          </p:cNvPr>
          <p:cNvSpPr>
            <a:spLocks noGrp="1"/>
          </p:cNvSpPr>
          <p:nvPr>
            <p:ph sz="half" idx="15"/>
          </p:nvPr>
        </p:nvSpPr>
        <p:spPr>
          <a:xfrm>
            <a:off x="210319" y="5064980"/>
            <a:ext cx="11115395" cy="908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1930227422"/>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Six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 y="502920"/>
            <a:ext cx="10489585" cy="727075"/>
          </a:xfrm>
        </p:spPr>
        <p:txBody>
          <a:bodyPr/>
          <a:lstStyle/>
          <a:p>
            <a:r>
              <a:rPr lang="en-US"/>
              <a:t>Click to edit Master title style</a:t>
            </a:r>
          </a:p>
        </p:txBody>
      </p:sp>
      <p:sp>
        <p:nvSpPr>
          <p:cNvPr id="3" name="Content Placeholder 1"/>
          <p:cNvSpPr>
            <a:spLocks noGrp="1"/>
          </p:cNvSpPr>
          <p:nvPr>
            <p:ph sz="half" idx="1"/>
          </p:nvPr>
        </p:nvSpPr>
        <p:spPr>
          <a:xfrm>
            <a:off x="210312" y="1547263"/>
            <a:ext cx="5649182" cy="14426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half" idx="2"/>
          </p:nvPr>
        </p:nvSpPr>
        <p:spPr>
          <a:xfrm>
            <a:off x="210312" y="2995498"/>
            <a:ext cx="5649182" cy="15564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9FF95CBC-B56A-442D-BB6F-B0C2C54B38AC}"/>
              </a:ext>
            </a:extLst>
          </p:cNvPr>
          <p:cNvSpPr>
            <a:spLocks noGrp="1"/>
          </p:cNvSpPr>
          <p:nvPr>
            <p:ph sz="quarter" idx="13"/>
          </p:nvPr>
        </p:nvSpPr>
        <p:spPr>
          <a:xfrm>
            <a:off x="210312" y="4551997"/>
            <a:ext cx="5649182" cy="15564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4">
            <a:extLst>
              <a:ext uri="{FF2B5EF4-FFF2-40B4-BE49-F238E27FC236}">
                <a16:creationId xmlns:a16="http://schemas.microsoft.com/office/drawing/2014/main" id="{1EA97922-68D1-4A28-85F3-CE1C535B35D2}"/>
              </a:ext>
            </a:extLst>
          </p:cNvPr>
          <p:cNvSpPr>
            <a:spLocks noGrp="1"/>
          </p:cNvSpPr>
          <p:nvPr>
            <p:ph sz="half" idx="14"/>
          </p:nvPr>
        </p:nvSpPr>
        <p:spPr>
          <a:xfrm>
            <a:off x="6302346" y="1547264"/>
            <a:ext cx="5023368"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5">
            <a:extLst>
              <a:ext uri="{FF2B5EF4-FFF2-40B4-BE49-F238E27FC236}">
                <a16:creationId xmlns:a16="http://schemas.microsoft.com/office/drawing/2014/main" id="{3CC27E8A-B85C-4DA8-8400-C5DD9CDACDE3}"/>
              </a:ext>
            </a:extLst>
          </p:cNvPr>
          <p:cNvSpPr>
            <a:spLocks noGrp="1"/>
          </p:cNvSpPr>
          <p:nvPr>
            <p:ph sz="half" idx="15"/>
          </p:nvPr>
        </p:nvSpPr>
        <p:spPr>
          <a:xfrm>
            <a:off x="6302346" y="2995499"/>
            <a:ext cx="5023368"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6">
            <a:extLst>
              <a:ext uri="{FF2B5EF4-FFF2-40B4-BE49-F238E27FC236}">
                <a16:creationId xmlns:a16="http://schemas.microsoft.com/office/drawing/2014/main" id="{521CB01A-58A0-425F-A930-A35E44F53630}"/>
              </a:ext>
            </a:extLst>
          </p:cNvPr>
          <p:cNvSpPr>
            <a:spLocks noGrp="1"/>
          </p:cNvSpPr>
          <p:nvPr>
            <p:ph sz="quarter" idx="16"/>
          </p:nvPr>
        </p:nvSpPr>
        <p:spPr>
          <a:xfrm>
            <a:off x="6302346" y="4551998"/>
            <a:ext cx="5023368"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1417442856"/>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Six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 y="502920"/>
            <a:ext cx="11115400" cy="721569"/>
          </a:xfrm>
        </p:spPr>
        <p:txBody>
          <a:bodyPr/>
          <a:lstStyle/>
          <a:p>
            <a:r>
              <a:rPr lang="en-US"/>
              <a:t>Click to edit Master title style</a:t>
            </a:r>
          </a:p>
        </p:txBody>
      </p:sp>
      <p:sp>
        <p:nvSpPr>
          <p:cNvPr id="3" name="Content Placeholder 1"/>
          <p:cNvSpPr>
            <a:spLocks noGrp="1"/>
          </p:cNvSpPr>
          <p:nvPr>
            <p:ph sz="half" idx="1"/>
          </p:nvPr>
        </p:nvSpPr>
        <p:spPr>
          <a:xfrm>
            <a:off x="210312" y="1547264"/>
            <a:ext cx="10489584" cy="5068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half" idx="2"/>
          </p:nvPr>
        </p:nvSpPr>
        <p:spPr>
          <a:xfrm>
            <a:off x="210310" y="2313024"/>
            <a:ext cx="11115400" cy="329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9FF95CBC-B56A-442D-BB6F-B0C2C54B38AC}"/>
              </a:ext>
            </a:extLst>
          </p:cNvPr>
          <p:cNvSpPr>
            <a:spLocks noGrp="1"/>
          </p:cNvSpPr>
          <p:nvPr>
            <p:ph sz="quarter" idx="13"/>
          </p:nvPr>
        </p:nvSpPr>
        <p:spPr>
          <a:xfrm>
            <a:off x="210308" y="3005461"/>
            <a:ext cx="11115400" cy="329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4">
            <a:extLst>
              <a:ext uri="{FF2B5EF4-FFF2-40B4-BE49-F238E27FC236}">
                <a16:creationId xmlns:a16="http://schemas.microsoft.com/office/drawing/2014/main" id="{1EA97922-68D1-4A28-85F3-CE1C535B35D2}"/>
              </a:ext>
            </a:extLst>
          </p:cNvPr>
          <p:cNvSpPr>
            <a:spLocks noGrp="1"/>
          </p:cNvSpPr>
          <p:nvPr>
            <p:ph sz="half" idx="14"/>
          </p:nvPr>
        </p:nvSpPr>
        <p:spPr>
          <a:xfrm>
            <a:off x="210308" y="3697898"/>
            <a:ext cx="11115400" cy="329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5">
            <a:extLst>
              <a:ext uri="{FF2B5EF4-FFF2-40B4-BE49-F238E27FC236}">
                <a16:creationId xmlns:a16="http://schemas.microsoft.com/office/drawing/2014/main" id="{3CC27E8A-B85C-4DA8-8400-C5DD9CDACDE3}"/>
              </a:ext>
            </a:extLst>
          </p:cNvPr>
          <p:cNvSpPr>
            <a:spLocks noGrp="1"/>
          </p:cNvSpPr>
          <p:nvPr>
            <p:ph sz="half" idx="15"/>
          </p:nvPr>
        </p:nvSpPr>
        <p:spPr>
          <a:xfrm>
            <a:off x="210308" y="4390334"/>
            <a:ext cx="11115400" cy="5068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6">
            <a:extLst>
              <a:ext uri="{FF2B5EF4-FFF2-40B4-BE49-F238E27FC236}">
                <a16:creationId xmlns:a16="http://schemas.microsoft.com/office/drawing/2014/main" id="{521CB01A-58A0-425F-A930-A35E44F53630}"/>
              </a:ext>
            </a:extLst>
          </p:cNvPr>
          <p:cNvSpPr>
            <a:spLocks noGrp="1"/>
          </p:cNvSpPr>
          <p:nvPr>
            <p:ph sz="quarter" idx="16"/>
          </p:nvPr>
        </p:nvSpPr>
        <p:spPr>
          <a:xfrm>
            <a:off x="210308" y="5315760"/>
            <a:ext cx="11115400" cy="5068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996846851"/>
      </p:ext>
    </p:extLst>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Nine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 y="502920"/>
            <a:ext cx="10489585" cy="727075"/>
          </a:xfrm>
        </p:spPr>
        <p:txBody>
          <a:bodyPr/>
          <a:lstStyle/>
          <a:p>
            <a:r>
              <a:rPr lang="en-US"/>
              <a:t>Click to edit Master title style</a:t>
            </a:r>
          </a:p>
        </p:txBody>
      </p:sp>
      <p:sp>
        <p:nvSpPr>
          <p:cNvPr id="3" name="Content Placeholder 1"/>
          <p:cNvSpPr>
            <a:spLocks noGrp="1"/>
          </p:cNvSpPr>
          <p:nvPr>
            <p:ph sz="half" idx="1"/>
          </p:nvPr>
        </p:nvSpPr>
        <p:spPr>
          <a:xfrm>
            <a:off x="210312" y="1547264"/>
            <a:ext cx="3805077"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half" idx="2"/>
          </p:nvPr>
        </p:nvSpPr>
        <p:spPr>
          <a:xfrm>
            <a:off x="210312" y="2995499"/>
            <a:ext cx="3805077"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9FF95CBC-B56A-442D-BB6F-B0C2C54B38AC}"/>
              </a:ext>
            </a:extLst>
          </p:cNvPr>
          <p:cNvSpPr>
            <a:spLocks noGrp="1"/>
          </p:cNvSpPr>
          <p:nvPr>
            <p:ph sz="quarter" idx="13"/>
          </p:nvPr>
        </p:nvSpPr>
        <p:spPr>
          <a:xfrm>
            <a:off x="210312" y="4551998"/>
            <a:ext cx="3805077"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4">
            <a:extLst>
              <a:ext uri="{FF2B5EF4-FFF2-40B4-BE49-F238E27FC236}">
                <a16:creationId xmlns:a16="http://schemas.microsoft.com/office/drawing/2014/main" id="{D12FFE69-8A81-407D-A4B6-C6F651E0EBB1}"/>
              </a:ext>
            </a:extLst>
          </p:cNvPr>
          <p:cNvSpPr>
            <a:spLocks noGrp="1"/>
          </p:cNvSpPr>
          <p:nvPr>
            <p:ph sz="half" idx="14"/>
          </p:nvPr>
        </p:nvSpPr>
        <p:spPr>
          <a:xfrm>
            <a:off x="4491288" y="1547264"/>
            <a:ext cx="3179263"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5">
            <a:extLst>
              <a:ext uri="{FF2B5EF4-FFF2-40B4-BE49-F238E27FC236}">
                <a16:creationId xmlns:a16="http://schemas.microsoft.com/office/drawing/2014/main" id="{939EBEFC-74FB-4864-A9C1-7F4A6C438D42}"/>
              </a:ext>
            </a:extLst>
          </p:cNvPr>
          <p:cNvSpPr>
            <a:spLocks noGrp="1"/>
          </p:cNvSpPr>
          <p:nvPr>
            <p:ph sz="half" idx="15"/>
          </p:nvPr>
        </p:nvSpPr>
        <p:spPr>
          <a:xfrm>
            <a:off x="4491288" y="2995499"/>
            <a:ext cx="3179263"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6">
            <a:extLst>
              <a:ext uri="{FF2B5EF4-FFF2-40B4-BE49-F238E27FC236}">
                <a16:creationId xmlns:a16="http://schemas.microsoft.com/office/drawing/2014/main" id="{09799651-BA94-4F79-8B8B-22BE40E35BE3}"/>
              </a:ext>
            </a:extLst>
          </p:cNvPr>
          <p:cNvSpPr>
            <a:spLocks noGrp="1"/>
          </p:cNvSpPr>
          <p:nvPr>
            <p:ph sz="quarter" idx="16"/>
          </p:nvPr>
        </p:nvSpPr>
        <p:spPr>
          <a:xfrm>
            <a:off x="4491288" y="4551998"/>
            <a:ext cx="3179263"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7">
            <a:extLst>
              <a:ext uri="{FF2B5EF4-FFF2-40B4-BE49-F238E27FC236}">
                <a16:creationId xmlns:a16="http://schemas.microsoft.com/office/drawing/2014/main" id="{03C49D1E-4578-469C-B11F-063464DCCEEA}"/>
              </a:ext>
            </a:extLst>
          </p:cNvPr>
          <p:cNvSpPr>
            <a:spLocks noGrp="1"/>
          </p:cNvSpPr>
          <p:nvPr>
            <p:ph sz="half" idx="17"/>
          </p:nvPr>
        </p:nvSpPr>
        <p:spPr>
          <a:xfrm>
            <a:off x="8146449" y="1547264"/>
            <a:ext cx="3179263" cy="1316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8">
            <a:extLst>
              <a:ext uri="{FF2B5EF4-FFF2-40B4-BE49-F238E27FC236}">
                <a16:creationId xmlns:a16="http://schemas.microsoft.com/office/drawing/2014/main" id="{F291FBCD-33AA-48C9-81C6-4C086525CBD8}"/>
              </a:ext>
            </a:extLst>
          </p:cNvPr>
          <p:cNvSpPr>
            <a:spLocks noGrp="1"/>
          </p:cNvSpPr>
          <p:nvPr>
            <p:ph sz="half" idx="18"/>
          </p:nvPr>
        </p:nvSpPr>
        <p:spPr>
          <a:xfrm>
            <a:off x="8146449" y="2995499"/>
            <a:ext cx="3179263" cy="142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9">
            <a:extLst>
              <a:ext uri="{FF2B5EF4-FFF2-40B4-BE49-F238E27FC236}">
                <a16:creationId xmlns:a16="http://schemas.microsoft.com/office/drawing/2014/main" id="{8389CB71-4AEB-432E-8E45-D9B850C56B7C}"/>
              </a:ext>
            </a:extLst>
          </p:cNvPr>
          <p:cNvSpPr>
            <a:spLocks noGrp="1"/>
          </p:cNvSpPr>
          <p:nvPr>
            <p:ph sz="quarter" idx="19"/>
          </p:nvPr>
        </p:nvSpPr>
        <p:spPr>
          <a:xfrm>
            <a:off x="8146449" y="4551998"/>
            <a:ext cx="3179263" cy="14200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3589634492"/>
      </p:ext>
    </p:extLst>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Nine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 y="502920"/>
            <a:ext cx="10489585" cy="700529"/>
          </a:xfrm>
        </p:spPr>
        <p:txBody>
          <a:bodyPr/>
          <a:lstStyle/>
          <a:p>
            <a:r>
              <a:rPr lang="en-US"/>
              <a:t>Click to edit Master title style</a:t>
            </a:r>
          </a:p>
        </p:txBody>
      </p:sp>
      <p:sp>
        <p:nvSpPr>
          <p:cNvPr id="3" name="Content Placeholder 1"/>
          <p:cNvSpPr>
            <a:spLocks noGrp="1"/>
          </p:cNvSpPr>
          <p:nvPr>
            <p:ph sz="half" idx="1"/>
          </p:nvPr>
        </p:nvSpPr>
        <p:spPr>
          <a:xfrm>
            <a:off x="210312" y="1595907"/>
            <a:ext cx="11098509" cy="266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half" idx="2"/>
          </p:nvPr>
        </p:nvSpPr>
        <p:spPr>
          <a:xfrm>
            <a:off x="210312" y="2142995"/>
            <a:ext cx="11098509" cy="266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9FF95CBC-B56A-442D-BB6F-B0C2C54B38AC}"/>
              </a:ext>
            </a:extLst>
          </p:cNvPr>
          <p:cNvSpPr>
            <a:spLocks noGrp="1"/>
          </p:cNvSpPr>
          <p:nvPr>
            <p:ph sz="quarter" idx="13"/>
          </p:nvPr>
        </p:nvSpPr>
        <p:spPr>
          <a:xfrm>
            <a:off x="210312" y="2690870"/>
            <a:ext cx="11098509" cy="324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4">
            <a:extLst>
              <a:ext uri="{FF2B5EF4-FFF2-40B4-BE49-F238E27FC236}">
                <a16:creationId xmlns:a16="http://schemas.microsoft.com/office/drawing/2014/main" id="{D12FFE69-8A81-407D-A4B6-C6F651E0EBB1}"/>
              </a:ext>
            </a:extLst>
          </p:cNvPr>
          <p:cNvSpPr>
            <a:spLocks noGrp="1"/>
          </p:cNvSpPr>
          <p:nvPr>
            <p:ph sz="half" idx="14"/>
          </p:nvPr>
        </p:nvSpPr>
        <p:spPr>
          <a:xfrm>
            <a:off x="210312" y="3285685"/>
            <a:ext cx="11098513" cy="3670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5">
            <a:extLst>
              <a:ext uri="{FF2B5EF4-FFF2-40B4-BE49-F238E27FC236}">
                <a16:creationId xmlns:a16="http://schemas.microsoft.com/office/drawing/2014/main" id="{939EBEFC-74FB-4864-A9C1-7F4A6C438D42}"/>
              </a:ext>
            </a:extLst>
          </p:cNvPr>
          <p:cNvSpPr>
            <a:spLocks noGrp="1"/>
          </p:cNvSpPr>
          <p:nvPr>
            <p:ph sz="half" idx="15"/>
          </p:nvPr>
        </p:nvSpPr>
        <p:spPr>
          <a:xfrm>
            <a:off x="210312" y="3869672"/>
            <a:ext cx="11098510" cy="32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6">
            <a:extLst>
              <a:ext uri="{FF2B5EF4-FFF2-40B4-BE49-F238E27FC236}">
                <a16:creationId xmlns:a16="http://schemas.microsoft.com/office/drawing/2014/main" id="{09799651-BA94-4F79-8B8B-22BE40E35BE3}"/>
              </a:ext>
            </a:extLst>
          </p:cNvPr>
          <p:cNvSpPr>
            <a:spLocks noGrp="1"/>
          </p:cNvSpPr>
          <p:nvPr>
            <p:ph sz="quarter" idx="16"/>
          </p:nvPr>
        </p:nvSpPr>
        <p:spPr>
          <a:xfrm>
            <a:off x="210312" y="4437529"/>
            <a:ext cx="11098510" cy="2751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7">
            <a:extLst>
              <a:ext uri="{FF2B5EF4-FFF2-40B4-BE49-F238E27FC236}">
                <a16:creationId xmlns:a16="http://schemas.microsoft.com/office/drawing/2014/main" id="{03C49D1E-4578-469C-B11F-063464DCCEEA}"/>
              </a:ext>
            </a:extLst>
          </p:cNvPr>
          <p:cNvSpPr>
            <a:spLocks noGrp="1"/>
          </p:cNvSpPr>
          <p:nvPr>
            <p:ph sz="half" idx="17"/>
          </p:nvPr>
        </p:nvSpPr>
        <p:spPr>
          <a:xfrm>
            <a:off x="210312" y="4964963"/>
            <a:ext cx="11098510" cy="2380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8">
            <a:extLst>
              <a:ext uri="{FF2B5EF4-FFF2-40B4-BE49-F238E27FC236}">
                <a16:creationId xmlns:a16="http://schemas.microsoft.com/office/drawing/2014/main" id="{F291FBCD-33AA-48C9-81C6-4C086525CBD8}"/>
              </a:ext>
            </a:extLst>
          </p:cNvPr>
          <p:cNvSpPr>
            <a:spLocks noGrp="1"/>
          </p:cNvSpPr>
          <p:nvPr>
            <p:ph sz="half" idx="18"/>
          </p:nvPr>
        </p:nvSpPr>
        <p:spPr>
          <a:xfrm>
            <a:off x="209332" y="5468168"/>
            <a:ext cx="11116379" cy="234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9">
            <a:extLst>
              <a:ext uri="{FF2B5EF4-FFF2-40B4-BE49-F238E27FC236}">
                <a16:creationId xmlns:a16="http://schemas.microsoft.com/office/drawing/2014/main" id="{8389CB71-4AEB-432E-8E45-D9B850C56B7C}"/>
              </a:ext>
            </a:extLst>
          </p:cNvPr>
          <p:cNvSpPr>
            <a:spLocks noGrp="1"/>
          </p:cNvSpPr>
          <p:nvPr>
            <p:ph sz="quarter" idx="19"/>
          </p:nvPr>
        </p:nvSpPr>
        <p:spPr>
          <a:xfrm>
            <a:off x="210312" y="5935431"/>
            <a:ext cx="11098509" cy="1506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a:xfrm>
            <a:off x="10663438" y="6530758"/>
            <a:ext cx="662274" cy="190718"/>
          </a:xfrm>
        </p:spPr>
        <p:txBody>
          <a:bodyPr/>
          <a:lstStyle/>
          <a:p>
            <a:fld id="{949EBC64-41CB-41B8-B6DF-9B1367312BD4}" type="slidenum">
              <a:rPr lang="en-US" smtClean="0"/>
              <a:t>‹#›</a:t>
            </a:fld>
            <a:endParaRPr lang="en-US"/>
          </a:p>
        </p:txBody>
      </p:sp>
      <p:sp>
        <p:nvSpPr>
          <p:cNvPr id="6" name="Rectangle 5">
            <a:extLst>
              <a:ext uri="{FF2B5EF4-FFF2-40B4-BE49-F238E27FC236}">
                <a16:creationId xmlns:a16="http://schemas.microsoft.com/office/drawing/2014/main" id="{2CC9C50A-5E8D-4215-A2DE-4149A42A6159}"/>
              </a:ext>
            </a:extLst>
          </p:cNvPr>
          <p:cNvSpPr>
            <a:spLocks noChangeArrowheads="1"/>
          </p:cNvSpPr>
          <p:nvPr userDrawn="1"/>
        </p:nvSpPr>
        <p:spPr bwMode="auto">
          <a:xfrm>
            <a:off x="289323" y="6549748"/>
            <a:ext cx="9966280" cy="335126"/>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763686248"/>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10" name="Title 1"/>
          <p:cNvSpPr>
            <a:spLocks noGrp="1"/>
          </p:cNvSpPr>
          <p:nvPr>
            <p:ph type="title"/>
          </p:nvPr>
        </p:nvSpPr>
        <p:spPr>
          <a:xfrm>
            <a:off x="836127" y="640081"/>
            <a:ext cx="10489585" cy="727075"/>
          </a:xfrm>
        </p:spPr>
        <p:txBody>
          <a:bodyPr/>
          <a:lstStyle/>
          <a:p>
            <a:r>
              <a:rPr lang="en-US"/>
              <a:t>Click to edit Master title style</a:t>
            </a:r>
          </a:p>
        </p:txBody>
      </p:sp>
      <p:sp>
        <p:nvSpPr>
          <p:cNvPr id="3" name="Text Placeholder 2"/>
          <p:cNvSpPr>
            <a:spLocks noGrp="1"/>
          </p:cNvSpPr>
          <p:nvPr>
            <p:ph type="body" idx="1"/>
          </p:nvPr>
        </p:nvSpPr>
        <p:spPr>
          <a:xfrm>
            <a:off x="837711" y="1463040"/>
            <a:ext cx="5145027" cy="739885"/>
          </a:xfr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en-US"/>
              <a:t>Click to edit Master text styles</a:t>
            </a:r>
          </a:p>
        </p:txBody>
      </p:sp>
      <p:sp>
        <p:nvSpPr>
          <p:cNvPr id="4" name="Content Placeholder 3"/>
          <p:cNvSpPr>
            <a:spLocks noGrp="1"/>
          </p:cNvSpPr>
          <p:nvPr>
            <p:ph sz="half" idx="2"/>
          </p:nvPr>
        </p:nvSpPr>
        <p:spPr>
          <a:xfrm>
            <a:off x="837711" y="2298811"/>
            <a:ext cx="5145027" cy="3657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56931" y="1463040"/>
            <a:ext cx="5170365" cy="739886"/>
          </a:xfr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en-US"/>
              <a:t>Click to edit Master text styles</a:t>
            </a:r>
          </a:p>
        </p:txBody>
      </p:sp>
      <p:sp>
        <p:nvSpPr>
          <p:cNvPr id="6" name="Content Placeholder 5"/>
          <p:cNvSpPr>
            <a:spLocks noGrp="1"/>
          </p:cNvSpPr>
          <p:nvPr>
            <p:ph sz="quarter" idx="4"/>
          </p:nvPr>
        </p:nvSpPr>
        <p:spPr>
          <a:xfrm>
            <a:off x="6156931" y="2298811"/>
            <a:ext cx="5170365"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949EBC64-41CB-41B8-B6DF-9B1367312BD4}" type="slidenum">
              <a:rPr lang="en-US" smtClean="0"/>
              <a:t>‹#›</a:t>
            </a:fld>
            <a:endParaRPr lang="en-US"/>
          </a:p>
        </p:txBody>
      </p:sp>
      <p:sp>
        <p:nvSpPr>
          <p:cNvPr id="8" name="Rectangle 7">
            <a:extLst>
              <a:ext uri="{FF2B5EF4-FFF2-40B4-BE49-F238E27FC236}">
                <a16:creationId xmlns:a16="http://schemas.microsoft.com/office/drawing/2014/main" id="{EFAA8BF7-1623-421E-89F4-FB9AD7DB08F8}"/>
              </a:ext>
            </a:extLst>
          </p:cNvPr>
          <p:cNvSpPr>
            <a:spLocks noChangeArrowheads="1"/>
          </p:cNvSpPr>
          <p:nvPr userDrawn="1"/>
        </p:nvSpPr>
        <p:spPr bwMode="auto">
          <a:xfrm>
            <a:off x="836127" y="6448509"/>
            <a:ext cx="9419476"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3791239334"/>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49EBC64-41CB-41B8-B6DF-9B1367312BD4}" type="slidenum">
              <a:rPr lang="en-US" smtClean="0"/>
              <a:t>‹#›</a:t>
            </a:fld>
            <a:endParaRPr lang="en-US" dirty="0"/>
          </a:p>
        </p:txBody>
      </p:sp>
      <p:sp>
        <p:nvSpPr>
          <p:cNvPr id="4" name="Rectangle 3">
            <a:extLst>
              <a:ext uri="{FF2B5EF4-FFF2-40B4-BE49-F238E27FC236}">
                <a16:creationId xmlns:a16="http://schemas.microsoft.com/office/drawing/2014/main" id="{8013E7A2-0B5F-4D11-9DD1-C547C2CBFE15}"/>
              </a:ext>
            </a:extLst>
          </p:cNvPr>
          <p:cNvSpPr>
            <a:spLocks noChangeArrowheads="1"/>
          </p:cNvSpPr>
          <p:nvPr userDrawn="1"/>
        </p:nvSpPr>
        <p:spPr bwMode="auto">
          <a:xfrm>
            <a:off x="838200" y="6448508"/>
            <a:ext cx="9442837" cy="335989"/>
          </a:xfrm>
          <a:prstGeom prst="rect">
            <a:avLst/>
          </a:prstGeom>
          <a:noFill/>
          <a:ln w="12700">
            <a:noFill/>
            <a:miter lim="800000"/>
            <a:headEnd/>
            <a:tailEnd/>
          </a:ln>
          <a:effectLst/>
        </p:spPr>
        <p:txBody>
          <a:bodyPr wrap="square" lIns="90488" tIns="44450" rIns="90488" bIns="4445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800">
                <a:solidFill>
                  <a:srgbClr val="000000"/>
                </a:solidFill>
                <a:effectLst/>
                <a:latin typeface="+mj-lt"/>
                <a:cs typeface="Arial" panose="020B0604020202020204" pitchFamily="34" charset="0"/>
              </a:rPr>
              <a:t>© 2020  Cengage.  </a:t>
            </a:r>
            <a:r>
              <a:rPr lang="en-US" sz="800"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800" baseline="0" dirty="0">
                <a:solidFill>
                  <a:srgbClr val="000000"/>
                </a:solidFill>
                <a:effectLst/>
                <a:latin typeface="+mj-lt"/>
                <a:cs typeface="Arial" panose="020B0604020202020204" pitchFamily="34" charset="0"/>
              </a:rPr>
              <a:t> </a:t>
            </a:r>
            <a:r>
              <a:rPr lang="en-US" sz="800"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800" baseline="0" dirty="0">
                <a:solidFill>
                  <a:srgbClr val="000000"/>
                </a:solidFill>
                <a:effectLst/>
                <a:latin typeface="+mj-lt"/>
                <a:cs typeface="Arial" panose="020B0604020202020204" pitchFamily="34" charset="0"/>
              </a:rPr>
              <a:t> school-approved learning management system f</a:t>
            </a:r>
            <a:r>
              <a:rPr lang="en-US" sz="800"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1283441308"/>
      </p:ext>
    </p:extLst>
  </p:cSld>
  <p:clrMapOvr>
    <a:masterClrMapping/>
  </p:clrMapOvr>
  <p:transition>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49EBC64-41CB-41B8-B6DF-9B1367312BD4}" type="slidenum">
              <a:rPr lang="en-US" smtClean="0"/>
              <a:t>‹#›</a:t>
            </a:fld>
            <a:endParaRPr lang="en-US" dirty="0"/>
          </a:p>
        </p:txBody>
      </p:sp>
      <p:sp>
        <p:nvSpPr>
          <p:cNvPr id="3" name="Rectangle 2">
            <a:extLst>
              <a:ext uri="{FF2B5EF4-FFF2-40B4-BE49-F238E27FC236}">
                <a16:creationId xmlns:a16="http://schemas.microsoft.com/office/drawing/2014/main" id="{A14F505B-5A32-4852-8A98-C1D4CE4C0535}"/>
              </a:ext>
            </a:extLst>
          </p:cNvPr>
          <p:cNvSpPr>
            <a:spLocks noChangeArrowheads="1"/>
          </p:cNvSpPr>
          <p:nvPr userDrawn="1"/>
        </p:nvSpPr>
        <p:spPr bwMode="auto">
          <a:xfrm>
            <a:off x="838200" y="6448508"/>
            <a:ext cx="9442837" cy="335989"/>
          </a:xfrm>
          <a:prstGeom prst="rect">
            <a:avLst/>
          </a:prstGeom>
          <a:noFill/>
          <a:ln w="12700">
            <a:noFill/>
            <a:miter lim="800000"/>
            <a:headEnd/>
            <a:tailEnd/>
          </a:ln>
          <a:effectLst/>
        </p:spPr>
        <p:txBody>
          <a:bodyPr wrap="square" lIns="90488" tIns="44450" rIns="90488" bIns="4445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800">
                <a:solidFill>
                  <a:srgbClr val="000000"/>
                </a:solidFill>
                <a:effectLst/>
                <a:latin typeface="+mj-lt"/>
                <a:cs typeface="Arial" panose="020B0604020202020204" pitchFamily="34" charset="0"/>
              </a:rPr>
              <a:t>© 2020  Cengage.  </a:t>
            </a:r>
            <a:r>
              <a:rPr lang="en-US" sz="800"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800" baseline="0" dirty="0">
                <a:solidFill>
                  <a:srgbClr val="000000"/>
                </a:solidFill>
                <a:effectLst/>
                <a:latin typeface="+mj-lt"/>
                <a:cs typeface="Arial" panose="020B0604020202020204" pitchFamily="34" charset="0"/>
              </a:rPr>
              <a:t> </a:t>
            </a:r>
            <a:r>
              <a:rPr lang="en-US" sz="800"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800" baseline="0" dirty="0">
                <a:solidFill>
                  <a:srgbClr val="000000"/>
                </a:solidFill>
                <a:effectLst/>
                <a:latin typeface="+mj-lt"/>
                <a:cs typeface="Arial" panose="020B0604020202020204" pitchFamily="34" charset="0"/>
              </a:rPr>
              <a:t> school-approved learning management system f</a:t>
            </a:r>
            <a:r>
              <a:rPr lang="en-US" sz="800"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431340970"/>
      </p:ext>
    </p:extLst>
  </p:cSld>
  <p:clrMapOvr>
    <a:masterClrMapping/>
  </p:clrMapOvr>
  <p:transition>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7711" y="640081"/>
            <a:ext cx="3922509" cy="1069975"/>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70365" y="640079"/>
            <a:ext cx="6156930" cy="530352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7711" y="1838227"/>
            <a:ext cx="3922509" cy="41053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dirty="0"/>
          </a:p>
        </p:txBody>
      </p:sp>
      <p:sp>
        <p:nvSpPr>
          <p:cNvPr id="6" name="Rectangle 5">
            <a:extLst>
              <a:ext uri="{FF2B5EF4-FFF2-40B4-BE49-F238E27FC236}">
                <a16:creationId xmlns:a16="http://schemas.microsoft.com/office/drawing/2014/main" id="{B66C4ABC-47F4-4FD0-AFB2-F6261FAFD366}"/>
              </a:ext>
            </a:extLst>
          </p:cNvPr>
          <p:cNvSpPr>
            <a:spLocks noChangeArrowheads="1"/>
          </p:cNvSpPr>
          <p:nvPr userDrawn="1"/>
        </p:nvSpPr>
        <p:spPr bwMode="auto">
          <a:xfrm>
            <a:off x="838200" y="6448508"/>
            <a:ext cx="9442837" cy="335989"/>
          </a:xfrm>
          <a:prstGeom prst="rect">
            <a:avLst/>
          </a:prstGeom>
          <a:noFill/>
          <a:ln w="12700">
            <a:noFill/>
            <a:miter lim="800000"/>
            <a:headEnd/>
            <a:tailEnd/>
          </a:ln>
          <a:effectLst/>
        </p:spPr>
        <p:txBody>
          <a:bodyPr wrap="square" lIns="90488" tIns="44450" rIns="90488" bIns="4445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800">
                <a:solidFill>
                  <a:srgbClr val="000000"/>
                </a:solidFill>
                <a:effectLst/>
                <a:latin typeface="+mj-lt"/>
                <a:cs typeface="Arial" panose="020B0604020202020204" pitchFamily="34" charset="0"/>
              </a:rPr>
              <a:t>© 2020  Cengage.  </a:t>
            </a:r>
            <a:r>
              <a:rPr lang="en-US" sz="800"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800" baseline="0" dirty="0">
                <a:solidFill>
                  <a:srgbClr val="000000"/>
                </a:solidFill>
                <a:effectLst/>
                <a:latin typeface="+mj-lt"/>
                <a:cs typeface="Arial" panose="020B0604020202020204" pitchFamily="34" charset="0"/>
              </a:rPr>
              <a:t> </a:t>
            </a:r>
            <a:r>
              <a:rPr lang="en-US" sz="800"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800" baseline="0" dirty="0">
                <a:solidFill>
                  <a:srgbClr val="000000"/>
                </a:solidFill>
                <a:effectLst/>
                <a:latin typeface="+mj-lt"/>
                <a:cs typeface="Arial" panose="020B0604020202020204" pitchFamily="34" charset="0"/>
              </a:rPr>
              <a:t> school-approved learning management system f</a:t>
            </a:r>
            <a:r>
              <a:rPr lang="en-US" sz="800"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4042857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7711" y="640081"/>
            <a:ext cx="3922509" cy="1069975"/>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70365" y="640080"/>
            <a:ext cx="6156930" cy="522890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7711" y="1838228"/>
            <a:ext cx="3922509" cy="403076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dirty="0"/>
          </a:p>
        </p:txBody>
      </p:sp>
      <p:sp>
        <p:nvSpPr>
          <p:cNvPr id="6" name="Rectangle 5">
            <a:extLst>
              <a:ext uri="{FF2B5EF4-FFF2-40B4-BE49-F238E27FC236}">
                <a16:creationId xmlns:a16="http://schemas.microsoft.com/office/drawing/2014/main" id="{4BCF54A3-7086-4654-9E18-C68E144F5484}"/>
              </a:ext>
            </a:extLst>
          </p:cNvPr>
          <p:cNvSpPr>
            <a:spLocks noChangeArrowheads="1"/>
          </p:cNvSpPr>
          <p:nvPr userDrawn="1"/>
        </p:nvSpPr>
        <p:spPr bwMode="auto">
          <a:xfrm>
            <a:off x="838200" y="6448508"/>
            <a:ext cx="9442837" cy="335989"/>
          </a:xfrm>
          <a:prstGeom prst="rect">
            <a:avLst/>
          </a:prstGeom>
          <a:noFill/>
          <a:ln w="12700">
            <a:noFill/>
            <a:miter lim="800000"/>
            <a:headEnd/>
            <a:tailEnd/>
          </a:ln>
          <a:effectLst/>
        </p:spPr>
        <p:txBody>
          <a:bodyPr wrap="square" lIns="90488" tIns="44450" rIns="90488" bIns="4445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800">
                <a:solidFill>
                  <a:srgbClr val="000000"/>
                </a:solidFill>
                <a:effectLst/>
                <a:latin typeface="+mj-lt"/>
                <a:cs typeface="Arial" panose="020B0604020202020204" pitchFamily="34" charset="0"/>
              </a:rPr>
              <a:t>© 2020  Cengage.  </a:t>
            </a:r>
            <a:r>
              <a:rPr lang="en-US" sz="800"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800" baseline="0" dirty="0">
                <a:solidFill>
                  <a:srgbClr val="000000"/>
                </a:solidFill>
                <a:effectLst/>
                <a:latin typeface="+mj-lt"/>
                <a:cs typeface="Arial" panose="020B0604020202020204" pitchFamily="34" charset="0"/>
              </a:rPr>
              <a:t> </a:t>
            </a:r>
            <a:r>
              <a:rPr lang="en-US" sz="800"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800" baseline="0" dirty="0">
                <a:solidFill>
                  <a:srgbClr val="000000"/>
                </a:solidFill>
                <a:effectLst/>
                <a:latin typeface="+mj-lt"/>
                <a:cs typeface="Arial" panose="020B0604020202020204" pitchFamily="34" charset="0"/>
              </a:rPr>
              <a:t> school-approved learning management system f</a:t>
            </a:r>
            <a:r>
              <a:rPr lang="en-US" sz="800"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199089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dirty="0"/>
          </a:p>
        </p:txBody>
      </p:sp>
      <p:sp>
        <p:nvSpPr>
          <p:cNvPr id="7" name="Title 1"/>
          <p:cNvSpPr>
            <a:spLocks noGrp="1"/>
          </p:cNvSpPr>
          <p:nvPr>
            <p:ph type="title"/>
          </p:nvPr>
        </p:nvSpPr>
        <p:spPr>
          <a:xfrm>
            <a:off x="836127" y="640081"/>
            <a:ext cx="10489585" cy="727075"/>
          </a:xfrm>
        </p:spPr>
        <p:txBody>
          <a:bodyPr/>
          <a:lstStyle/>
          <a:p>
            <a:r>
              <a:rPr lang="en-US"/>
              <a:t>Click to edit Master title style</a:t>
            </a:r>
          </a:p>
        </p:txBody>
      </p:sp>
    </p:spTree>
    <p:extLst>
      <p:ext uri="{BB962C8B-B14F-4D97-AF65-F5344CB8AC3E}">
        <p14:creationId xmlns:p14="http://schemas.microsoft.com/office/powerpoint/2010/main" val="2294395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03315" y="640079"/>
            <a:ext cx="2622396" cy="53035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6126" y="640079"/>
            <a:ext cx="7715166" cy="53035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dirty="0"/>
          </a:p>
        </p:txBody>
      </p:sp>
    </p:spTree>
    <p:extLst>
      <p:ext uri="{BB962C8B-B14F-4D97-AF65-F5344CB8AC3E}">
        <p14:creationId xmlns:p14="http://schemas.microsoft.com/office/powerpoint/2010/main" val="21629186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230" y="1122363"/>
            <a:ext cx="9121379" cy="2387600"/>
          </a:xfrm>
        </p:spPr>
        <p:txBody>
          <a:bodyPr anchor="b"/>
          <a:lstStyle>
            <a:lvl1pPr algn="ctr">
              <a:defRPr sz="5985"/>
            </a:lvl1pPr>
          </a:lstStyle>
          <a:p>
            <a:r>
              <a:rPr lang="en-US"/>
              <a:t>Click to edit Master title style</a:t>
            </a:r>
          </a:p>
        </p:txBody>
      </p:sp>
      <p:sp>
        <p:nvSpPr>
          <p:cNvPr id="3" name="Subtitle 2"/>
          <p:cNvSpPr>
            <a:spLocks noGrp="1"/>
          </p:cNvSpPr>
          <p:nvPr>
            <p:ph type="subTitle" idx="1"/>
          </p:nvPr>
        </p:nvSpPr>
        <p:spPr>
          <a:xfrm>
            <a:off x="1520230" y="3602038"/>
            <a:ext cx="9121379" cy="1655762"/>
          </a:xfrm>
        </p:spPr>
        <p:txBody>
          <a:bodyPr/>
          <a:lstStyle>
            <a:lvl1pPr marL="0" indent="0" algn="ctr">
              <a:buNone/>
              <a:defRPr sz="2394"/>
            </a:lvl1pPr>
            <a:lvl2pPr marL="456057" indent="0" algn="ctr">
              <a:buNone/>
              <a:defRPr sz="1995"/>
            </a:lvl2pPr>
            <a:lvl3pPr marL="912114" indent="0" algn="ctr">
              <a:buNone/>
              <a:defRPr sz="1795"/>
            </a:lvl3pPr>
            <a:lvl4pPr marL="1368171" indent="0" algn="ctr">
              <a:buNone/>
              <a:defRPr sz="1596"/>
            </a:lvl4pPr>
            <a:lvl5pPr marL="1824228" indent="0" algn="ctr">
              <a:buNone/>
              <a:defRPr sz="1596"/>
            </a:lvl5pPr>
            <a:lvl6pPr marL="2280285" indent="0" algn="ctr">
              <a:buNone/>
              <a:defRPr sz="1596"/>
            </a:lvl6pPr>
            <a:lvl7pPr marL="2736342" indent="0" algn="ctr">
              <a:buNone/>
              <a:defRPr sz="1596"/>
            </a:lvl7pPr>
            <a:lvl8pPr marL="3192399" indent="0" algn="ctr">
              <a:buNone/>
              <a:defRPr sz="1596"/>
            </a:lvl8pPr>
            <a:lvl9pPr marL="3648456" indent="0" algn="ctr">
              <a:buNone/>
              <a:defRPr sz="1596"/>
            </a:lvl9pPr>
          </a:lstStyle>
          <a:p>
            <a:r>
              <a:rPr lang="en-US"/>
              <a:t>Click to edit Master subtitle style</a:t>
            </a:r>
          </a:p>
        </p:txBody>
      </p:sp>
      <p:sp>
        <p:nvSpPr>
          <p:cNvPr id="6" name="Slide Number Placeholder 5"/>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spTree>
    <p:extLst>
      <p:ext uri="{BB962C8B-B14F-4D97-AF65-F5344CB8AC3E}">
        <p14:creationId xmlns:p14="http://schemas.microsoft.com/office/powerpoint/2010/main" val="34019158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394"/>
            </a:lvl1pPr>
            <a:lvl2pPr>
              <a:defRPr sz="2195"/>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spTree>
    <p:extLst>
      <p:ext uri="{BB962C8B-B14F-4D97-AF65-F5344CB8AC3E}">
        <p14:creationId xmlns:p14="http://schemas.microsoft.com/office/powerpoint/2010/main" val="35727948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792" y="1709739"/>
            <a:ext cx="10489585" cy="2852737"/>
          </a:xfrm>
        </p:spPr>
        <p:txBody>
          <a:bodyPr anchor="b"/>
          <a:lstStyle>
            <a:lvl1pPr>
              <a:defRPr sz="5985"/>
            </a:lvl1pPr>
          </a:lstStyle>
          <a:p>
            <a:r>
              <a:rPr lang="en-US"/>
              <a:t>Click to edit Master title style</a:t>
            </a:r>
          </a:p>
        </p:txBody>
      </p:sp>
      <p:sp>
        <p:nvSpPr>
          <p:cNvPr id="3" name="Text Placeholder 2"/>
          <p:cNvSpPr>
            <a:spLocks noGrp="1"/>
          </p:cNvSpPr>
          <p:nvPr>
            <p:ph type="body" idx="1"/>
          </p:nvPr>
        </p:nvSpPr>
        <p:spPr>
          <a:xfrm>
            <a:off x="829792" y="4589464"/>
            <a:ext cx="10489585" cy="1374015"/>
          </a:xfrm>
        </p:spPr>
        <p:txBody>
          <a:bodyPr/>
          <a:lstStyle>
            <a:lvl1pPr marL="0" indent="0">
              <a:buNone/>
              <a:defRPr sz="2394">
                <a:solidFill>
                  <a:schemeClr val="tx1">
                    <a:tint val="75000"/>
                  </a:schemeClr>
                </a:solidFill>
              </a:defRPr>
            </a:lvl1pPr>
            <a:lvl2pPr marL="456057" indent="0">
              <a:buNone/>
              <a:defRPr sz="1995">
                <a:solidFill>
                  <a:schemeClr val="tx1">
                    <a:tint val="75000"/>
                  </a:schemeClr>
                </a:solidFill>
              </a:defRPr>
            </a:lvl2pPr>
            <a:lvl3pPr marL="912114" indent="0">
              <a:buNone/>
              <a:defRPr sz="1795">
                <a:solidFill>
                  <a:schemeClr val="tx1">
                    <a:tint val="75000"/>
                  </a:schemeClr>
                </a:solidFill>
              </a:defRPr>
            </a:lvl3pPr>
            <a:lvl4pPr marL="1368171" indent="0">
              <a:buNone/>
              <a:defRPr sz="1596">
                <a:solidFill>
                  <a:schemeClr val="tx1">
                    <a:tint val="75000"/>
                  </a:schemeClr>
                </a:solidFill>
              </a:defRPr>
            </a:lvl4pPr>
            <a:lvl5pPr marL="1824228" indent="0">
              <a:buNone/>
              <a:defRPr sz="1596">
                <a:solidFill>
                  <a:schemeClr val="tx1">
                    <a:tint val="75000"/>
                  </a:schemeClr>
                </a:solidFill>
              </a:defRPr>
            </a:lvl5pPr>
            <a:lvl6pPr marL="2280285" indent="0">
              <a:buNone/>
              <a:defRPr sz="1596">
                <a:solidFill>
                  <a:schemeClr val="tx1">
                    <a:tint val="75000"/>
                  </a:schemeClr>
                </a:solidFill>
              </a:defRPr>
            </a:lvl6pPr>
            <a:lvl7pPr marL="2736342" indent="0">
              <a:buNone/>
              <a:defRPr sz="1596">
                <a:solidFill>
                  <a:schemeClr val="tx1">
                    <a:tint val="75000"/>
                  </a:schemeClr>
                </a:solidFill>
              </a:defRPr>
            </a:lvl7pPr>
            <a:lvl8pPr marL="3192399" indent="0">
              <a:buNone/>
              <a:defRPr sz="1596">
                <a:solidFill>
                  <a:schemeClr val="tx1">
                    <a:tint val="75000"/>
                  </a:schemeClr>
                </a:solidFill>
              </a:defRPr>
            </a:lvl8pPr>
            <a:lvl9pPr marL="3648456" indent="0">
              <a:buNone/>
              <a:defRPr sz="1596">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spTree>
    <p:extLst>
      <p:ext uri="{BB962C8B-B14F-4D97-AF65-F5344CB8AC3E}">
        <p14:creationId xmlns:p14="http://schemas.microsoft.com/office/powerpoint/2010/main" val="2128014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6126" y="1463040"/>
            <a:ext cx="5168781"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56931" y="1463040"/>
            <a:ext cx="5168781"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spTree>
    <p:extLst>
      <p:ext uri="{BB962C8B-B14F-4D97-AF65-F5344CB8AC3E}">
        <p14:creationId xmlns:p14="http://schemas.microsoft.com/office/powerpoint/2010/main" val="41359879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7711" y="1463040"/>
            <a:ext cx="5145027" cy="739885"/>
          </a:xfr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en-US"/>
              <a:t>Click to edit Master text styles</a:t>
            </a:r>
          </a:p>
        </p:txBody>
      </p:sp>
      <p:sp>
        <p:nvSpPr>
          <p:cNvPr id="4" name="Content Placeholder 3"/>
          <p:cNvSpPr>
            <a:spLocks noGrp="1"/>
          </p:cNvSpPr>
          <p:nvPr>
            <p:ph sz="half" idx="2"/>
          </p:nvPr>
        </p:nvSpPr>
        <p:spPr>
          <a:xfrm>
            <a:off x="837711" y="2298811"/>
            <a:ext cx="5145027" cy="3657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56931" y="1463040"/>
            <a:ext cx="5170365" cy="739886"/>
          </a:xfr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en-US"/>
              <a:t>Click to edit Master text styles</a:t>
            </a:r>
          </a:p>
        </p:txBody>
      </p:sp>
      <p:sp>
        <p:nvSpPr>
          <p:cNvPr id="6" name="Content Placeholder 5"/>
          <p:cNvSpPr>
            <a:spLocks noGrp="1"/>
          </p:cNvSpPr>
          <p:nvPr>
            <p:ph sz="quarter" idx="4"/>
          </p:nvPr>
        </p:nvSpPr>
        <p:spPr>
          <a:xfrm>
            <a:off x="6156931" y="2298811"/>
            <a:ext cx="5170365"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sp>
        <p:nvSpPr>
          <p:cNvPr id="10" name="Title 1"/>
          <p:cNvSpPr>
            <a:spLocks noGrp="1"/>
          </p:cNvSpPr>
          <p:nvPr>
            <p:ph type="title"/>
          </p:nvPr>
        </p:nvSpPr>
        <p:spPr>
          <a:xfrm>
            <a:off x="836127" y="640081"/>
            <a:ext cx="10489585" cy="727075"/>
          </a:xfrm>
        </p:spPr>
        <p:txBody>
          <a:bodyPr/>
          <a:lstStyle/>
          <a:p>
            <a:r>
              <a:rPr lang="en-US"/>
              <a:t>Click to edit Master title style</a:t>
            </a:r>
          </a:p>
        </p:txBody>
      </p:sp>
    </p:spTree>
    <p:extLst>
      <p:ext uri="{BB962C8B-B14F-4D97-AF65-F5344CB8AC3E}">
        <p14:creationId xmlns:p14="http://schemas.microsoft.com/office/powerpoint/2010/main" val="38097517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spTree>
    <p:extLst>
      <p:ext uri="{BB962C8B-B14F-4D97-AF65-F5344CB8AC3E}">
        <p14:creationId xmlns:p14="http://schemas.microsoft.com/office/powerpoint/2010/main" val="8272783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spTree>
    <p:extLst>
      <p:ext uri="{BB962C8B-B14F-4D97-AF65-F5344CB8AC3E}">
        <p14:creationId xmlns:p14="http://schemas.microsoft.com/office/powerpoint/2010/main" val="23573765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7711" y="640081"/>
            <a:ext cx="3922509" cy="1069975"/>
          </a:xfrm>
        </p:spPr>
        <p:txBody>
          <a:bodyPr anchor="b"/>
          <a:lstStyle>
            <a:lvl1pPr>
              <a:defRPr sz="3192"/>
            </a:lvl1pPr>
          </a:lstStyle>
          <a:p>
            <a:r>
              <a:rPr lang="en-US"/>
              <a:t>Click to edit Master title style</a:t>
            </a:r>
          </a:p>
        </p:txBody>
      </p:sp>
      <p:sp>
        <p:nvSpPr>
          <p:cNvPr id="3" name="Content Placeholder 2"/>
          <p:cNvSpPr>
            <a:spLocks noGrp="1"/>
          </p:cNvSpPr>
          <p:nvPr>
            <p:ph idx="1"/>
          </p:nvPr>
        </p:nvSpPr>
        <p:spPr>
          <a:xfrm>
            <a:off x="5170365" y="640079"/>
            <a:ext cx="6156930" cy="5303520"/>
          </a:xfrm>
        </p:spPr>
        <p:txBody>
          <a:bodyPr/>
          <a:lstStyle>
            <a:lvl1pPr>
              <a:defRPr sz="3192"/>
            </a:lvl1pPr>
            <a:lvl2pPr>
              <a:defRPr sz="2793"/>
            </a:lvl2pPr>
            <a:lvl3pPr>
              <a:defRPr sz="2394"/>
            </a:lvl3pPr>
            <a:lvl4pPr>
              <a:defRPr sz="1995"/>
            </a:lvl4pPr>
            <a:lvl5pPr>
              <a:defRPr sz="1995"/>
            </a:lvl5pPr>
            <a:lvl6pPr>
              <a:defRPr sz="1995"/>
            </a:lvl6pPr>
            <a:lvl7pPr>
              <a:defRPr sz="1995"/>
            </a:lvl7pPr>
            <a:lvl8pPr>
              <a:defRPr sz="1995"/>
            </a:lvl8pPr>
            <a:lvl9pPr>
              <a:defRPr sz="19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7711" y="1838227"/>
            <a:ext cx="3922509" cy="4105372"/>
          </a:xfrm>
        </p:spPr>
        <p:txBody>
          <a:bodyPr/>
          <a:lstStyle>
            <a:lvl1pPr marL="0" indent="0">
              <a:buNone/>
              <a:defRPr sz="1596"/>
            </a:lvl1pPr>
            <a:lvl2pPr marL="456057" indent="0">
              <a:buNone/>
              <a:defRPr sz="1397"/>
            </a:lvl2pPr>
            <a:lvl3pPr marL="912114" indent="0">
              <a:buNone/>
              <a:defRPr sz="1197"/>
            </a:lvl3pPr>
            <a:lvl4pPr marL="1368171" indent="0">
              <a:buNone/>
              <a:defRPr sz="998"/>
            </a:lvl4pPr>
            <a:lvl5pPr marL="1824228" indent="0">
              <a:buNone/>
              <a:defRPr sz="998"/>
            </a:lvl5pPr>
            <a:lvl6pPr marL="2280285" indent="0">
              <a:buNone/>
              <a:defRPr sz="998"/>
            </a:lvl6pPr>
            <a:lvl7pPr marL="2736342" indent="0">
              <a:buNone/>
              <a:defRPr sz="998"/>
            </a:lvl7pPr>
            <a:lvl8pPr marL="3192399" indent="0">
              <a:buNone/>
              <a:defRPr sz="998"/>
            </a:lvl8pPr>
            <a:lvl9pPr marL="3648456" indent="0">
              <a:buNone/>
              <a:defRPr sz="998"/>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spTree>
    <p:extLst>
      <p:ext uri="{BB962C8B-B14F-4D97-AF65-F5344CB8AC3E}">
        <p14:creationId xmlns:p14="http://schemas.microsoft.com/office/powerpoint/2010/main" val="33113404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7711" y="640081"/>
            <a:ext cx="3922509" cy="1069975"/>
          </a:xfrm>
        </p:spPr>
        <p:txBody>
          <a:bodyPr anchor="b"/>
          <a:lstStyle>
            <a:lvl1pPr>
              <a:defRPr sz="3192"/>
            </a:lvl1pPr>
          </a:lstStyle>
          <a:p>
            <a:r>
              <a:rPr lang="en-US"/>
              <a:t>Click to edit Master title style</a:t>
            </a:r>
          </a:p>
        </p:txBody>
      </p:sp>
      <p:sp>
        <p:nvSpPr>
          <p:cNvPr id="3" name="Picture Placeholder 2"/>
          <p:cNvSpPr>
            <a:spLocks noGrp="1"/>
          </p:cNvSpPr>
          <p:nvPr>
            <p:ph type="pic" idx="1"/>
          </p:nvPr>
        </p:nvSpPr>
        <p:spPr>
          <a:xfrm>
            <a:off x="5170365" y="640080"/>
            <a:ext cx="6156930" cy="5228908"/>
          </a:xfrm>
        </p:spPr>
        <p:txBody>
          <a:bodyPr/>
          <a:lstStyle>
            <a:lvl1pPr marL="0" indent="0">
              <a:buNone/>
              <a:defRPr sz="3192"/>
            </a:lvl1pPr>
            <a:lvl2pPr marL="456057" indent="0">
              <a:buNone/>
              <a:defRPr sz="2793"/>
            </a:lvl2pPr>
            <a:lvl3pPr marL="912114" indent="0">
              <a:buNone/>
              <a:defRPr sz="2394"/>
            </a:lvl3pPr>
            <a:lvl4pPr marL="1368171" indent="0">
              <a:buNone/>
              <a:defRPr sz="1995"/>
            </a:lvl4pPr>
            <a:lvl5pPr marL="1824228" indent="0">
              <a:buNone/>
              <a:defRPr sz="1995"/>
            </a:lvl5pPr>
            <a:lvl6pPr marL="2280285" indent="0">
              <a:buNone/>
              <a:defRPr sz="1995"/>
            </a:lvl6pPr>
            <a:lvl7pPr marL="2736342" indent="0">
              <a:buNone/>
              <a:defRPr sz="1995"/>
            </a:lvl7pPr>
            <a:lvl8pPr marL="3192399" indent="0">
              <a:buNone/>
              <a:defRPr sz="1995"/>
            </a:lvl8pPr>
            <a:lvl9pPr marL="3648456" indent="0">
              <a:buNone/>
              <a:defRPr sz="1995"/>
            </a:lvl9pPr>
          </a:lstStyle>
          <a:p>
            <a:endParaRPr lang="en-US"/>
          </a:p>
        </p:txBody>
      </p:sp>
      <p:sp>
        <p:nvSpPr>
          <p:cNvPr id="4" name="Text Placeholder 3"/>
          <p:cNvSpPr>
            <a:spLocks noGrp="1"/>
          </p:cNvSpPr>
          <p:nvPr>
            <p:ph type="body" sz="half" idx="2"/>
          </p:nvPr>
        </p:nvSpPr>
        <p:spPr>
          <a:xfrm>
            <a:off x="837711" y="1838228"/>
            <a:ext cx="3922509" cy="4030761"/>
          </a:xfrm>
        </p:spPr>
        <p:txBody>
          <a:bodyPr/>
          <a:lstStyle>
            <a:lvl1pPr marL="0" indent="0">
              <a:buNone/>
              <a:defRPr sz="1596"/>
            </a:lvl1pPr>
            <a:lvl2pPr marL="456057" indent="0">
              <a:buNone/>
              <a:defRPr sz="1397"/>
            </a:lvl2pPr>
            <a:lvl3pPr marL="912114" indent="0">
              <a:buNone/>
              <a:defRPr sz="1197"/>
            </a:lvl3pPr>
            <a:lvl4pPr marL="1368171" indent="0">
              <a:buNone/>
              <a:defRPr sz="998"/>
            </a:lvl4pPr>
            <a:lvl5pPr marL="1824228" indent="0">
              <a:buNone/>
              <a:defRPr sz="998"/>
            </a:lvl5pPr>
            <a:lvl6pPr marL="2280285" indent="0">
              <a:buNone/>
              <a:defRPr sz="998"/>
            </a:lvl6pPr>
            <a:lvl7pPr marL="2736342" indent="0">
              <a:buNone/>
              <a:defRPr sz="998"/>
            </a:lvl7pPr>
            <a:lvl8pPr marL="3192399" indent="0">
              <a:buNone/>
              <a:defRPr sz="998"/>
            </a:lvl8pPr>
            <a:lvl9pPr marL="3648456" indent="0">
              <a:buNone/>
              <a:defRPr sz="998"/>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sp>
        <p:nvSpPr>
          <p:cNvPr id="6" name="Rectangle 5">
            <a:extLst>
              <a:ext uri="{FF2B5EF4-FFF2-40B4-BE49-F238E27FC236}">
                <a16:creationId xmlns:a16="http://schemas.microsoft.com/office/drawing/2014/main" id="{D70F60D4-D06E-4092-89C6-4318EAA33A83}"/>
              </a:ext>
            </a:extLst>
          </p:cNvPr>
          <p:cNvSpPr>
            <a:spLocks noChangeArrowheads="1"/>
          </p:cNvSpPr>
          <p:nvPr userDrawn="1"/>
        </p:nvSpPr>
        <p:spPr bwMode="auto">
          <a:xfrm>
            <a:off x="838200" y="6448508"/>
            <a:ext cx="9442837" cy="335989"/>
          </a:xfrm>
          <a:prstGeom prst="rect">
            <a:avLst/>
          </a:prstGeom>
          <a:noFill/>
          <a:ln w="12700">
            <a:noFill/>
            <a:miter lim="800000"/>
            <a:headEnd/>
            <a:tailEnd/>
          </a:ln>
          <a:effectLst/>
        </p:spPr>
        <p:txBody>
          <a:bodyPr wrap="square" lIns="90488" tIns="44450" rIns="90488" bIns="4445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800">
                <a:solidFill>
                  <a:srgbClr val="000000"/>
                </a:solidFill>
                <a:effectLst/>
                <a:latin typeface="+mj-lt"/>
                <a:cs typeface="Arial" panose="020B0604020202020204" pitchFamily="34" charset="0"/>
              </a:rPr>
              <a:t>© 2020  Cengage.  </a:t>
            </a:r>
            <a:r>
              <a:rPr lang="en-US" sz="800"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800" baseline="0" dirty="0">
                <a:solidFill>
                  <a:srgbClr val="000000"/>
                </a:solidFill>
                <a:effectLst/>
                <a:latin typeface="+mj-lt"/>
                <a:cs typeface="Arial" panose="020B0604020202020204" pitchFamily="34" charset="0"/>
              </a:rPr>
              <a:t> </a:t>
            </a:r>
            <a:r>
              <a:rPr lang="en-US" sz="800"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800" baseline="0" dirty="0">
                <a:solidFill>
                  <a:srgbClr val="000000"/>
                </a:solidFill>
                <a:effectLst/>
                <a:latin typeface="+mj-lt"/>
                <a:cs typeface="Arial" panose="020B0604020202020204" pitchFamily="34" charset="0"/>
              </a:rPr>
              <a:t> school-approved learning management system f</a:t>
            </a:r>
            <a:r>
              <a:rPr lang="en-US" sz="800"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5681686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sp>
        <p:nvSpPr>
          <p:cNvPr id="7" name="Title 1"/>
          <p:cNvSpPr>
            <a:spLocks noGrp="1"/>
          </p:cNvSpPr>
          <p:nvPr>
            <p:ph type="title"/>
          </p:nvPr>
        </p:nvSpPr>
        <p:spPr>
          <a:xfrm>
            <a:off x="836127" y="640081"/>
            <a:ext cx="10489585" cy="727075"/>
          </a:xfrm>
        </p:spPr>
        <p:txBody>
          <a:bodyPr/>
          <a:lstStyle/>
          <a:p>
            <a:r>
              <a:rPr lang="en-US"/>
              <a:t>Click to edit Master title style</a:t>
            </a:r>
          </a:p>
        </p:txBody>
      </p:sp>
    </p:spTree>
    <p:extLst>
      <p:ext uri="{BB962C8B-B14F-4D97-AF65-F5344CB8AC3E}">
        <p14:creationId xmlns:p14="http://schemas.microsoft.com/office/powerpoint/2010/main" val="39779068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03315" y="640079"/>
            <a:ext cx="2622396" cy="53035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6126" y="640079"/>
            <a:ext cx="7715166" cy="53035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spTree>
    <p:extLst>
      <p:ext uri="{BB962C8B-B14F-4D97-AF65-F5344CB8AC3E}">
        <p14:creationId xmlns:p14="http://schemas.microsoft.com/office/powerpoint/2010/main" val="10057740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0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6127" y="2534653"/>
            <a:ext cx="5372812" cy="1186447"/>
          </a:xfrm>
        </p:spPr>
        <p:txBody>
          <a:bodyPr anchor="t">
            <a:normAutofit/>
          </a:bodyPr>
          <a:lstStyle>
            <a:lvl1pPr algn="l">
              <a:defRPr sz="3192"/>
            </a:lvl1pPr>
          </a:lstStyle>
          <a:p>
            <a:r>
              <a:rPr lang="en-US"/>
              <a:t>Click to edit Master title style</a:t>
            </a:r>
          </a:p>
        </p:txBody>
      </p:sp>
      <p:sp>
        <p:nvSpPr>
          <p:cNvPr id="3" name="Subtitle 2"/>
          <p:cNvSpPr>
            <a:spLocks noGrp="1"/>
          </p:cNvSpPr>
          <p:nvPr>
            <p:ph type="subTitle" idx="1"/>
          </p:nvPr>
        </p:nvSpPr>
        <p:spPr>
          <a:xfrm>
            <a:off x="836127" y="3962400"/>
            <a:ext cx="5372812" cy="737937"/>
          </a:xfrm>
        </p:spPr>
        <p:txBody>
          <a:bodyPr>
            <a:normAutofit/>
          </a:bodyPr>
          <a:lstStyle>
            <a:lvl1pPr marL="0" indent="0" algn="l">
              <a:buNone/>
              <a:defRPr sz="1596"/>
            </a:lvl1pPr>
            <a:lvl2pPr marL="456057" indent="0" algn="ctr">
              <a:buNone/>
              <a:defRPr sz="1995"/>
            </a:lvl2pPr>
            <a:lvl3pPr marL="912114" indent="0" algn="ctr">
              <a:buNone/>
              <a:defRPr sz="1795"/>
            </a:lvl3pPr>
            <a:lvl4pPr marL="1368171" indent="0" algn="ctr">
              <a:buNone/>
              <a:defRPr sz="1596"/>
            </a:lvl4pPr>
            <a:lvl5pPr marL="1824228" indent="0" algn="ctr">
              <a:buNone/>
              <a:defRPr sz="1596"/>
            </a:lvl5pPr>
            <a:lvl6pPr marL="2280285" indent="0" algn="ctr">
              <a:buNone/>
              <a:defRPr sz="1596"/>
            </a:lvl6pPr>
            <a:lvl7pPr marL="2736342" indent="0" algn="ctr">
              <a:buNone/>
              <a:defRPr sz="1596"/>
            </a:lvl7pPr>
            <a:lvl8pPr marL="3192399" indent="0" algn="ctr">
              <a:buNone/>
              <a:defRPr sz="1596"/>
            </a:lvl8pPr>
            <a:lvl9pPr marL="3648456" indent="0" algn="ctr">
              <a:buNone/>
              <a:defRPr sz="1596"/>
            </a:lvl9pPr>
          </a:lstStyle>
          <a:p>
            <a:r>
              <a:rPr lang="en-US"/>
              <a:t>Click to edit Master subtitle style</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5" name="Text Placeholder 4">
            <a:extLst>
              <a:ext uri="{FF2B5EF4-FFF2-40B4-BE49-F238E27FC236}">
                <a16:creationId xmlns:a16="http://schemas.microsoft.com/office/drawing/2014/main" id="{5F39262F-EE24-423F-9BD8-0C9EC6062257}"/>
              </a:ext>
            </a:extLst>
          </p:cNvPr>
          <p:cNvSpPr>
            <a:spLocks noGrp="1"/>
          </p:cNvSpPr>
          <p:nvPr>
            <p:ph type="body" sz="quarter" idx="13"/>
          </p:nvPr>
        </p:nvSpPr>
        <p:spPr>
          <a:xfrm>
            <a:off x="836127" y="6448426"/>
            <a:ext cx="9485434" cy="409575"/>
          </a:xfrm>
        </p:spPr>
        <p:txBody>
          <a:bodyPr>
            <a:normAutofit/>
          </a:bodyPr>
          <a:lstStyle>
            <a:lvl1pPr marL="0" indent="0">
              <a:buNone/>
              <a:defRPr sz="798">
                <a:latin typeface="+mj-lt"/>
              </a:defRPr>
            </a:lvl1pPr>
          </a:lstStyle>
          <a:p>
            <a:pPr lvl="0"/>
            <a:r>
              <a:rPr lang="en-US"/>
              <a:t>Edit Master text styles</a:t>
            </a:r>
          </a:p>
        </p:txBody>
      </p:sp>
      <p:pic>
        <p:nvPicPr>
          <p:cNvPr id="7" name="Picture 6" descr="The cover of Statistics for Business and Economics features a busy highway headed into a big city filled with skyscrapers. It is dusk; lights and reflections are scattered across the image.">
            <a:extLst>
              <a:ext uri="{FF2B5EF4-FFF2-40B4-BE49-F238E27FC236}">
                <a16:creationId xmlns:a16="http://schemas.microsoft.com/office/drawing/2014/main" id="{6E8A0320-B4C5-4F1D-9324-E74C6C306A1F}"/>
              </a:ext>
            </a:extLst>
          </p:cNvPr>
          <p:cNvPicPr>
            <a:picLocks noChangeAspect="1"/>
          </p:cNvPicPr>
          <p:nvPr userDrawn="1"/>
        </p:nvPicPr>
        <p:blipFill>
          <a:blip r:embed="rId2"/>
          <a:stretch>
            <a:fillRect/>
          </a:stretch>
        </p:blipFill>
        <p:spPr>
          <a:xfrm>
            <a:off x="7129174" y="659095"/>
            <a:ext cx="4301053" cy="5376436"/>
          </a:xfrm>
          <a:prstGeom prst="rect">
            <a:avLst/>
          </a:prstGeom>
        </p:spPr>
      </p:pic>
    </p:spTree>
    <p:extLst>
      <p:ext uri="{BB962C8B-B14F-4D97-AF65-F5344CB8AC3E}">
        <p14:creationId xmlns:p14="http://schemas.microsoft.com/office/powerpoint/2010/main" val="581294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Rectangle 12"/>
          <p:cNvSpPr/>
          <p:nvPr userDrawn="1"/>
        </p:nvSpPr>
        <p:spPr>
          <a:xfrm>
            <a:off x="1" y="1"/>
            <a:ext cx="12191996" cy="464388"/>
          </a:xfrm>
          <a:prstGeom prst="rect">
            <a:avLst/>
          </a:prstGeom>
          <a:solidFill>
            <a:srgbClr val="BF2317">
              <a:alpha val="7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836127" y="640081"/>
            <a:ext cx="10489585" cy="72707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6127" y="1463040"/>
            <a:ext cx="10489585"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0699774" y="6448509"/>
            <a:ext cx="625938" cy="272967"/>
          </a:xfrm>
          <a:prstGeom prst="rect">
            <a:avLst/>
          </a:prstGeom>
        </p:spPr>
        <p:txBody>
          <a:bodyPr vert="horz" lIns="91440" tIns="45720" rIns="91440" bIns="45720" rtlCol="0" anchor="ctr"/>
          <a:lstStyle>
            <a:lvl1pPr algn="r">
              <a:defRPr sz="1200">
                <a:solidFill>
                  <a:schemeClr val="tx1">
                    <a:tint val="75000"/>
                  </a:schemeClr>
                </a:solidFill>
                <a:effectLst/>
                <a:latin typeface="+mn-lt"/>
              </a:defRPr>
            </a:lvl1pPr>
          </a:lstStyle>
          <a:p>
            <a:fld id="{949EBC64-41CB-41B8-B6DF-9B1367312BD4}" type="slidenum">
              <a:rPr lang="en-US" smtClean="0"/>
              <a:pPr/>
              <a:t>‹#›</a:t>
            </a:fld>
            <a:endParaRPr lang="en-US" dirty="0"/>
          </a:p>
        </p:txBody>
      </p:sp>
      <p:pic>
        <p:nvPicPr>
          <p:cNvPr id="7" name="Picture 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 y="464389"/>
            <a:ext cx="12196108" cy="111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 y="6248402"/>
            <a:ext cx="12196106" cy="111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ctangle 11"/>
          <p:cNvSpPr/>
          <p:nvPr/>
        </p:nvSpPr>
        <p:spPr>
          <a:xfrm>
            <a:off x="5782962" y="48578"/>
            <a:ext cx="5542749" cy="369332"/>
          </a:xfrm>
          <a:prstGeom prst="rect">
            <a:avLst/>
          </a:prstGeom>
        </p:spPr>
        <p:txBody>
          <a:bodyPr wrap="square">
            <a:spAutoFit/>
          </a:bodyPr>
          <a:lstStyle/>
          <a:p>
            <a:pPr algn="r"/>
            <a:r>
              <a:rPr lang="en-US" sz="1800" dirty="0">
                <a:solidFill>
                  <a:schemeClr val="bg1"/>
                </a:solidFill>
                <a:effectLst/>
                <a:latin typeface="+mn-lt"/>
              </a:rPr>
              <a:t>Statistics for Business and Economics </a:t>
            </a:r>
            <a:r>
              <a:rPr lang="en-US" sz="1800">
                <a:solidFill>
                  <a:schemeClr val="bg1"/>
                </a:solidFill>
                <a:effectLst/>
                <a:latin typeface="+mn-lt"/>
              </a:rPr>
              <a:t>(14e</a:t>
            </a:r>
            <a:r>
              <a:rPr lang="en-US" sz="1800" dirty="0">
                <a:solidFill>
                  <a:schemeClr val="bg1"/>
                </a:solidFill>
                <a:effectLst/>
                <a:latin typeface="+mn-lt"/>
              </a:rPr>
              <a:t>)</a:t>
            </a:r>
          </a:p>
        </p:txBody>
      </p:sp>
      <p:sp>
        <p:nvSpPr>
          <p:cNvPr id="14" name="Rectangle 13"/>
          <p:cNvSpPr/>
          <p:nvPr userDrawn="1"/>
        </p:nvSpPr>
        <p:spPr>
          <a:xfrm flipV="1">
            <a:off x="0" y="6175652"/>
            <a:ext cx="12191997" cy="79652"/>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51352072"/>
      </p:ext>
    </p:extLst>
  </p:cSld>
  <p:clrMap bg1="lt1" tx1="dk1" bg2="lt2" tx2="dk2" accent1="accent1" accent2="accent2" accent3="accent3" accent4="accent4" accent5="accent5" accent6="accent6" hlink="hlink" folHlink="folHlink"/>
  <p:sldLayoutIdLst>
    <p:sldLayoutId id="2147483742" r:id="rId1"/>
    <p:sldLayoutId id="2147483708" r:id="rId2"/>
    <p:sldLayoutId id="2147483710" r:id="rId3"/>
    <p:sldLayoutId id="2147483743" r:id="rId4"/>
    <p:sldLayoutId id="2147483711" r:id="rId5"/>
    <p:sldLayoutId id="2147483744" r:id="rId6"/>
    <p:sldLayoutId id="2147483745" r:id="rId7"/>
    <p:sldLayoutId id="2147483749" r:id="rId8"/>
    <p:sldLayoutId id="2147483746" r:id="rId9"/>
    <p:sldLayoutId id="2147483750" r:id="rId10"/>
    <p:sldLayoutId id="2147483751" r:id="rId11"/>
    <p:sldLayoutId id="2147483747" r:id="rId12"/>
    <p:sldLayoutId id="2147483748" r:id="rId13"/>
    <p:sldLayoutId id="2147483712" r:id="rId14"/>
    <p:sldLayoutId id="2147483713" r:id="rId15"/>
    <p:sldLayoutId id="2147483714" r:id="rId16"/>
    <p:sldLayoutId id="2147483715" r:id="rId17"/>
    <p:sldLayoutId id="2147483716" r:id="rId18"/>
    <p:sldLayoutId id="2147483717" r:id="rId19"/>
  </p:sldLayoutIdLst>
  <p:transition>
    <p:zoom/>
  </p:transition>
  <p:hf hdr="0" ftr="0" dt="0"/>
  <p:txStyles>
    <p:titleStyle>
      <a:lvl1pPr algn="l" defTabSz="914400" rtl="0" eaLnBrk="1" latinLnBrk="0" hangingPunct="1">
        <a:lnSpc>
          <a:spcPct val="90000"/>
        </a:lnSpc>
        <a:spcBef>
          <a:spcPct val="0"/>
        </a:spcBef>
        <a:buNone/>
        <a:defRPr sz="32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1" y="1"/>
            <a:ext cx="12161834" cy="464388"/>
          </a:xfrm>
          <a:prstGeom prst="rect">
            <a:avLst/>
          </a:prstGeom>
          <a:solidFill>
            <a:srgbClr val="BF2317">
              <a:alpha val="7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lang="en-US" sz="1795"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36127" y="640081"/>
            <a:ext cx="10489585" cy="7270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6127" y="1463040"/>
            <a:ext cx="10489585"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0699774" y="6448509"/>
            <a:ext cx="625938" cy="272967"/>
          </a:xfrm>
          <a:prstGeom prst="rect">
            <a:avLst/>
          </a:prstGeom>
        </p:spPr>
        <p:txBody>
          <a:bodyPr vert="horz" lIns="91440" tIns="45720" rIns="91440" bIns="45720" rtlCol="0" anchor="ctr"/>
          <a:lstStyle>
            <a:lvl1pPr algn="r">
              <a:defRPr sz="1197">
                <a:solidFill>
                  <a:schemeClr val="tx1">
                    <a:tint val="75000"/>
                  </a:schemeClr>
                </a:solidFill>
              </a:defRPr>
            </a:lvl1pPr>
          </a:lstStyle>
          <a:p>
            <a:pPr defTabSz="912114" eaLnBrk="1" fontAlgn="auto" hangingPunct="1">
              <a:spcBef>
                <a:spcPts val="0"/>
              </a:spcBef>
              <a:spcAft>
                <a:spcPts val="0"/>
              </a:spcAft>
            </a:pPr>
            <a:fld id="{949EBC64-41CB-41B8-B6DF-9B1367312BD4}" type="slidenum">
              <a:rPr lang="en-US" smtClean="0">
                <a:solidFill>
                  <a:prstClr val="black">
                    <a:tint val="75000"/>
                  </a:prstClr>
                </a:solidFill>
                <a:effectLst/>
                <a:latin typeface="Calibri" panose="020F0502020204030204"/>
              </a:rPr>
              <a:pPr defTabSz="912114" eaLnBrk="1" fontAlgn="auto" hangingPunct="1">
                <a:spcBef>
                  <a:spcPts val="0"/>
                </a:spcBef>
                <a:spcAft>
                  <a:spcPts val="0"/>
                </a:spcAft>
              </a:pPr>
              <a:t>‹#›</a:t>
            </a:fld>
            <a:endParaRPr lang="en-US">
              <a:solidFill>
                <a:prstClr val="black">
                  <a:tint val="75000"/>
                </a:prstClr>
              </a:solidFill>
              <a:effectLst/>
              <a:latin typeface="Calibri" panose="020F0502020204030204"/>
            </a:endParaRPr>
          </a:p>
        </p:txBody>
      </p:sp>
      <p:pic>
        <p:nvPicPr>
          <p:cNvPr id="7" name="Picture 3"/>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 y="464389"/>
            <a:ext cx="12196108" cy="111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3" y="6248402"/>
            <a:ext cx="12196106" cy="111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ctangle 11"/>
          <p:cNvSpPr/>
          <p:nvPr userDrawn="1"/>
        </p:nvSpPr>
        <p:spPr>
          <a:xfrm>
            <a:off x="6984436" y="48578"/>
            <a:ext cx="4341275" cy="369332"/>
          </a:xfrm>
          <a:prstGeom prst="rect">
            <a:avLst/>
          </a:prstGeom>
        </p:spPr>
        <p:txBody>
          <a:bodyPr wrap="square">
            <a:spAutoFit/>
          </a:bodyPr>
          <a:lstStyle/>
          <a:p>
            <a:pPr marL="0" marR="0" lvl="0" indent="0" algn="r" defTabSz="912114" rtl="0" eaLnBrk="1" fontAlgn="auto" latinLnBrk="0" hangingPunct="1">
              <a:lnSpc>
                <a:spcPct val="100000"/>
              </a:lnSpc>
              <a:spcBef>
                <a:spcPts val="0"/>
              </a:spcBef>
              <a:spcAft>
                <a:spcPts val="0"/>
              </a:spcAft>
              <a:buClrTx/>
              <a:buSzTx/>
              <a:buFontTx/>
              <a:buNone/>
              <a:tabLst/>
              <a:defRPr/>
            </a:pPr>
            <a:r>
              <a:rPr kumimoji="0" lang="en-US" sz="1795" b="0" i="0" u="none" strike="noStrike" kern="1200" cap="none" spc="0" normalizeH="0" baseline="0" noProof="0" dirty="0">
                <a:ln>
                  <a:noFill/>
                </a:ln>
                <a:solidFill>
                  <a:prstClr val="white"/>
                </a:solidFill>
                <a:effectLst/>
                <a:uLnTx/>
                <a:uFillTx/>
                <a:latin typeface="Calibri" panose="020F0502020204030204"/>
                <a:ea typeface="+mn-ea"/>
                <a:cs typeface="+mn-cs"/>
              </a:rPr>
              <a:t>Statistics for Business and Economics </a:t>
            </a:r>
            <a:r>
              <a:rPr kumimoji="0" lang="en-US" sz="1795" b="0" i="0" u="none" strike="noStrike" kern="1200" cap="none" spc="0" normalizeH="0" baseline="0" noProof="0">
                <a:ln>
                  <a:noFill/>
                </a:ln>
                <a:solidFill>
                  <a:prstClr val="white"/>
                </a:solidFill>
                <a:effectLst/>
                <a:uLnTx/>
                <a:uFillTx/>
                <a:latin typeface="Calibri" panose="020F0502020204030204"/>
                <a:ea typeface="+mn-ea"/>
                <a:cs typeface="+mn-cs"/>
              </a:rPr>
              <a:t>(14e</a:t>
            </a:r>
            <a:r>
              <a:rPr kumimoji="0" lang="en-US" sz="1795"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sp>
        <p:nvSpPr>
          <p:cNvPr id="13" name="Rectangle 12"/>
          <p:cNvSpPr/>
          <p:nvPr userDrawn="1"/>
        </p:nvSpPr>
        <p:spPr>
          <a:xfrm flipV="1">
            <a:off x="1" y="6175652"/>
            <a:ext cx="12161835" cy="79652"/>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114" rtl="0" eaLnBrk="1" fontAlgn="auto" latinLnBrk="0" hangingPunct="1">
              <a:lnSpc>
                <a:spcPct val="100000"/>
              </a:lnSpc>
              <a:spcBef>
                <a:spcPts val="0"/>
              </a:spcBef>
              <a:spcAft>
                <a:spcPts val="0"/>
              </a:spcAft>
              <a:buClrTx/>
              <a:buSzTx/>
              <a:buFontTx/>
              <a:buNone/>
              <a:tabLst/>
              <a:defRPr/>
            </a:pPr>
            <a:endParaRPr kumimoji="0" lang="en-US" sz="1795"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1309832"/>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52" r:id="rId12"/>
  </p:sldLayoutIdLst>
  <p:hf hdr="0" ftr="0" dt="0"/>
  <p:txStyles>
    <p:titleStyle>
      <a:lvl1pPr algn="l" defTabSz="912114" rtl="0" eaLnBrk="1" latinLnBrk="0" hangingPunct="1">
        <a:lnSpc>
          <a:spcPct val="90000"/>
        </a:lnSpc>
        <a:spcBef>
          <a:spcPct val="0"/>
        </a:spcBef>
        <a:buNone/>
        <a:defRPr sz="3192" kern="1200">
          <a:solidFill>
            <a:schemeClr val="tx1"/>
          </a:solidFill>
          <a:latin typeface="+mn-lt"/>
          <a:ea typeface="+mj-ea"/>
          <a:cs typeface="+mj-cs"/>
        </a:defRPr>
      </a:lvl1pPr>
    </p:titleStyle>
    <p:bodyStyle>
      <a:lvl1pPr marL="228029" indent="-228029" algn="l" defTabSz="912114" rtl="0" eaLnBrk="1" latinLnBrk="0" hangingPunct="1">
        <a:lnSpc>
          <a:spcPct val="90000"/>
        </a:lnSpc>
        <a:spcBef>
          <a:spcPts val="998"/>
        </a:spcBef>
        <a:buFont typeface="Arial" panose="020B0604020202020204" pitchFamily="34" charset="0"/>
        <a:buChar char="•"/>
        <a:defRPr sz="2793" kern="1200">
          <a:solidFill>
            <a:schemeClr val="tx1"/>
          </a:solidFill>
          <a:latin typeface="+mn-lt"/>
          <a:ea typeface="+mn-ea"/>
          <a:cs typeface="+mn-cs"/>
        </a:defRPr>
      </a:lvl1pPr>
      <a:lvl2pPr marL="684086" indent="-228029" algn="l" defTabSz="912114" rtl="0" eaLnBrk="1" latinLnBrk="0" hangingPunct="1">
        <a:lnSpc>
          <a:spcPct val="90000"/>
        </a:lnSpc>
        <a:spcBef>
          <a:spcPts val="499"/>
        </a:spcBef>
        <a:buFont typeface="Arial" panose="020B0604020202020204" pitchFamily="34" charset="0"/>
        <a:buChar char="•"/>
        <a:defRPr sz="2394" kern="1200">
          <a:solidFill>
            <a:schemeClr val="tx1"/>
          </a:solidFill>
          <a:latin typeface="+mn-lt"/>
          <a:ea typeface="+mn-ea"/>
          <a:cs typeface="+mn-cs"/>
        </a:defRPr>
      </a:lvl2pPr>
      <a:lvl3pPr marL="1140143" indent="-228029" algn="l" defTabSz="912114" rtl="0" eaLnBrk="1" latinLnBrk="0" hangingPunct="1">
        <a:lnSpc>
          <a:spcPct val="90000"/>
        </a:lnSpc>
        <a:spcBef>
          <a:spcPts val="499"/>
        </a:spcBef>
        <a:buFont typeface="Arial" panose="020B0604020202020204" pitchFamily="34" charset="0"/>
        <a:buChar char="•"/>
        <a:defRPr sz="2195" kern="1200">
          <a:solidFill>
            <a:schemeClr val="tx1"/>
          </a:solidFill>
          <a:latin typeface="+mn-lt"/>
          <a:ea typeface="+mn-ea"/>
          <a:cs typeface="+mn-cs"/>
        </a:defRPr>
      </a:lvl3pPr>
      <a:lvl4pPr marL="1596200"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4pPr>
      <a:lvl5pPr marL="2052257"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5pPr>
      <a:lvl6pPr marL="2508314"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6pPr>
      <a:lvl7pPr marL="2964371"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7pPr>
      <a:lvl8pPr marL="3420428"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8pPr>
      <a:lvl9pPr marL="3876485"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9pPr>
    </p:bodyStyle>
    <p:otherStyle>
      <a:defPPr>
        <a:defRPr lang="en-US"/>
      </a:defPPr>
      <a:lvl1pPr marL="0" algn="l" defTabSz="912114" rtl="0" eaLnBrk="1" latinLnBrk="0" hangingPunct="1">
        <a:defRPr sz="1795" kern="1200">
          <a:solidFill>
            <a:schemeClr val="tx1"/>
          </a:solidFill>
          <a:latin typeface="+mn-lt"/>
          <a:ea typeface="+mn-ea"/>
          <a:cs typeface="+mn-cs"/>
        </a:defRPr>
      </a:lvl1pPr>
      <a:lvl2pPr marL="456057" algn="l" defTabSz="912114" rtl="0" eaLnBrk="1" latinLnBrk="0" hangingPunct="1">
        <a:defRPr sz="1795" kern="1200">
          <a:solidFill>
            <a:schemeClr val="tx1"/>
          </a:solidFill>
          <a:latin typeface="+mn-lt"/>
          <a:ea typeface="+mn-ea"/>
          <a:cs typeface="+mn-cs"/>
        </a:defRPr>
      </a:lvl2pPr>
      <a:lvl3pPr marL="912114" algn="l" defTabSz="912114" rtl="0" eaLnBrk="1" latinLnBrk="0" hangingPunct="1">
        <a:defRPr sz="1795" kern="1200">
          <a:solidFill>
            <a:schemeClr val="tx1"/>
          </a:solidFill>
          <a:latin typeface="+mn-lt"/>
          <a:ea typeface="+mn-ea"/>
          <a:cs typeface="+mn-cs"/>
        </a:defRPr>
      </a:lvl3pPr>
      <a:lvl4pPr marL="1368171" algn="l" defTabSz="912114" rtl="0" eaLnBrk="1" latinLnBrk="0" hangingPunct="1">
        <a:defRPr sz="1795" kern="1200">
          <a:solidFill>
            <a:schemeClr val="tx1"/>
          </a:solidFill>
          <a:latin typeface="+mn-lt"/>
          <a:ea typeface="+mn-ea"/>
          <a:cs typeface="+mn-cs"/>
        </a:defRPr>
      </a:lvl4pPr>
      <a:lvl5pPr marL="1824228" algn="l" defTabSz="912114" rtl="0" eaLnBrk="1" latinLnBrk="0" hangingPunct="1">
        <a:defRPr sz="1795" kern="1200">
          <a:solidFill>
            <a:schemeClr val="tx1"/>
          </a:solidFill>
          <a:latin typeface="+mn-lt"/>
          <a:ea typeface="+mn-ea"/>
          <a:cs typeface="+mn-cs"/>
        </a:defRPr>
      </a:lvl5pPr>
      <a:lvl6pPr marL="2280285" algn="l" defTabSz="912114" rtl="0" eaLnBrk="1" latinLnBrk="0" hangingPunct="1">
        <a:defRPr sz="1795" kern="1200">
          <a:solidFill>
            <a:schemeClr val="tx1"/>
          </a:solidFill>
          <a:latin typeface="+mn-lt"/>
          <a:ea typeface="+mn-ea"/>
          <a:cs typeface="+mn-cs"/>
        </a:defRPr>
      </a:lvl6pPr>
      <a:lvl7pPr marL="2736342" algn="l" defTabSz="912114" rtl="0" eaLnBrk="1" latinLnBrk="0" hangingPunct="1">
        <a:defRPr sz="1795" kern="1200">
          <a:solidFill>
            <a:schemeClr val="tx1"/>
          </a:solidFill>
          <a:latin typeface="+mn-lt"/>
          <a:ea typeface="+mn-ea"/>
          <a:cs typeface="+mn-cs"/>
        </a:defRPr>
      </a:lvl7pPr>
      <a:lvl8pPr marL="3192399" algn="l" defTabSz="912114" rtl="0" eaLnBrk="1" latinLnBrk="0" hangingPunct="1">
        <a:defRPr sz="1795" kern="1200">
          <a:solidFill>
            <a:schemeClr val="tx1"/>
          </a:solidFill>
          <a:latin typeface="+mn-lt"/>
          <a:ea typeface="+mn-ea"/>
          <a:cs typeface="+mn-cs"/>
        </a:defRPr>
      </a:lvl8pPr>
      <a:lvl9pPr marL="3648456" algn="l" defTabSz="912114" rtl="0" eaLnBrk="1" latinLnBrk="0" hangingPunct="1">
        <a:defRPr sz="1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3.JPG"/><Relationship Id="rId5" Type="http://schemas.openxmlformats.org/officeDocument/2006/relationships/notesSlide" Target="../notesSlides/notesSlide2.xml"/><Relationship Id="rId4"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microsoft.com/office/2007/relationships/hdphoto" Target="../media/hdphoto1.wdp"/><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8.png"/><Relationship Id="rId5" Type="http://schemas.openxmlformats.org/officeDocument/2006/relationships/image" Target="../media/image7.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10.JP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9.JPG"/><Relationship Id="rId5" Type="http://schemas.openxmlformats.org/officeDocument/2006/relationships/notesSlide" Target="../notesSlides/notesSlide6.xml"/><Relationship Id="rId4"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2.pn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1.xml"/><Relationship Id="rId1" Type="http://schemas.openxmlformats.org/officeDocument/2006/relationships/tags" Target="../tags/tag20.xml"/><Relationship Id="rId6" Type="http://schemas.microsoft.com/office/2007/relationships/hdphoto" Target="../media/hdphoto2.wdp"/><Relationship Id="rId5" Type="http://schemas.openxmlformats.org/officeDocument/2006/relationships/image" Target="../media/image14.pn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5.JPG"/><Relationship Id="rId5" Type="http://schemas.openxmlformats.org/officeDocument/2006/relationships/notesSlide" Target="../notesSlides/notesSlide9.xml"/><Relationship Id="rId4"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6.xml"/><Relationship Id="rId1" Type="http://schemas.openxmlformats.org/officeDocument/2006/relationships/tags" Target="../tags/tag25.xml"/><Relationship Id="rId5" Type="http://schemas.microsoft.com/office/2007/relationships/hdphoto" Target="../media/hdphoto3.wdp"/><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18.JP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22.JPG"/><Relationship Id="rId4"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8.xml"/><Relationship Id="rId1" Type="http://schemas.openxmlformats.org/officeDocument/2006/relationships/tags" Target="../tags/tag43.xml"/><Relationship Id="rId5" Type="http://schemas.openxmlformats.org/officeDocument/2006/relationships/image" Target="../media/image24.png"/><Relationship Id="rId4" Type="http://schemas.microsoft.com/office/2007/relationships/hdphoto" Target="../media/hdphoto4.wdp"/></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5.xml"/><Relationship Id="rId1" Type="http://schemas.openxmlformats.org/officeDocument/2006/relationships/tags" Target="../tags/tag44.xml"/><Relationship Id="rId6" Type="http://schemas.microsoft.com/office/2007/relationships/hdphoto" Target="../media/hdphoto5.wdp"/><Relationship Id="rId5" Type="http://schemas.openxmlformats.org/officeDocument/2006/relationships/image" Target="../media/image25.png"/><Relationship Id="rId4"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7.xml"/><Relationship Id="rId1" Type="http://schemas.openxmlformats.org/officeDocument/2006/relationships/tags" Target="../tags/tag46.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26.png"/><Relationship Id="rId4"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slideLayout" Target="../slideLayouts/slideLayout10.xml"/><Relationship Id="rId7" Type="http://schemas.microsoft.com/office/2007/relationships/hdphoto" Target="../media/hdphoto6.wdp"/><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18.xml"/><Relationship Id="rId9" Type="http://schemas.microsoft.com/office/2007/relationships/hdphoto" Target="../media/hdphoto7.wdp"/></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30.png"/><Relationship Id="rId4"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tags" Target="../tags/tag56.xml"/><Relationship Id="rId6" Type="http://schemas.microsoft.com/office/2007/relationships/hdphoto" Target="../media/hdphoto8.wdp"/><Relationship Id="rId5" Type="http://schemas.openxmlformats.org/officeDocument/2006/relationships/image" Target="../media/image31.png"/><Relationship Id="rId4"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33.JPG"/><Relationship Id="rId5" Type="http://schemas.openxmlformats.org/officeDocument/2006/relationships/image" Target="../media/image32.jpg"/><Relationship Id="rId4"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36.jpg"/><Relationship Id="rId4"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image" Target="../media/image37.JPG"/><Relationship Id="rId4"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slideLayout" Target="../slideLayouts/slideLayout10.xml"/><Relationship Id="rId7" Type="http://schemas.openxmlformats.org/officeDocument/2006/relationships/image" Target="../media/image39.png"/><Relationship Id="rId2" Type="http://schemas.openxmlformats.org/officeDocument/2006/relationships/tags" Target="../tags/tag69.xml"/><Relationship Id="rId1" Type="http://schemas.openxmlformats.org/officeDocument/2006/relationships/tags" Target="../tags/tag68.xml"/><Relationship Id="rId6" Type="http://schemas.microsoft.com/office/2007/relationships/hdphoto" Target="../media/hdphoto9.wdp"/><Relationship Id="rId5" Type="http://schemas.openxmlformats.org/officeDocument/2006/relationships/image" Target="../media/image38.png"/><Relationship Id="rId10" Type="http://schemas.openxmlformats.org/officeDocument/2006/relationships/image" Target="../media/image41.JPG"/><Relationship Id="rId4" Type="http://schemas.openxmlformats.org/officeDocument/2006/relationships/notesSlide" Target="../notesSlides/notesSlide27.xml"/><Relationship Id="rId9" Type="http://schemas.microsoft.com/office/2007/relationships/hdphoto" Target="../media/hdphoto10.wdp"/></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43.png"/><Relationship Id="rId2" Type="http://schemas.openxmlformats.org/officeDocument/2006/relationships/tags" Target="../tags/tag71.xml"/><Relationship Id="rId1" Type="http://schemas.openxmlformats.org/officeDocument/2006/relationships/tags" Target="../tags/tag70.xml"/><Relationship Id="rId6" Type="http://schemas.microsoft.com/office/2007/relationships/hdphoto" Target="../media/hdphoto11.wdp"/><Relationship Id="rId5" Type="http://schemas.openxmlformats.org/officeDocument/2006/relationships/image" Target="../media/image42.png"/><Relationship Id="rId4"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 Id="rId5" Type="http://schemas.openxmlformats.org/officeDocument/2006/relationships/image" Target="../media/image44.png"/><Relationship Id="rId4"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8" Type="http://schemas.openxmlformats.org/officeDocument/2006/relationships/image" Target="../media/image46.JPG"/><Relationship Id="rId3" Type="http://schemas.openxmlformats.org/officeDocument/2006/relationships/slideLayout" Target="../slideLayouts/slideLayout8.xml"/><Relationship Id="rId7" Type="http://schemas.microsoft.com/office/2007/relationships/hdphoto" Target="../media/hdphoto12.wdp"/><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image" Target="../media/image45.png"/><Relationship Id="rId5" Type="http://schemas.openxmlformats.org/officeDocument/2006/relationships/image" Target="../media/image43.JPG"/><Relationship Id="rId4" Type="http://schemas.openxmlformats.org/officeDocument/2006/relationships/notesSlide" Target="../notesSlides/notesSlide30.xml"/><Relationship Id="rId9" Type="http://schemas.openxmlformats.org/officeDocument/2006/relationships/image" Target="../media/image47.png"/></Relationships>
</file>

<file path=ppt/slides/_rels/slide38.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Autofit/>
          </a:bodyPr>
          <a:lstStyle/>
          <a:p>
            <a:r>
              <a:rPr lang="en-US" dirty="0"/>
              <a:t>Statistics for </a:t>
            </a:r>
            <a:br>
              <a:rPr lang="en-US" dirty="0"/>
            </a:br>
            <a:r>
              <a:rPr lang="en-US" dirty="0"/>
              <a:t>Business and Economics </a:t>
            </a:r>
            <a:r>
              <a:rPr lang="en-US"/>
              <a:t>(14e</a:t>
            </a:r>
            <a:r>
              <a:rPr lang="en-US" dirty="0"/>
              <a:t>)</a:t>
            </a:r>
          </a:p>
        </p:txBody>
      </p:sp>
      <p:sp>
        <p:nvSpPr>
          <p:cNvPr id="3" name="Subtitle 2">
            <a:extLst>
              <a:ext uri="{FF2B5EF4-FFF2-40B4-BE49-F238E27FC236}">
                <a16:creationId xmlns:a16="http://schemas.microsoft.com/office/drawing/2014/main" id="{37635CD3-4994-4DCF-AA0C-2B9B0A66D8A3}"/>
              </a:ext>
            </a:extLst>
          </p:cNvPr>
          <p:cNvSpPr>
            <a:spLocks noGrp="1"/>
          </p:cNvSpPr>
          <p:nvPr>
            <p:ph type="subTitle" idx="1"/>
          </p:nvPr>
        </p:nvSpPr>
        <p:spPr/>
        <p:txBody>
          <a:bodyPr>
            <a:noAutofit/>
          </a:bodyPr>
          <a:lstStyle/>
          <a:p>
            <a:r>
              <a:rPr lang="en-US" dirty="0"/>
              <a:t>Anderson, Sweeney, Williams, </a:t>
            </a:r>
            <a:r>
              <a:rPr lang="en-US" dirty="0" err="1"/>
              <a:t>Camm</a:t>
            </a:r>
            <a:r>
              <a:rPr lang="en-US" dirty="0"/>
              <a:t>, Cochran, Fry, </a:t>
            </a:r>
            <a:r>
              <a:rPr lang="en-US" dirty="0" err="1"/>
              <a:t>Ohlmann</a:t>
            </a:r>
            <a:endParaRPr lang="en-US" dirty="0"/>
          </a:p>
          <a:p>
            <a:r>
              <a:rPr lang="en-US" dirty="0"/>
              <a:t>© 2020 Cengage Learning</a:t>
            </a:r>
          </a:p>
          <a:p>
            <a:endParaRPr lang="en-US" dirty="0"/>
          </a:p>
        </p:txBody>
      </p:sp>
      <p:sp>
        <p:nvSpPr>
          <p:cNvPr id="6" name="Text Placeholder 5"/>
          <p:cNvSpPr>
            <a:spLocks noGrp="1"/>
          </p:cNvSpPr>
          <p:nvPr>
            <p:ph type="body" sz="quarter" idx="13"/>
          </p:nvPr>
        </p:nvSpPr>
        <p:spPr/>
        <p:txBody>
          <a:bodyPr>
            <a:noAutofit/>
          </a:bodyPr>
          <a:lstStyle/>
          <a:p>
            <a:r>
              <a:rPr lang="en-US" dirty="0">
                <a:solidFill>
                  <a:srgbClr val="000000"/>
                </a:solidFill>
                <a:cs typeface="Arial" panose="020B0604020202020204" pitchFamily="34" charset="0"/>
              </a:rPr>
              <a:t>© 2020  Cengage.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a:p>
            <a:endParaRPr lang="en-US" dirty="0"/>
          </a:p>
        </p:txBody>
      </p:sp>
      <p:sp>
        <p:nvSpPr>
          <p:cNvPr id="9" name="Slide Number Placeholder 8"/>
          <p:cNvSpPr>
            <a:spLocks noGrp="1"/>
          </p:cNvSpPr>
          <p:nvPr>
            <p:ph type="sldNum" sz="quarter" idx="12"/>
          </p:nvPr>
        </p:nvSpPr>
        <p:spPr/>
        <p:txBody>
          <a:bodyPr/>
          <a:lstStyle/>
          <a:p>
            <a:pPr defTabSz="912114" eaLnBrk="1" fontAlgn="auto" hangingPunct="1">
              <a:spcBef>
                <a:spcPts val="0"/>
              </a:spcBef>
              <a:spcAft>
                <a:spcPts val="0"/>
              </a:spcAft>
              <a:defRPr/>
            </a:pPr>
            <a:fld id="{949EBC64-41CB-41B8-B6DF-9B1367312BD4}" type="slidenum">
              <a:rPr lang="en-US">
                <a:solidFill>
                  <a:prstClr val="black">
                    <a:tint val="75000"/>
                  </a:prstClr>
                </a:solidFill>
                <a:effectLst/>
                <a:latin typeface="Calibri" panose="020F0502020204030204"/>
              </a:rPr>
              <a:pPr defTabSz="912114" eaLnBrk="1" fontAlgn="auto" hangingPunct="1">
                <a:spcBef>
                  <a:spcPts val="0"/>
                </a:spcBef>
                <a:spcAft>
                  <a:spcPts val="0"/>
                </a:spcAft>
                <a:defRPr/>
              </a:pPr>
              <a:t>1</a:t>
            </a:fld>
            <a:endParaRPr lang="en-US">
              <a:solidFill>
                <a:prstClr val="black">
                  <a:tint val="75000"/>
                </a:prstClr>
              </a:solidFill>
              <a:effectLst/>
              <a:latin typeface="Calibri" panose="020F0502020204030204"/>
            </a:endParaRPr>
          </a:p>
        </p:txBody>
      </p:sp>
    </p:spTree>
    <p:extLst>
      <p:ext uri="{BB962C8B-B14F-4D97-AF65-F5344CB8AC3E}">
        <p14:creationId xmlns:p14="http://schemas.microsoft.com/office/powerpoint/2010/main" val="3135001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6" name="Rectangle 16"/>
          <p:cNvSpPr>
            <a:spLocks noGrp="1" noChangeArrowheads="1"/>
          </p:cNvSpPr>
          <p:nvPr>
            <p:ph type="title"/>
            <p:custDataLst>
              <p:tags r:id="rId2"/>
            </p:custDataLst>
          </p:nvPr>
        </p:nvSpPr>
        <p:spPr>
          <a:noFill/>
          <a:ln/>
        </p:spPr>
        <p:txBody>
          <a:bodyPr>
            <a:noAutofit/>
          </a:bodyPr>
          <a:lstStyle/>
          <a:p>
            <a:r>
              <a:rPr lang="en-US" dirty="0"/>
              <a:t>Chapter 8 - Interval Estimation</a:t>
            </a:r>
          </a:p>
        </p:txBody>
      </p:sp>
      <p:pic>
        <p:nvPicPr>
          <p:cNvPr id="6" name="Content Placeholder 5" descr="8.1 – Population mean: sigma known. &#10;8.2 – Population mean: sigma unknown.">
            <a:extLst>
              <a:ext uri="{FF2B5EF4-FFF2-40B4-BE49-F238E27FC236}">
                <a16:creationId xmlns:a16="http://schemas.microsoft.com/office/drawing/2014/main" id="{040232C4-D490-4F00-BACB-CF8877945E83}"/>
              </a:ext>
            </a:extLst>
          </p:cNvPr>
          <p:cNvPicPr>
            <a:picLocks noGrp="1" noChangeAspect="1"/>
          </p:cNvPicPr>
          <p:nvPr>
            <p:ph sz="half" idx="1"/>
          </p:nvPr>
        </p:nvPicPr>
        <p:blipFill>
          <a:blip r:embed="rId6">
            <a:extLst>
              <a:ext uri="{28A0092B-C50C-407E-A947-70E740481C1C}">
                <a14:useLocalDpi xmlns:a14="http://schemas.microsoft.com/office/drawing/2010/main" val="0"/>
              </a:ext>
            </a:extLst>
          </a:blip>
          <a:stretch>
            <a:fillRect/>
          </a:stretch>
        </p:blipFill>
        <p:spPr>
          <a:xfrm>
            <a:off x="877564" y="1757738"/>
            <a:ext cx="5306665" cy="913272"/>
          </a:xfrm>
        </p:spPr>
      </p:pic>
      <p:sp>
        <p:nvSpPr>
          <p:cNvPr id="4" name="Content Placeholder 3">
            <a:extLst>
              <a:ext uri="{FF2B5EF4-FFF2-40B4-BE49-F238E27FC236}">
                <a16:creationId xmlns:a16="http://schemas.microsoft.com/office/drawing/2014/main" id="{30BD295D-BF02-4DFF-AFB3-C1C7A173267B}"/>
              </a:ext>
            </a:extLst>
          </p:cNvPr>
          <p:cNvSpPr>
            <a:spLocks noGrp="1"/>
          </p:cNvSpPr>
          <p:nvPr>
            <p:ph sz="half" idx="2"/>
          </p:nvPr>
        </p:nvSpPr>
        <p:spPr>
          <a:xfrm>
            <a:off x="836127" y="2671010"/>
            <a:ext cx="10489586" cy="2454443"/>
          </a:xfrm>
        </p:spPr>
        <p:txBody>
          <a:bodyPr>
            <a:noAutofit/>
          </a:bodyPr>
          <a:lstStyle/>
          <a:p>
            <a:pPr marL="0" indent="0">
              <a:spcBef>
                <a:spcPct val="20000"/>
              </a:spcBef>
              <a:buSzPct val="100000"/>
              <a:buNone/>
            </a:pPr>
            <a:r>
              <a:rPr lang="en-US" dirty="0">
                <a:solidFill>
                  <a:srgbClr val="000000"/>
                </a:solidFill>
                <a:cs typeface="Arial" panose="020B0604020202020204" pitchFamily="34" charset="0"/>
              </a:rPr>
              <a:t>8.3 – Determining the Sample Size</a:t>
            </a:r>
          </a:p>
          <a:p>
            <a:pPr marL="0" indent="0">
              <a:spcBef>
                <a:spcPct val="20000"/>
              </a:spcBef>
              <a:buSzPct val="100000"/>
              <a:buNone/>
            </a:pPr>
            <a:r>
              <a:rPr lang="en-US" dirty="0">
                <a:solidFill>
                  <a:srgbClr val="000000"/>
                </a:solidFill>
                <a:cs typeface="Arial" panose="020B0604020202020204" pitchFamily="34" charset="0"/>
              </a:rPr>
              <a:t>8.4 – Population Proportion</a:t>
            </a:r>
          </a:p>
          <a:p>
            <a:pPr marL="0" indent="0">
              <a:spcBef>
                <a:spcPct val="20000"/>
              </a:spcBef>
              <a:buSzPct val="100000"/>
              <a:buNone/>
            </a:pPr>
            <a:r>
              <a:rPr lang="en-US" dirty="0">
                <a:solidFill>
                  <a:srgbClr val="000000"/>
                </a:solidFill>
                <a:cs typeface="Arial" panose="020B0604020202020204" pitchFamily="34" charset="0"/>
              </a:rPr>
              <a:t>8.5 – Big Data and Confidence Intervals</a:t>
            </a:r>
          </a:p>
          <a:p>
            <a:pPr marL="0" indent="0">
              <a:buNone/>
            </a:pPr>
            <a:endParaRPr lang="en-US" dirty="0"/>
          </a:p>
        </p:txBody>
      </p:sp>
      <p:sp>
        <p:nvSpPr>
          <p:cNvPr id="2" name="Slide Number Placeholder 1"/>
          <p:cNvSpPr>
            <a:spLocks noGrp="1"/>
          </p:cNvSpPr>
          <p:nvPr>
            <p:ph type="sldNum" sz="quarter" idx="12"/>
            <p:custDataLst>
              <p:tags r:id="rId3"/>
            </p:custDataLst>
          </p:nvPr>
        </p:nvSpPr>
        <p:spPr/>
        <p:txBody>
          <a:bodyPr/>
          <a:lstStyle/>
          <a:p>
            <a:fld id="{949EBC64-41CB-41B8-B6DF-9B1367312BD4}" type="slidenum">
              <a:rPr lang="en-US" smtClean="0"/>
              <a:t>2</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0189" y="640082"/>
            <a:ext cx="10489585" cy="727075"/>
          </a:xfrm>
        </p:spPr>
        <p:txBody>
          <a:bodyPr>
            <a:noAutofit/>
          </a:bodyPr>
          <a:lstStyle/>
          <a:p>
            <a:pPr rtl="0"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Margin of error and the Interval Estimate</a:t>
            </a:r>
            <a:endParaRPr lang="en-US" dirty="0">
              <a:effectLst/>
            </a:endParaRPr>
          </a:p>
        </p:txBody>
      </p:sp>
      <p:sp>
        <p:nvSpPr>
          <p:cNvPr id="3" name="Content Placeholder 2"/>
          <p:cNvSpPr>
            <a:spLocks noGrp="1"/>
          </p:cNvSpPr>
          <p:nvPr>
            <p:ph sz="half" idx="1"/>
          </p:nvPr>
        </p:nvSpPr>
        <p:spPr>
          <a:xfrm>
            <a:off x="210189" y="1530936"/>
            <a:ext cx="11464740" cy="1316252"/>
          </a:xfrm>
        </p:spPr>
        <p:txBody>
          <a:bodyPr>
            <a:noAutofit/>
          </a:bodyPr>
          <a:lstStyle/>
          <a:p>
            <a:r>
              <a:rPr lang="en-US" dirty="0">
                <a:solidFill>
                  <a:srgbClr val="000000"/>
                </a:solidFill>
                <a:cs typeface="Arial" panose="020B0604020202020204" pitchFamily="34" charset="0"/>
              </a:rPr>
              <a:t>A point estimator cannot be expected to provide the exact value of the population parameter.</a:t>
            </a:r>
          </a:p>
          <a:p>
            <a:r>
              <a:rPr lang="en-US" dirty="0">
                <a:solidFill>
                  <a:srgbClr val="000000"/>
                </a:solidFill>
                <a:cs typeface="Arial" panose="020B0604020202020204" pitchFamily="34" charset="0"/>
              </a:rPr>
              <a:t>An </a:t>
            </a:r>
            <a:r>
              <a:rPr lang="en-US" u="sng" dirty="0">
                <a:solidFill>
                  <a:srgbClr val="000000"/>
                </a:solidFill>
                <a:cs typeface="Arial" panose="020B0604020202020204" pitchFamily="34" charset="0"/>
              </a:rPr>
              <a:t>interval estimate</a:t>
            </a:r>
            <a:r>
              <a:rPr lang="en-US" dirty="0">
                <a:solidFill>
                  <a:srgbClr val="000000"/>
                </a:solidFill>
                <a:cs typeface="Arial" panose="020B0604020202020204" pitchFamily="34" charset="0"/>
              </a:rPr>
              <a:t> can be computed by adding and subtracting a </a:t>
            </a:r>
            <a:r>
              <a:rPr lang="en-US" u="sng" dirty="0">
                <a:solidFill>
                  <a:srgbClr val="000000"/>
                </a:solidFill>
                <a:cs typeface="Arial" panose="020B0604020202020204" pitchFamily="34" charset="0"/>
              </a:rPr>
              <a:t>margin of error</a:t>
            </a:r>
            <a:r>
              <a:rPr lang="en-US" dirty="0">
                <a:solidFill>
                  <a:srgbClr val="000000"/>
                </a:solidFill>
                <a:cs typeface="Arial" panose="020B0604020202020204" pitchFamily="34" charset="0"/>
              </a:rPr>
              <a:t> to the point estimate.</a:t>
            </a:r>
          </a:p>
        </p:txBody>
      </p:sp>
      <p:pic>
        <p:nvPicPr>
          <p:cNvPr id="8" name="Content Placeholder 7" descr="Point estimate plus or minus margin of error.">
            <a:extLst>
              <a:ext uri="{FF2B5EF4-FFF2-40B4-BE49-F238E27FC236}">
                <a16:creationId xmlns:a16="http://schemas.microsoft.com/office/drawing/2014/main" id="{DF399194-950B-4BCE-AB31-0F467DD66725}"/>
              </a:ext>
            </a:extLst>
          </p:cNvPr>
          <p:cNvPicPr>
            <a:picLocks noGrp="1" noChangeAspect="1"/>
          </p:cNvPicPr>
          <p:nvPr>
            <p:ph sz="half" idx="2"/>
          </p:nvPr>
        </p:nvPicPr>
        <p:blipFill>
          <a:blip r:embed="rId5">
            <a:extLst>
              <a:ext uri="{28A0092B-C50C-407E-A947-70E740481C1C}">
                <a14:useLocalDpi xmlns:a14="http://schemas.microsoft.com/office/drawing/2010/main" val="0"/>
              </a:ext>
            </a:extLst>
          </a:blip>
          <a:stretch>
            <a:fillRect/>
          </a:stretch>
        </p:blipFill>
        <p:spPr>
          <a:xfrm>
            <a:off x="2547798" y="3693122"/>
            <a:ext cx="5420545" cy="544231"/>
          </a:xfrm>
        </p:spPr>
      </p:pic>
      <p:sp>
        <p:nvSpPr>
          <p:cNvPr id="6" name="Content Placeholder 5">
            <a:extLst>
              <a:ext uri="{FF2B5EF4-FFF2-40B4-BE49-F238E27FC236}">
                <a16:creationId xmlns:a16="http://schemas.microsoft.com/office/drawing/2014/main" id="{3BBBB774-A092-44E2-A036-B482D1B3F858}"/>
              </a:ext>
            </a:extLst>
          </p:cNvPr>
          <p:cNvSpPr>
            <a:spLocks noGrp="1"/>
          </p:cNvSpPr>
          <p:nvPr>
            <p:ph sz="quarter" idx="13"/>
          </p:nvPr>
        </p:nvSpPr>
        <p:spPr>
          <a:xfrm>
            <a:off x="210189" y="4584361"/>
            <a:ext cx="11115523" cy="1420094"/>
          </a:xfrm>
        </p:spPr>
        <p:txBody>
          <a:bodyPr>
            <a:noAutofit/>
          </a:bodyPr>
          <a:lstStyle/>
          <a:p>
            <a:r>
              <a:rPr lang="en-US" dirty="0">
                <a:solidFill>
                  <a:srgbClr val="000000"/>
                </a:solidFill>
                <a:cs typeface="Arial" panose="020B0604020202020204" pitchFamily="34" charset="0"/>
              </a:rPr>
              <a:t>The purpose of an interval estimate is to provide information about how close the point estimate, is to the value of the parameter.</a:t>
            </a:r>
          </a:p>
          <a:p>
            <a:pPr marL="0" indent="0">
              <a:buNone/>
            </a:pPr>
            <a:endParaRPr lang="en-US" dirty="0"/>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3</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Mean: </a:t>
            </a:r>
            <a:r>
              <a:rPr lang="el-GR" dirty="0"/>
              <a:t>σ</a:t>
            </a:r>
            <a:r>
              <a:rPr lang="en-US" sz="3200" kern="1200" dirty="0">
                <a:solidFill>
                  <a:srgbClr val="000000"/>
                </a:solidFill>
                <a:effectLst/>
                <a:latin typeface="Calibri" panose="020F0502020204030204" pitchFamily="34" charset="0"/>
                <a:ea typeface="+mn-ea"/>
                <a:cs typeface="Arial" panose="020B0604020202020204" pitchFamily="34" charset="0"/>
              </a:rPr>
              <a:t> Known </a:t>
            </a:r>
            <a:r>
              <a:rPr lang="en-US" sz="1600" kern="1200" dirty="0">
                <a:solidFill>
                  <a:srgbClr val="000000"/>
                </a:solidFill>
                <a:effectLst/>
                <a:latin typeface="Calibri" panose="020F0502020204030204" pitchFamily="34" charset="0"/>
                <a:ea typeface="+mn-ea"/>
                <a:cs typeface="Arial" panose="020B0604020202020204" pitchFamily="34" charset="0"/>
              </a:rPr>
              <a:t>(1 of 4)</a:t>
            </a:r>
            <a:endParaRPr lang="en-US" sz="1600" dirty="0">
              <a:effectLst/>
            </a:endParaRPr>
          </a:p>
        </p:txBody>
      </p:sp>
      <p:sp>
        <p:nvSpPr>
          <p:cNvPr id="4" name="Content Placeholder 3"/>
          <p:cNvSpPr>
            <a:spLocks noGrp="1"/>
          </p:cNvSpPr>
          <p:nvPr>
            <p:ph sz="half" idx="1"/>
          </p:nvPr>
        </p:nvSpPr>
        <p:spPr/>
        <p:txBody>
          <a:bodyPr>
            <a:noAutofit/>
          </a:bodyPr>
          <a:lstStyle/>
          <a:p>
            <a:pPr marL="233363" indent="-233363">
              <a:spcBef>
                <a:spcPct val="20000"/>
              </a:spcBef>
              <a:buSzPct val="100000"/>
            </a:pPr>
            <a:r>
              <a:rPr lang="en-US" dirty="0">
                <a:solidFill>
                  <a:srgbClr val="000000"/>
                </a:solidFill>
                <a:cs typeface="Arial" panose="020B0604020202020204" pitchFamily="34" charset="0"/>
              </a:rPr>
              <a:t>The general form of an interval estimate of a population mean is</a:t>
            </a:r>
          </a:p>
        </p:txBody>
      </p:sp>
      <p:pic>
        <p:nvPicPr>
          <p:cNvPr id="11" name="Content Placeholder 10" descr="x overbar plus or minus margin of error.">
            <a:extLst>
              <a:ext uri="{FF2B5EF4-FFF2-40B4-BE49-F238E27FC236}">
                <a16:creationId xmlns:a16="http://schemas.microsoft.com/office/drawing/2014/main" id="{4760F23F-52AB-40CD-B28A-A9922BA3F9A9}"/>
              </a:ext>
            </a:extLst>
          </p:cNvPr>
          <p:cNvPicPr>
            <a:picLocks noGrp="1" noChangeAspect="1"/>
          </p:cNvPicPr>
          <p:nvPr>
            <p:ph sz="half" idx="2"/>
          </p:nvPr>
        </p:nvPicPr>
        <p:blipFill>
          <a:blip r:embed="rId5">
            <a:extLst>
              <a:ext uri="{28A0092B-C50C-407E-A947-70E740481C1C}">
                <a14:useLocalDpi xmlns:a14="http://schemas.microsoft.com/office/drawing/2010/main" val="0"/>
              </a:ext>
            </a:extLst>
          </a:blip>
          <a:stretch>
            <a:fillRect/>
          </a:stretch>
        </p:blipFill>
        <p:spPr>
          <a:xfrm>
            <a:off x="3890478" y="2253937"/>
            <a:ext cx="2627282" cy="395432"/>
          </a:xfrm>
        </p:spPr>
      </p:pic>
      <p:sp>
        <p:nvSpPr>
          <p:cNvPr id="8" name="Content Placeholder 7">
            <a:extLst>
              <a:ext uri="{FF2B5EF4-FFF2-40B4-BE49-F238E27FC236}">
                <a16:creationId xmlns:a16="http://schemas.microsoft.com/office/drawing/2014/main" id="{16C522DD-0498-44D5-B8F1-97610F50AE44}"/>
              </a:ext>
            </a:extLst>
          </p:cNvPr>
          <p:cNvSpPr>
            <a:spLocks noGrp="1"/>
          </p:cNvSpPr>
          <p:nvPr>
            <p:ph sz="half" idx="14"/>
          </p:nvPr>
        </p:nvSpPr>
        <p:spPr>
          <a:xfrm>
            <a:off x="210321" y="2888575"/>
            <a:ext cx="11115395" cy="943029"/>
          </a:xfrm>
        </p:spPr>
        <p:txBody>
          <a:bodyPr>
            <a:noAutofit/>
          </a:bodyPr>
          <a:lstStyle/>
          <a:p>
            <a:pPr marL="233363" lvl="0" indent="-233363">
              <a:lnSpc>
                <a:spcPct val="100000"/>
              </a:lnSpc>
              <a:spcBef>
                <a:spcPct val="20000"/>
              </a:spcBef>
              <a:spcAft>
                <a:spcPts val="1200"/>
              </a:spcAft>
              <a:buSzPct val="100000"/>
            </a:pPr>
            <a:r>
              <a:rPr lang="en-US" sz="2400" dirty="0">
                <a:solidFill>
                  <a:srgbClr val="000000"/>
                </a:solidFill>
                <a:cs typeface="Arial" panose="020B0604020202020204" pitchFamily="34" charset="0"/>
              </a:rPr>
              <a:t>In order to develop an interval estimate of a population mean, the margin of error must be computed using either:</a:t>
            </a:r>
          </a:p>
          <a:p>
            <a:endParaRPr lang="en-US" dirty="0"/>
          </a:p>
        </p:txBody>
      </p:sp>
      <p:pic>
        <p:nvPicPr>
          <p:cNvPr id="13" name="Content Placeholder 12" descr="The population standard deviation sigma, or, the sample standard deviation s. Sigma is rarely known exactly. But often a good estimate can be obtained based on historical data or other information. We refer to such cases as the sigma known case.">
            <a:extLst>
              <a:ext uri="{FF2B5EF4-FFF2-40B4-BE49-F238E27FC236}">
                <a16:creationId xmlns:a16="http://schemas.microsoft.com/office/drawing/2014/main" id="{AC29CEEA-81C2-4A2F-BA69-96E7B03054BF}"/>
              </a:ext>
            </a:extLst>
          </p:cNvPr>
          <p:cNvPicPr>
            <a:picLocks noGrp="1" noChangeAspect="1"/>
          </p:cNvPicPr>
          <p:nvPr>
            <p:ph sz="half" idx="15"/>
          </p:nvPr>
        </p:nvPicPr>
        <p:blipFill>
          <a:blip r:embed="rId6">
            <a:extLst>
              <a:ext uri="{BEBA8EAE-BF5A-486C-A8C5-ECC9F3942E4B}">
                <a14:imgProps xmlns:a14="http://schemas.microsoft.com/office/drawing/2010/main">
                  <a14:imgLayer r:embed="rId7">
                    <a14:imgEffect>
                      <a14:sharpenSoften amount="25000"/>
                    </a14:imgEffect>
                  </a14:imgLayer>
                </a14:imgProps>
              </a:ext>
              <a:ext uri="{28A0092B-C50C-407E-A947-70E740481C1C}">
                <a14:useLocalDpi xmlns:a14="http://schemas.microsoft.com/office/drawing/2010/main" val="0"/>
              </a:ext>
            </a:extLst>
          </a:blip>
          <a:stretch>
            <a:fillRect/>
          </a:stretch>
        </p:blipFill>
        <p:spPr>
          <a:xfrm>
            <a:off x="210321" y="3831604"/>
            <a:ext cx="10516643" cy="2136809"/>
          </a:xfrm>
        </p:spPr>
      </p:pic>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4</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descr="A distribution graph of sampling distribution of x overbar. There is a bell curve on a horizontal line labeled x overbar. The areas under the curve at the beginning and end of the graph are labeled alpha divided by 2, and the area under the curve between the two areas is labeled 1 minus alpha of all x overbar values. On the horizontal line and at the center of the bell curve, it is marked as mu, and the area between the end of beginning portion of alpha divided by 2 and mu is labeled z subscript start fraction alpha over 2 end fraction baseline lower sigma subscript x overbar baseline, and the area between mu and end portion of alpha divided by 2 is labeled z subscript start fraction alpha over 2 end fraction baseline lower sigma subscript x overbar baseline."/>
          <p:cNvSpPr>
            <a:spLocks noGrp="1"/>
          </p:cNvSpPr>
          <p:nvPr>
            <p:ph type="title"/>
          </p:nvPr>
        </p:nvSpPr>
        <p:spPr>
          <a:xfrm>
            <a:off x="284587" y="640081"/>
            <a:ext cx="10489585" cy="727075"/>
          </a:xfrm>
        </p:spPr>
        <p:txBody>
          <a:bodyPr>
            <a:noAutofit/>
          </a:bodyPr>
          <a:lstStyle/>
          <a:p>
            <a:r>
              <a:rPr lang="en-US" dirty="0"/>
              <a:t>Interval Estimate of a Population Mean:</a:t>
            </a:r>
            <a:r>
              <a:rPr lang="en-US" dirty="0">
                <a:solidFill>
                  <a:srgbClr val="000000"/>
                </a:solidFill>
                <a:latin typeface="Calibri" panose="020F0502020204030204" pitchFamily="34" charset="0"/>
                <a:cs typeface="Arial" panose="020B0604020202020204" pitchFamily="34" charset="0"/>
              </a:rPr>
              <a:t> </a:t>
            </a:r>
            <a:r>
              <a:rPr lang="el-GR" i="1" dirty="0"/>
              <a:t>σ</a:t>
            </a:r>
            <a:r>
              <a:rPr lang="en-US" dirty="0">
                <a:solidFill>
                  <a:srgbClr val="000000"/>
                </a:solidFill>
                <a:latin typeface="Calibri" panose="020F0502020204030204" pitchFamily="34" charset="0"/>
                <a:cs typeface="Arial" panose="020B0604020202020204" pitchFamily="34" charset="0"/>
              </a:rPr>
              <a:t>  Known</a:t>
            </a:r>
            <a:r>
              <a:rPr lang="en-US" sz="1600" dirty="0">
                <a:solidFill>
                  <a:srgbClr val="000000"/>
                </a:solidFill>
                <a:latin typeface="Calibri" panose="020F0502020204030204" pitchFamily="34" charset="0"/>
                <a:cs typeface="Arial" panose="020B0604020202020204" pitchFamily="34" charset="0"/>
              </a:rPr>
              <a:t> (2 of 4)</a:t>
            </a:r>
            <a:endParaRPr lang="en-US" dirty="0"/>
          </a:p>
        </p:txBody>
      </p:sp>
      <p:pic>
        <p:nvPicPr>
          <p:cNvPr id="4" name="Content Placeholder 3" descr="There is a 1 minus alpha probability that the value of a sample mean will provide a margin of error of start fraction z subscript alpha baseline over 2 superscript sigma baseline subscript x overbar baseline or less.">
            <a:extLst>
              <a:ext uri="{FF2B5EF4-FFF2-40B4-BE49-F238E27FC236}">
                <a16:creationId xmlns:a16="http://schemas.microsoft.com/office/drawing/2014/main" id="{3B4B9F63-B908-4613-AEB4-5E49AAA58D48}"/>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284587" y="1367156"/>
            <a:ext cx="11442956" cy="779679"/>
          </a:xfrm>
        </p:spPr>
      </p:pic>
      <p:pic>
        <p:nvPicPr>
          <p:cNvPr id="8" name="Content Placeholder 7" descr="A distribution graph of sampling distribution of x overbar. There is a bell curve on a horizontal line labeled x overbar. The areas under the curve at the beginning and end of the graph are labeled alpha divided by 2, and the area under the curve between the two areas is labeled 1 minus alpha of all x overbar values. On the horizontal line and at the center of the bell curve, it is marked as mu, and the area between the end of beginning portion of alpha divided by 2 and mu is labeled z subscript start fraction alpha over 2 end fraction baseline lower sigma subscript x overbar baseline, and the area between mu and end portion of alpha divided by 2 is labeled z subscript start fraction alpha over 2 end fraction baseline lower sigma subscript x overbar baseline.">
            <a:extLst>
              <a:ext uri="{FF2B5EF4-FFF2-40B4-BE49-F238E27FC236}">
                <a16:creationId xmlns:a16="http://schemas.microsoft.com/office/drawing/2014/main" id="{36399B8B-E57A-4319-9C2C-86BBFE50DE64}"/>
              </a:ext>
            </a:extLst>
          </p:cNvPr>
          <p:cNvPicPr>
            <a:picLocks noGrp="1" noChangeAspect="1"/>
          </p:cNvPicPr>
          <p:nvPr>
            <p:ph sz="half" idx="2"/>
          </p:nvPr>
        </p:nvPicPr>
        <p:blipFill>
          <a:blip r:embed="rId6">
            <a:extLst>
              <a:ext uri="{28A0092B-C50C-407E-A947-70E740481C1C}">
                <a14:useLocalDpi xmlns:a14="http://schemas.microsoft.com/office/drawing/2010/main" val="0"/>
              </a:ext>
            </a:extLst>
          </a:blip>
          <a:stretch>
            <a:fillRect/>
          </a:stretch>
        </p:blipFill>
        <p:spPr>
          <a:xfrm>
            <a:off x="3258644" y="2669977"/>
            <a:ext cx="5168900" cy="3222840"/>
          </a:xfrm>
        </p:spPr>
      </p:pic>
      <p:sp>
        <p:nvSpPr>
          <p:cNvPr id="3" name="Slide Number Placeholder 2"/>
          <p:cNvSpPr>
            <a:spLocks noGrp="1"/>
          </p:cNvSpPr>
          <p:nvPr>
            <p:ph type="sldNum" sz="quarter" idx="12"/>
            <p:custDataLst>
              <p:tags r:id="rId2"/>
            </p:custDataLst>
          </p:nvPr>
        </p:nvSpPr>
        <p:spPr/>
        <p:txBody>
          <a:bodyPr/>
          <a:lstStyle/>
          <a:p>
            <a:fld id="{949EBC64-41CB-41B8-B6DF-9B1367312BD4}" type="slidenum">
              <a:rPr lang="en-US" smtClean="0"/>
              <a:t>5</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3200" kern="1200" dirty="0">
                <a:solidFill>
                  <a:srgbClr val="000000"/>
                </a:solidFill>
                <a:effectLst/>
                <a:latin typeface="Calibri" panose="020F0502020204030204" pitchFamily="34" charset="0"/>
                <a:ea typeface="+mj-ea"/>
                <a:cs typeface="+mj-cs"/>
              </a:rPr>
              <a:t>Interval Estimate of a Population Mean:</a:t>
            </a:r>
            <a:r>
              <a:rPr lang="en-US" sz="3200" kern="1200" dirty="0">
                <a:solidFill>
                  <a:srgbClr val="000000"/>
                </a:solidFill>
                <a:effectLst/>
                <a:latin typeface="Calibri" panose="020F0502020204030204" pitchFamily="34" charset="0"/>
                <a:ea typeface="+mj-ea"/>
                <a:cs typeface="Arial" panose="020B0604020202020204" pitchFamily="34" charset="0"/>
              </a:rPr>
              <a:t> </a:t>
            </a:r>
            <a:r>
              <a:rPr lang="el-GR" dirty="0"/>
              <a:t>σ</a:t>
            </a:r>
            <a:r>
              <a:rPr lang="en-US" sz="3200" kern="1200" dirty="0">
                <a:solidFill>
                  <a:srgbClr val="000000"/>
                </a:solidFill>
                <a:effectLst/>
                <a:latin typeface="Calibri" panose="020F0502020204030204" pitchFamily="34" charset="0"/>
                <a:ea typeface="+mj-ea"/>
                <a:cs typeface="Arial" panose="020B0604020202020204" pitchFamily="34" charset="0"/>
              </a:rPr>
              <a:t>  Known</a:t>
            </a:r>
            <a:r>
              <a:rPr lang="en-US" sz="1600" dirty="0">
                <a:solidFill>
                  <a:srgbClr val="000000"/>
                </a:solidFill>
                <a:latin typeface="Calibri" panose="020F0502020204030204" pitchFamily="34" charset="0"/>
                <a:cs typeface="Arial" panose="020B0604020202020204" pitchFamily="34" charset="0"/>
              </a:rPr>
              <a:t> (3 of 4)</a:t>
            </a:r>
            <a:endParaRPr lang="en-US" dirty="0"/>
          </a:p>
        </p:txBody>
      </p:sp>
      <p:sp>
        <p:nvSpPr>
          <p:cNvPr id="12291" name="Rectangle 3"/>
          <p:cNvSpPr>
            <a:spLocks noGrp="1" noChangeArrowheads="1"/>
          </p:cNvSpPr>
          <p:nvPr>
            <p:ph sz="half" idx="1"/>
            <p:custDataLst>
              <p:tags r:id="rId2"/>
            </p:custDataLst>
          </p:nvPr>
        </p:nvSpPr>
        <p:spPr>
          <a:noFill/>
          <a:ln/>
        </p:spPr>
        <p:txBody>
          <a:bodyPr>
            <a:noAutofit/>
          </a:bodyPr>
          <a:lstStyle/>
          <a:p>
            <a:pPr marL="0" indent="0">
              <a:buNone/>
            </a:pPr>
            <a:r>
              <a:rPr lang="en-US" dirty="0"/>
              <a:t>Interval Estimate of</a:t>
            </a:r>
            <a:r>
              <a:rPr lang="en-US" i="1" dirty="0"/>
              <a:t> </a:t>
            </a:r>
            <a:r>
              <a:rPr lang="el-GR" i="1" dirty="0"/>
              <a:t>μ</a:t>
            </a:r>
            <a:r>
              <a:rPr lang="en-US" dirty="0"/>
              <a:t>:</a:t>
            </a:r>
          </a:p>
        </p:txBody>
      </p:sp>
      <p:pic>
        <p:nvPicPr>
          <p:cNvPr id="7" name="Content Placeholder 6" descr="x overbar plus or minus z subscript start fraction alpha over 2 end fraction baseline start fraction sigma over start root n end root end fraction.">
            <a:extLst>
              <a:ext uri="{FF2B5EF4-FFF2-40B4-BE49-F238E27FC236}">
                <a16:creationId xmlns:a16="http://schemas.microsoft.com/office/drawing/2014/main" id="{328EBB1D-269B-4CF7-AB1F-164F3C51268C}"/>
              </a:ext>
            </a:extLst>
          </p:cNvPr>
          <p:cNvPicPr>
            <a:picLocks noGrp="1" noChangeAspect="1"/>
          </p:cNvPicPr>
          <p:nvPr>
            <p:ph sz="half" idx="2"/>
          </p:nvPr>
        </p:nvPicPr>
        <p:blipFill>
          <a:blip r:embed="rId6">
            <a:extLst>
              <a:ext uri="{28A0092B-C50C-407E-A947-70E740481C1C}">
                <a14:useLocalDpi xmlns:a14="http://schemas.microsoft.com/office/drawing/2010/main" val="0"/>
              </a:ext>
            </a:extLst>
          </a:blip>
          <a:stretch>
            <a:fillRect/>
          </a:stretch>
        </p:blipFill>
        <p:spPr>
          <a:xfrm>
            <a:off x="4388062" y="1737938"/>
            <a:ext cx="2134084" cy="988417"/>
          </a:xfrm>
        </p:spPr>
      </p:pic>
      <p:pic>
        <p:nvPicPr>
          <p:cNvPr id="9" name="Content Placeholder 8" descr="Where: x overbar is the sample mean, 1 minus alpha is the confidence coefficient, z subscript start fraction alpha over 2 end fraction baseline is the z value providing an area of alpha divided by 2 in the upper tail of the standard normal probability distribution, sigma is the population standard deviation, n is the sample size.">
            <a:extLst>
              <a:ext uri="{FF2B5EF4-FFF2-40B4-BE49-F238E27FC236}">
                <a16:creationId xmlns:a16="http://schemas.microsoft.com/office/drawing/2014/main" id="{6B3ED81F-F961-4E6A-BF18-DD2767F2780F}"/>
              </a:ext>
            </a:extLst>
          </p:cNvPr>
          <p:cNvPicPr>
            <a:picLocks noGrp="1" noChangeAspect="1"/>
          </p:cNvPicPr>
          <p:nvPr>
            <p:ph sz="quarter" idx="13"/>
          </p:nvPr>
        </p:nvPicPr>
        <p:blipFill>
          <a:blip r:embed="rId7">
            <a:extLst>
              <a:ext uri="{28A0092B-C50C-407E-A947-70E740481C1C}">
                <a14:useLocalDpi xmlns:a14="http://schemas.microsoft.com/office/drawing/2010/main" val="0"/>
              </a:ext>
            </a:extLst>
          </a:blip>
          <a:stretch>
            <a:fillRect/>
          </a:stretch>
        </p:blipFill>
        <p:spPr>
          <a:xfrm>
            <a:off x="210311" y="2863516"/>
            <a:ext cx="10246759" cy="3210085"/>
          </a:xfrm>
        </p:spPr>
      </p:pic>
      <p:sp>
        <p:nvSpPr>
          <p:cNvPr id="3" name="Slide Number Placeholder 2"/>
          <p:cNvSpPr>
            <a:spLocks noGrp="1"/>
          </p:cNvSpPr>
          <p:nvPr>
            <p:ph type="sldNum" sz="quarter" idx="12"/>
            <p:custDataLst>
              <p:tags r:id="rId3"/>
            </p:custDataLst>
          </p:nvPr>
        </p:nvSpPr>
        <p:spPr/>
        <p:txBody>
          <a:bodyPr/>
          <a:lstStyle/>
          <a:p>
            <a:fld id="{949EBC64-41CB-41B8-B6DF-9B1367312BD4}" type="slidenum">
              <a:rPr lang="en-US" smtClean="0"/>
              <a:t>6</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200" kern="1200" dirty="0">
                <a:solidFill>
                  <a:srgbClr val="000000"/>
                </a:solidFill>
                <a:effectLst/>
                <a:latin typeface="Calibri" panose="020F0502020204030204" pitchFamily="34" charset="0"/>
                <a:ea typeface="+mj-ea"/>
                <a:cs typeface="+mj-cs"/>
              </a:rPr>
              <a:t>Interval Estimate of a Population Mean:</a:t>
            </a:r>
            <a:r>
              <a:rPr lang="en-US" sz="3200" kern="1200" dirty="0">
                <a:solidFill>
                  <a:srgbClr val="000000"/>
                </a:solidFill>
                <a:effectLst/>
                <a:latin typeface="Calibri" panose="020F0502020204030204" pitchFamily="34" charset="0"/>
                <a:ea typeface="+mj-ea"/>
                <a:cs typeface="Arial" panose="020B0604020202020204" pitchFamily="34" charset="0"/>
              </a:rPr>
              <a:t> </a:t>
            </a:r>
            <a:r>
              <a:rPr lang="el-GR" dirty="0"/>
              <a:t>σ</a:t>
            </a:r>
            <a:r>
              <a:rPr lang="en-US" sz="3200" kern="1200" dirty="0">
                <a:solidFill>
                  <a:srgbClr val="000000"/>
                </a:solidFill>
                <a:effectLst/>
                <a:latin typeface="Calibri" panose="020F0502020204030204" pitchFamily="34" charset="0"/>
                <a:ea typeface="+mj-ea"/>
                <a:cs typeface="Arial" panose="020B0604020202020204" pitchFamily="34" charset="0"/>
              </a:rPr>
              <a:t>  Known</a:t>
            </a:r>
            <a:r>
              <a:rPr lang="en-US" sz="1600" dirty="0">
                <a:solidFill>
                  <a:srgbClr val="000000"/>
                </a:solidFill>
                <a:latin typeface="Calibri" panose="020F0502020204030204" pitchFamily="34" charset="0"/>
                <a:cs typeface="Arial" panose="020B0604020202020204" pitchFamily="34" charset="0"/>
              </a:rPr>
              <a:t> (4 of 4)</a:t>
            </a:r>
            <a:endParaRPr lang="en-US" dirty="0"/>
          </a:p>
        </p:txBody>
      </p:sp>
      <p:pic>
        <p:nvPicPr>
          <p:cNvPr id="6" name="Content Placeholder 5" descr="Values of z subscript start fraction alpha over 2 end fraction baseline for the Most Commonly Used Confidence Levels.">
            <a:extLst>
              <a:ext uri="{FF2B5EF4-FFF2-40B4-BE49-F238E27FC236}">
                <a16:creationId xmlns:a16="http://schemas.microsoft.com/office/drawing/2014/main" id="{CF60BE67-73A0-4B9C-8D0A-F00E3FD289D2}"/>
              </a:ext>
            </a:extLst>
          </p:cNvPr>
          <p:cNvPicPr>
            <a:picLocks noGrp="1" noChangeAspect="1"/>
          </p:cNvPicPr>
          <p:nvPr>
            <p:ph sz="half" idx="1"/>
          </p:nvPr>
        </p:nvPicPr>
        <p:blipFill>
          <a:blip r:embed="rId4">
            <a:extLst>
              <a:ext uri="{28A0092B-C50C-407E-A947-70E740481C1C}">
                <a14:useLocalDpi xmlns:a14="http://schemas.microsoft.com/office/drawing/2010/main" val="0"/>
              </a:ext>
            </a:extLst>
          </a:blip>
          <a:stretch>
            <a:fillRect/>
          </a:stretch>
        </p:blipFill>
        <p:spPr>
          <a:xfrm>
            <a:off x="210311" y="1210901"/>
            <a:ext cx="9609555" cy="908437"/>
          </a:xfrm>
        </p:spPr>
      </p:pic>
      <p:graphicFrame>
        <p:nvGraphicFramePr>
          <p:cNvPr id="10" name="Content Placeholder 9">
            <a:extLst>
              <a:ext uri="{FF2B5EF4-FFF2-40B4-BE49-F238E27FC236}">
                <a16:creationId xmlns:a16="http://schemas.microsoft.com/office/drawing/2014/main" id="{1DBBC087-8CC2-41F6-BC53-0B660FE27913}"/>
              </a:ext>
            </a:extLst>
          </p:cNvPr>
          <p:cNvGraphicFramePr>
            <a:graphicFrameLocks noGrp="1"/>
          </p:cNvGraphicFramePr>
          <p:nvPr>
            <p:ph sz="half" idx="2"/>
            <p:extLst>
              <p:ext uri="{D42A27DB-BD31-4B8C-83A1-F6EECF244321}">
                <p14:modId xmlns:p14="http://schemas.microsoft.com/office/powerpoint/2010/main" val="806326782"/>
              </p:ext>
            </p:extLst>
          </p:nvPr>
        </p:nvGraphicFramePr>
        <p:xfrm>
          <a:off x="1810447" y="3020256"/>
          <a:ext cx="8540944" cy="1564640"/>
        </p:xfrm>
        <a:graphic>
          <a:graphicData uri="http://schemas.openxmlformats.org/drawingml/2006/table">
            <a:tbl>
              <a:tblPr firstRow="1" bandRow="1">
                <a:tableStyleId>{5C22544A-7EE6-4342-B048-85BDC9FD1C3A}</a:tableStyleId>
              </a:tblPr>
              <a:tblGrid>
                <a:gridCol w="1392369">
                  <a:extLst>
                    <a:ext uri="{9D8B030D-6E8A-4147-A177-3AD203B41FA5}">
                      <a16:colId xmlns:a16="http://schemas.microsoft.com/office/drawing/2014/main" val="1367026840"/>
                    </a:ext>
                  </a:extLst>
                </a:gridCol>
                <a:gridCol w="1164571">
                  <a:extLst>
                    <a:ext uri="{9D8B030D-6E8A-4147-A177-3AD203B41FA5}">
                      <a16:colId xmlns:a16="http://schemas.microsoft.com/office/drawing/2014/main" val="1516771645"/>
                    </a:ext>
                  </a:extLst>
                </a:gridCol>
                <a:gridCol w="1499967">
                  <a:extLst>
                    <a:ext uri="{9D8B030D-6E8A-4147-A177-3AD203B41FA5}">
                      <a16:colId xmlns:a16="http://schemas.microsoft.com/office/drawing/2014/main" val="2269340255"/>
                    </a:ext>
                  </a:extLst>
                </a:gridCol>
                <a:gridCol w="1670176">
                  <a:extLst>
                    <a:ext uri="{9D8B030D-6E8A-4147-A177-3AD203B41FA5}">
                      <a16:colId xmlns:a16="http://schemas.microsoft.com/office/drawing/2014/main" val="409747947"/>
                    </a:ext>
                  </a:extLst>
                </a:gridCol>
                <a:gridCol w="2813861">
                  <a:extLst>
                    <a:ext uri="{9D8B030D-6E8A-4147-A177-3AD203B41FA5}">
                      <a16:colId xmlns:a16="http://schemas.microsoft.com/office/drawing/2014/main" val="913893487"/>
                    </a:ext>
                  </a:extLst>
                </a:gridCol>
              </a:tblGrid>
              <a:tr h="370840">
                <a:tc>
                  <a:txBody>
                    <a:bodyPr/>
                    <a:lstStyle/>
                    <a:p>
                      <a:r>
                        <a:rPr lang="en-US" sz="1400">
                          <a:solidFill>
                            <a:sysClr val="windowText" lastClr="000000"/>
                          </a:solidFill>
                        </a:rPr>
                        <a:t>Confidence Level</a:t>
                      </a:r>
                    </a:p>
                  </a:txBody>
                  <a:tcPr>
                    <a:noFill/>
                  </a:tcPr>
                </a:tc>
                <a:tc>
                  <a:txBody>
                    <a:bodyPr/>
                    <a:lstStyle/>
                    <a:p>
                      <a:r>
                        <a:rPr lang="en-US" sz="1400">
                          <a:solidFill>
                            <a:sysClr val="windowText" lastClr="000000"/>
                          </a:solidFill>
                        </a:rPr>
                        <a:t>Alpha</a:t>
                      </a:r>
                    </a:p>
                  </a:txBody>
                  <a:tcPr>
                    <a:noFill/>
                  </a:tcPr>
                </a:tc>
                <a:tc>
                  <a:txBody>
                    <a:bodyPr/>
                    <a:lstStyle/>
                    <a:p>
                      <a:r>
                        <a:rPr lang="en-US" sz="1400">
                          <a:solidFill>
                            <a:sysClr val="windowText" lastClr="000000"/>
                          </a:solidFill>
                        </a:rPr>
                        <a:t>Alpha divided by 2</a:t>
                      </a:r>
                    </a:p>
                  </a:txBody>
                  <a:tcPr>
                    <a:noFill/>
                  </a:tcPr>
                </a:tc>
                <a:tc>
                  <a:txBody>
                    <a:bodyPr/>
                    <a:lstStyle/>
                    <a:p>
                      <a:r>
                        <a:rPr lang="en-US" sz="1400">
                          <a:solidFill>
                            <a:sysClr val="windowText" lastClr="000000"/>
                          </a:solidFill>
                        </a:rPr>
                        <a:t>Table Look-up Area</a:t>
                      </a:r>
                    </a:p>
                  </a:txBody>
                  <a:tcPr>
                    <a:noFill/>
                  </a:tcPr>
                </a:tc>
                <a:tc>
                  <a:txBody>
                    <a:bodyPr/>
                    <a:lstStyle/>
                    <a:p>
                      <a:r>
                        <a:rPr lang="en-US" sz="1400">
                          <a:solidFill>
                            <a:sysClr val="windowText" lastClr="000000"/>
                          </a:solidFill>
                        </a:rPr>
                        <a:t>2 subscript alpha divided by 2 baseline</a:t>
                      </a:r>
                    </a:p>
                  </a:txBody>
                  <a:tcPr>
                    <a:noFill/>
                  </a:tcPr>
                </a:tc>
                <a:extLst>
                  <a:ext uri="{0D108BD9-81ED-4DB2-BD59-A6C34878D82A}">
                    <a16:rowId xmlns:a16="http://schemas.microsoft.com/office/drawing/2014/main" val="3892582438"/>
                  </a:ext>
                </a:extLst>
              </a:tr>
              <a:tr h="370840">
                <a:tc>
                  <a:txBody>
                    <a:bodyPr/>
                    <a:lstStyle/>
                    <a:p>
                      <a:r>
                        <a:rPr lang="en-US" sz="1400">
                          <a:solidFill>
                            <a:sysClr val="windowText" lastClr="000000"/>
                          </a:solidFill>
                        </a:rPr>
                        <a:t>90%</a:t>
                      </a:r>
                    </a:p>
                  </a:txBody>
                  <a:tcPr>
                    <a:noFill/>
                  </a:tcPr>
                </a:tc>
                <a:tc>
                  <a:txBody>
                    <a:bodyPr/>
                    <a:lstStyle/>
                    <a:p>
                      <a:r>
                        <a:rPr lang="en-US" sz="1400">
                          <a:solidFill>
                            <a:sysClr val="windowText" lastClr="000000"/>
                          </a:solidFill>
                        </a:rPr>
                        <a:t>.10</a:t>
                      </a:r>
                    </a:p>
                  </a:txBody>
                  <a:tcPr>
                    <a:noFill/>
                  </a:tcPr>
                </a:tc>
                <a:tc>
                  <a:txBody>
                    <a:bodyPr/>
                    <a:lstStyle/>
                    <a:p>
                      <a:r>
                        <a:rPr lang="en-US" sz="1400">
                          <a:solidFill>
                            <a:sysClr val="windowText" lastClr="000000"/>
                          </a:solidFill>
                        </a:rPr>
                        <a:t>.05</a:t>
                      </a:r>
                    </a:p>
                  </a:txBody>
                  <a:tcPr>
                    <a:noFill/>
                  </a:tcPr>
                </a:tc>
                <a:tc>
                  <a:txBody>
                    <a:bodyPr/>
                    <a:lstStyle/>
                    <a:p>
                      <a:r>
                        <a:rPr lang="en-US" sz="1400">
                          <a:solidFill>
                            <a:sysClr val="windowText" lastClr="000000"/>
                          </a:solidFill>
                        </a:rPr>
                        <a:t>.9500</a:t>
                      </a:r>
                    </a:p>
                  </a:txBody>
                  <a:tcPr>
                    <a:noFill/>
                  </a:tcPr>
                </a:tc>
                <a:tc>
                  <a:txBody>
                    <a:bodyPr/>
                    <a:lstStyle/>
                    <a:p>
                      <a:r>
                        <a:rPr lang="en-US" sz="1400">
                          <a:solidFill>
                            <a:sysClr val="windowText" lastClr="000000"/>
                          </a:solidFill>
                        </a:rPr>
                        <a:t>1.645</a:t>
                      </a:r>
                    </a:p>
                  </a:txBody>
                  <a:tcPr>
                    <a:noFill/>
                  </a:tcPr>
                </a:tc>
                <a:extLst>
                  <a:ext uri="{0D108BD9-81ED-4DB2-BD59-A6C34878D82A}">
                    <a16:rowId xmlns:a16="http://schemas.microsoft.com/office/drawing/2014/main" val="3340447951"/>
                  </a:ext>
                </a:extLst>
              </a:tr>
              <a:tr h="0">
                <a:tc>
                  <a:txBody>
                    <a:bodyPr/>
                    <a:lstStyle/>
                    <a:p>
                      <a:r>
                        <a:rPr lang="en-US" sz="1400">
                          <a:solidFill>
                            <a:sysClr val="windowText" lastClr="000000"/>
                          </a:solidFill>
                        </a:rPr>
                        <a:t>95%</a:t>
                      </a:r>
                    </a:p>
                  </a:txBody>
                  <a:tcPr>
                    <a:noFill/>
                  </a:tcPr>
                </a:tc>
                <a:tc>
                  <a:txBody>
                    <a:bodyPr/>
                    <a:lstStyle/>
                    <a:p>
                      <a:r>
                        <a:rPr lang="en-US" sz="1400">
                          <a:solidFill>
                            <a:sysClr val="windowText" lastClr="000000"/>
                          </a:solidFill>
                        </a:rPr>
                        <a:t>.05</a:t>
                      </a:r>
                    </a:p>
                  </a:txBody>
                  <a:tcPr>
                    <a:noFill/>
                  </a:tcPr>
                </a:tc>
                <a:tc>
                  <a:txBody>
                    <a:bodyPr/>
                    <a:lstStyle/>
                    <a:p>
                      <a:r>
                        <a:rPr lang="en-US" sz="1400">
                          <a:solidFill>
                            <a:sysClr val="windowText" lastClr="000000"/>
                          </a:solidFill>
                        </a:rPr>
                        <a:t>.025</a:t>
                      </a:r>
                    </a:p>
                  </a:txBody>
                  <a:tcPr>
                    <a:noFill/>
                  </a:tcPr>
                </a:tc>
                <a:tc>
                  <a:txBody>
                    <a:bodyPr/>
                    <a:lstStyle/>
                    <a:p>
                      <a:r>
                        <a:rPr lang="en-US" sz="1400">
                          <a:solidFill>
                            <a:sysClr val="windowText" lastClr="000000"/>
                          </a:solidFill>
                        </a:rPr>
                        <a:t>.9750</a:t>
                      </a:r>
                    </a:p>
                  </a:txBody>
                  <a:tcPr>
                    <a:noFill/>
                  </a:tcPr>
                </a:tc>
                <a:tc>
                  <a:txBody>
                    <a:bodyPr/>
                    <a:lstStyle/>
                    <a:p>
                      <a:r>
                        <a:rPr lang="en-US" sz="1400">
                          <a:solidFill>
                            <a:sysClr val="windowText" lastClr="000000"/>
                          </a:solidFill>
                        </a:rPr>
                        <a:t>1.960</a:t>
                      </a:r>
                    </a:p>
                  </a:txBody>
                  <a:tcPr>
                    <a:noFill/>
                  </a:tcPr>
                </a:tc>
                <a:extLst>
                  <a:ext uri="{0D108BD9-81ED-4DB2-BD59-A6C34878D82A}">
                    <a16:rowId xmlns:a16="http://schemas.microsoft.com/office/drawing/2014/main" val="402552354"/>
                  </a:ext>
                </a:extLst>
              </a:tr>
              <a:tr h="370840">
                <a:tc>
                  <a:txBody>
                    <a:bodyPr/>
                    <a:lstStyle/>
                    <a:p>
                      <a:r>
                        <a:rPr lang="en-US" sz="1400">
                          <a:solidFill>
                            <a:sysClr val="windowText" lastClr="000000"/>
                          </a:solidFill>
                        </a:rPr>
                        <a:t>99%</a:t>
                      </a:r>
                    </a:p>
                  </a:txBody>
                  <a:tcPr>
                    <a:noFill/>
                  </a:tcPr>
                </a:tc>
                <a:tc>
                  <a:txBody>
                    <a:bodyPr/>
                    <a:lstStyle/>
                    <a:p>
                      <a:r>
                        <a:rPr lang="en-US" sz="1400">
                          <a:solidFill>
                            <a:sysClr val="windowText" lastClr="000000"/>
                          </a:solidFill>
                        </a:rPr>
                        <a:t>.01</a:t>
                      </a:r>
                    </a:p>
                  </a:txBody>
                  <a:tcPr>
                    <a:noFill/>
                  </a:tcPr>
                </a:tc>
                <a:tc>
                  <a:txBody>
                    <a:bodyPr/>
                    <a:lstStyle/>
                    <a:p>
                      <a:r>
                        <a:rPr lang="en-US" sz="1400">
                          <a:solidFill>
                            <a:sysClr val="windowText" lastClr="000000"/>
                          </a:solidFill>
                        </a:rPr>
                        <a:t>.005</a:t>
                      </a:r>
                    </a:p>
                  </a:txBody>
                  <a:tcPr>
                    <a:noFill/>
                  </a:tcPr>
                </a:tc>
                <a:tc>
                  <a:txBody>
                    <a:bodyPr/>
                    <a:lstStyle/>
                    <a:p>
                      <a:r>
                        <a:rPr lang="en-US" sz="1400">
                          <a:solidFill>
                            <a:sysClr val="windowText" lastClr="000000"/>
                          </a:solidFill>
                        </a:rPr>
                        <a:t>.9950</a:t>
                      </a:r>
                    </a:p>
                  </a:txBody>
                  <a:tcPr>
                    <a:noFill/>
                  </a:tcPr>
                </a:tc>
                <a:tc>
                  <a:txBody>
                    <a:bodyPr/>
                    <a:lstStyle/>
                    <a:p>
                      <a:r>
                        <a:rPr lang="en-US" sz="1400">
                          <a:solidFill>
                            <a:sysClr val="windowText" lastClr="000000"/>
                          </a:solidFill>
                        </a:rPr>
                        <a:t>2.576</a:t>
                      </a:r>
                    </a:p>
                  </a:txBody>
                  <a:tcPr>
                    <a:noFill/>
                  </a:tcPr>
                </a:tc>
                <a:extLst>
                  <a:ext uri="{0D108BD9-81ED-4DB2-BD59-A6C34878D82A}">
                    <a16:rowId xmlns:a16="http://schemas.microsoft.com/office/drawing/2014/main" val="3095544148"/>
                  </a:ext>
                </a:extLst>
              </a:tr>
            </a:tbl>
          </a:graphicData>
        </a:graphic>
      </p:graphicFrame>
      <p:pic>
        <p:nvPicPr>
          <p:cNvPr id="12" name="Content Placeholder 11" descr="A screenshot of most commonly used confidence levels.">
            <a:extLst>
              <a:ext uri="{FF2B5EF4-FFF2-40B4-BE49-F238E27FC236}">
                <a16:creationId xmlns:a16="http://schemas.microsoft.com/office/drawing/2014/main" id="{3FBE71E2-8592-4411-B6EE-10D312A47506}"/>
              </a:ext>
            </a:extLst>
          </p:cNvPr>
          <p:cNvPicPr>
            <a:picLocks noGrp="1" noChangeAspect="1"/>
          </p:cNvPicPr>
          <p:nvPr>
            <p:ph sz="half" idx="14"/>
          </p:nvPr>
        </p:nvPicPr>
        <p:blipFill>
          <a:blip r:embed="rId5">
            <a:extLst>
              <a:ext uri="{28A0092B-C50C-407E-A947-70E740481C1C}">
                <a14:useLocalDpi xmlns:a14="http://schemas.microsoft.com/office/drawing/2010/main" val="0"/>
              </a:ext>
            </a:extLst>
          </a:blip>
          <a:stretch>
            <a:fillRect/>
          </a:stretch>
        </p:blipFill>
        <p:spPr>
          <a:xfrm>
            <a:off x="1810446" y="2119338"/>
            <a:ext cx="8337893" cy="3352548"/>
          </a:xfrm>
        </p:spPr>
      </p:pic>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7</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pPr rtl="0"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Meaning of </a:t>
            </a:r>
            <a:r>
              <a:rPr lang="en-US" sz="3200" i="1" kern="1200" dirty="0">
                <a:solidFill>
                  <a:srgbClr val="000000"/>
                </a:solidFill>
                <a:effectLst/>
                <a:latin typeface="Calibri" panose="020F0502020204030204" pitchFamily="34" charset="0"/>
                <a:ea typeface="+mn-ea"/>
                <a:cs typeface="Arial" panose="020B0604020202020204" pitchFamily="34" charset="0"/>
              </a:rPr>
              <a:t>C</a:t>
            </a:r>
            <a:r>
              <a:rPr lang="en-US" sz="3200" kern="1200" dirty="0">
                <a:solidFill>
                  <a:srgbClr val="000000"/>
                </a:solidFill>
                <a:effectLst/>
                <a:latin typeface="Calibri" panose="020F0502020204030204" pitchFamily="34" charset="0"/>
                <a:ea typeface="+mn-ea"/>
                <a:cs typeface="Arial" panose="020B0604020202020204" pitchFamily="34" charset="0"/>
              </a:rPr>
              <a:t>% Confidence</a:t>
            </a:r>
            <a:endParaRPr lang="en-US" dirty="0">
              <a:effectLst/>
            </a:endParaRPr>
          </a:p>
        </p:txBody>
      </p:sp>
      <p:pic>
        <p:nvPicPr>
          <p:cNvPr id="10" name="Content Placeholder 9" descr="Because 90% of all the intervals constructed using x overbar plus or minus 1.645 sigma subscript x overbar baseline will contain the population mean, we say we are 90% confident that the interval x overbar plus or minus 1.645 sigma subscript x overbar baseline includes the population mean mu.">
            <a:extLst>
              <a:ext uri="{FF2B5EF4-FFF2-40B4-BE49-F238E27FC236}">
                <a16:creationId xmlns:a16="http://schemas.microsoft.com/office/drawing/2014/main" id="{D6B39DA0-CAF9-4AFB-9A6D-60502256C0E8}"/>
              </a:ext>
            </a:extLst>
          </p:cNvPr>
          <p:cNvPicPr>
            <a:picLocks noGrp="1" noChangeAspect="1"/>
          </p:cNvPicPr>
          <p:nvPr>
            <p:ph sz="half" idx="1"/>
          </p:nvPr>
        </p:nvPicPr>
        <p:blipFill>
          <a:blip r:embed="rId4">
            <a:extLst>
              <a:ext uri="{28A0092B-C50C-407E-A947-70E740481C1C}">
                <a14:useLocalDpi xmlns:a14="http://schemas.microsoft.com/office/drawing/2010/main" val="0"/>
              </a:ext>
            </a:extLst>
          </a:blip>
          <a:stretch>
            <a:fillRect/>
          </a:stretch>
        </p:blipFill>
        <p:spPr>
          <a:xfrm>
            <a:off x="292455" y="1553775"/>
            <a:ext cx="11525297" cy="1114984"/>
          </a:xfrm>
        </p:spPr>
      </p:pic>
      <p:sp>
        <p:nvSpPr>
          <p:cNvPr id="7" name="Content Placeholder 6">
            <a:extLst>
              <a:ext uri="{FF2B5EF4-FFF2-40B4-BE49-F238E27FC236}">
                <a16:creationId xmlns:a16="http://schemas.microsoft.com/office/drawing/2014/main" id="{B8E3FB8F-1D4E-438D-AA37-08B0D2A6D91A}"/>
              </a:ext>
            </a:extLst>
          </p:cNvPr>
          <p:cNvSpPr>
            <a:spLocks noGrp="1"/>
          </p:cNvSpPr>
          <p:nvPr>
            <p:ph sz="half" idx="2"/>
          </p:nvPr>
        </p:nvSpPr>
        <p:spPr>
          <a:xfrm>
            <a:off x="210313" y="2787149"/>
            <a:ext cx="11115400" cy="1316252"/>
          </a:xfrm>
        </p:spPr>
        <p:txBody>
          <a:bodyPr>
            <a:noAutofit/>
          </a:bodyPr>
          <a:lstStyle/>
          <a:p>
            <a:pPr marL="342900" lvl="0" indent="-342900">
              <a:lnSpc>
                <a:spcPct val="100000"/>
              </a:lnSpc>
              <a:spcBef>
                <a:spcPct val="20000"/>
              </a:spcBef>
              <a:spcAft>
                <a:spcPts val="1200"/>
              </a:spcAft>
              <a:buSzPct val="100000"/>
            </a:pPr>
            <a:r>
              <a:rPr lang="en-US" sz="2400" dirty="0">
                <a:solidFill>
                  <a:srgbClr val="000000"/>
                </a:solidFill>
                <a:cs typeface="Arial" panose="020B0604020202020204" pitchFamily="34" charset="0"/>
              </a:rPr>
              <a:t>We say that this interval has been established at the 90% </a:t>
            </a:r>
            <a:r>
              <a:rPr lang="en-US" sz="2400" u="sng" dirty="0">
                <a:solidFill>
                  <a:srgbClr val="000000"/>
                </a:solidFill>
                <a:cs typeface="Arial" panose="020B0604020202020204" pitchFamily="34" charset="0"/>
              </a:rPr>
              <a:t>confidence level</a:t>
            </a:r>
            <a:r>
              <a:rPr lang="en-US" sz="2400" dirty="0">
                <a:solidFill>
                  <a:srgbClr val="000000"/>
                </a:solidFill>
                <a:cs typeface="Arial" panose="020B0604020202020204" pitchFamily="34" charset="0"/>
              </a:rPr>
              <a:t>.</a:t>
            </a:r>
          </a:p>
          <a:p>
            <a:pPr marL="342900" lvl="0" indent="-342900">
              <a:lnSpc>
                <a:spcPct val="100000"/>
              </a:lnSpc>
              <a:spcBef>
                <a:spcPct val="20000"/>
              </a:spcBef>
              <a:spcAft>
                <a:spcPts val="1200"/>
              </a:spcAft>
              <a:buSzPct val="100000"/>
            </a:pPr>
            <a:r>
              <a:rPr lang="en-US" sz="2400" dirty="0">
                <a:solidFill>
                  <a:srgbClr val="000000"/>
                </a:solidFill>
                <a:cs typeface="Arial" panose="020B0604020202020204" pitchFamily="34" charset="0"/>
              </a:rPr>
              <a:t>The value 0.90 is referred to as the </a:t>
            </a:r>
            <a:r>
              <a:rPr lang="en-US" sz="2400" u="sng" dirty="0">
                <a:solidFill>
                  <a:srgbClr val="000000"/>
                </a:solidFill>
                <a:cs typeface="Arial" panose="020B0604020202020204" pitchFamily="34" charset="0"/>
              </a:rPr>
              <a:t>confidence coefficient</a:t>
            </a:r>
            <a:r>
              <a:rPr lang="en-US" sz="2400" dirty="0">
                <a:solidFill>
                  <a:srgbClr val="000000"/>
                </a:solidFill>
                <a:cs typeface="Arial" panose="020B0604020202020204" pitchFamily="34" charset="0"/>
              </a:rPr>
              <a:t>.</a:t>
            </a:r>
            <a:endParaRPr lang="en-US" sz="2400" u="sng" dirty="0">
              <a:solidFill>
                <a:srgbClr val="000000"/>
              </a:solidFill>
              <a:cs typeface="Arial" panose="020B0604020202020204" pitchFamily="34" charset="0"/>
            </a:endParaRPr>
          </a:p>
          <a:p>
            <a:endParaRPr lang="en-US" dirty="0"/>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8</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0189" y="599887"/>
            <a:ext cx="10489585" cy="727075"/>
          </a:xfrm>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Mean:  </a:t>
            </a:r>
            <a:r>
              <a:rPr lang="el-GR" i="1" dirty="0"/>
              <a:t>σ</a:t>
            </a:r>
            <a:r>
              <a:rPr lang="en-US" sz="3200" kern="1200" dirty="0">
                <a:solidFill>
                  <a:srgbClr val="000000"/>
                </a:solidFill>
                <a:effectLst/>
                <a:latin typeface="Calibri" panose="020F0502020204030204" pitchFamily="34" charset="0"/>
                <a:ea typeface="+mn-ea"/>
                <a:cs typeface="Arial" panose="020B0604020202020204" pitchFamily="34" charset="0"/>
              </a:rPr>
              <a:t> Known </a:t>
            </a:r>
            <a:r>
              <a:rPr lang="en-US" sz="1600" dirty="0">
                <a:solidFill>
                  <a:srgbClr val="000000"/>
                </a:solidFill>
                <a:latin typeface="Calibri" panose="020F0502020204030204" pitchFamily="34" charset="0"/>
                <a:cs typeface="Arial" panose="020B0604020202020204" pitchFamily="34" charset="0"/>
              </a:rPr>
              <a:t>(1 of 5)</a:t>
            </a:r>
            <a:endParaRPr lang="en-US" dirty="0">
              <a:effectLst/>
            </a:endParaRPr>
          </a:p>
        </p:txBody>
      </p:sp>
      <p:sp>
        <p:nvSpPr>
          <p:cNvPr id="4" name="Content Placeholder 3"/>
          <p:cNvSpPr>
            <a:spLocks noGrp="1"/>
          </p:cNvSpPr>
          <p:nvPr>
            <p:ph idx="1"/>
          </p:nvPr>
        </p:nvSpPr>
        <p:spPr>
          <a:xfrm>
            <a:off x="210189" y="1326962"/>
            <a:ext cx="11817688" cy="4572000"/>
          </a:xfrm>
        </p:spPr>
        <p:txBody>
          <a:bodyPr>
            <a:noAutofit/>
          </a:bodyPr>
          <a:lstStyle/>
          <a:p>
            <a:pPr marL="0" indent="0">
              <a:spcBef>
                <a:spcPts val="0"/>
              </a:spcBef>
              <a:buNone/>
            </a:pPr>
            <a:r>
              <a:rPr lang="en-US" dirty="0">
                <a:solidFill>
                  <a:srgbClr val="000000"/>
                </a:solidFill>
                <a:cs typeface="Arial" panose="020B0604020202020204" pitchFamily="34" charset="0"/>
              </a:rPr>
              <a:t>Example:  Discount Sounds</a:t>
            </a:r>
          </a:p>
          <a:p>
            <a:pPr marL="0" indent="0">
              <a:spcBef>
                <a:spcPts val="0"/>
              </a:spcBef>
              <a:buNone/>
            </a:pPr>
            <a:endParaRPr lang="en-US" dirty="0">
              <a:solidFill>
                <a:srgbClr val="000000"/>
              </a:solidFill>
              <a:cs typeface="Arial" panose="020B0604020202020204" pitchFamily="34" charset="0"/>
            </a:endParaRPr>
          </a:p>
          <a:p>
            <a:pPr marL="0" indent="0">
              <a:buNone/>
            </a:pPr>
            <a:r>
              <a:rPr lang="en-US" dirty="0">
                <a:solidFill>
                  <a:srgbClr val="000000"/>
                </a:solidFill>
                <a:cs typeface="Arial" panose="020B0604020202020204" pitchFamily="34" charset="0"/>
              </a:rPr>
              <a:t>Discount Sounds has 260 retail outlets throughout the United States. The firm is evaluating a potential location for a new outlet, based in part, on the mean annual income of the individuals in the marketing area of the new location.</a:t>
            </a:r>
          </a:p>
          <a:p>
            <a:pPr marL="0" indent="0">
              <a:spcBef>
                <a:spcPts val="0"/>
              </a:spcBef>
              <a:buNone/>
            </a:pPr>
            <a:endParaRPr lang="en-US" dirty="0">
              <a:solidFill>
                <a:srgbClr val="000000"/>
              </a:solidFill>
              <a:cs typeface="Arial" panose="020B0604020202020204" pitchFamily="34" charset="0"/>
            </a:endParaRPr>
          </a:p>
          <a:p>
            <a:pPr marL="0" indent="0">
              <a:spcBef>
                <a:spcPts val="0"/>
              </a:spcBef>
              <a:buNone/>
            </a:pPr>
            <a:r>
              <a:rPr lang="en-US" dirty="0">
                <a:solidFill>
                  <a:srgbClr val="000000"/>
                </a:solidFill>
                <a:cs typeface="Arial" panose="020B0604020202020204" pitchFamily="34" charset="0"/>
              </a:rPr>
              <a:t>A sample of size </a:t>
            </a:r>
            <a:r>
              <a:rPr lang="en-US" i="1" dirty="0">
                <a:solidFill>
                  <a:srgbClr val="000000"/>
                </a:solidFill>
                <a:cs typeface="Arial" panose="020B0604020202020204" pitchFamily="34" charset="0"/>
              </a:rPr>
              <a:t>n</a:t>
            </a:r>
            <a:r>
              <a:rPr lang="en-US" dirty="0">
                <a:solidFill>
                  <a:srgbClr val="000000"/>
                </a:solidFill>
                <a:cs typeface="Arial" panose="020B0604020202020204" pitchFamily="34" charset="0"/>
              </a:rPr>
              <a:t> = 36 was taken; the sample mean income is $41,100. The population is not believed to be highly skewed. The population standard deviation is estimated to be $4,500, and the confidence coefficient to be used in the interval estimate is 0.95.</a:t>
            </a:r>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9</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3200" kern="1200" dirty="0">
                <a:solidFill>
                  <a:srgbClr val="000000"/>
                </a:solidFill>
                <a:effectLst/>
                <a:latin typeface="Calibri" panose="020F0502020204030204" pitchFamily="34" charset="0"/>
                <a:ea typeface="+mj-ea"/>
                <a:cs typeface="Arial" panose="020B0604020202020204" pitchFamily="34" charset="0"/>
              </a:rPr>
              <a:t>Interval Estimate of a Population Mean:  </a:t>
            </a:r>
            <a:r>
              <a:rPr lang="el-GR" i="1" dirty="0"/>
              <a:t>σ</a:t>
            </a:r>
            <a:r>
              <a:rPr lang="en-US" sz="3200" kern="1200" dirty="0">
                <a:solidFill>
                  <a:srgbClr val="000000"/>
                </a:solidFill>
                <a:effectLst/>
                <a:latin typeface="Calibri" panose="020F0502020204030204" pitchFamily="34" charset="0"/>
                <a:ea typeface="+mj-ea"/>
                <a:cs typeface="Arial" panose="020B0604020202020204" pitchFamily="34" charset="0"/>
              </a:rPr>
              <a:t>  Known </a:t>
            </a:r>
            <a:r>
              <a:rPr lang="en-US" sz="1600" dirty="0">
                <a:solidFill>
                  <a:srgbClr val="000000"/>
                </a:solidFill>
                <a:latin typeface="Calibri" panose="020F0502020204030204" pitchFamily="34" charset="0"/>
                <a:cs typeface="Arial" panose="020B0604020202020204" pitchFamily="34" charset="0"/>
              </a:rPr>
              <a:t>(2 of 5)</a:t>
            </a:r>
            <a:endParaRPr lang="en-US" dirty="0"/>
          </a:p>
        </p:txBody>
      </p:sp>
      <p:sp>
        <p:nvSpPr>
          <p:cNvPr id="2" name="Content Placeholder 1"/>
          <p:cNvSpPr>
            <a:spLocks noGrp="1"/>
          </p:cNvSpPr>
          <p:nvPr>
            <p:ph sz="half" idx="1"/>
          </p:nvPr>
        </p:nvSpPr>
        <p:spPr/>
        <p:txBody>
          <a:bodyPr>
            <a:noAutofit/>
          </a:bodyPr>
          <a:lstStyle/>
          <a:p>
            <a:pPr marL="0" indent="0">
              <a:buNone/>
            </a:pPr>
            <a:r>
              <a:rPr lang="en-US" dirty="0">
                <a:solidFill>
                  <a:srgbClr val="000000"/>
                </a:solidFill>
                <a:cs typeface="Arial" panose="020B0604020202020204" pitchFamily="34" charset="0"/>
              </a:rPr>
              <a:t>Example:  Discount Sounds</a:t>
            </a:r>
          </a:p>
          <a:p>
            <a:pPr marL="0" indent="0">
              <a:buNone/>
            </a:pPr>
            <a:endParaRPr lang="en-US" dirty="0">
              <a:solidFill>
                <a:srgbClr val="000000"/>
              </a:solidFill>
              <a:cs typeface="Arial" panose="020B0604020202020204" pitchFamily="34" charset="0"/>
            </a:endParaRPr>
          </a:p>
          <a:p>
            <a:pPr marL="0" indent="0" algn="ctr">
              <a:buNone/>
            </a:pPr>
            <a:endParaRPr lang="en-US" dirty="0">
              <a:solidFill>
                <a:srgbClr val="000000"/>
              </a:solidFill>
              <a:cs typeface="Arial" panose="020B0604020202020204" pitchFamily="34" charset="0"/>
            </a:endParaRPr>
          </a:p>
        </p:txBody>
      </p:sp>
      <p:pic>
        <p:nvPicPr>
          <p:cNvPr id="8" name="Content Placeholder 7" descr="95% of the sample means that can be observed are within plus or minus 1.96 sigma subscript x overbar baseline of the population mean mu. The margin of error is begin equation z subscript start fraction alpha over 2 end fraction baseline start fraction sigma over start root n end root end fraction equals 1.96 left parenthesis start fraction 4,500 over start root 36 end root end fraction right parenthesis equals 1.470. End equation.">
            <a:extLst>
              <a:ext uri="{FF2B5EF4-FFF2-40B4-BE49-F238E27FC236}">
                <a16:creationId xmlns:a16="http://schemas.microsoft.com/office/drawing/2014/main" id="{2B11B05B-4A37-4917-BBD8-277B847966D6}"/>
              </a:ext>
            </a:extLst>
          </p:cNvPr>
          <p:cNvPicPr>
            <a:picLocks noGrp="1" noChangeAspect="1"/>
          </p:cNvPicPr>
          <p:nvPr>
            <p:ph sz="half" idx="2"/>
          </p:nvPr>
        </p:nvPicPr>
        <p:blipFill>
          <a:blip r:embed="rId5">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tretch>
            <a:fillRect/>
          </a:stretch>
        </p:blipFill>
        <p:spPr>
          <a:xfrm>
            <a:off x="347241" y="2326511"/>
            <a:ext cx="10072483" cy="2419109"/>
          </a:xfrm>
        </p:spPr>
      </p:pic>
      <p:sp>
        <p:nvSpPr>
          <p:cNvPr id="6" name="Content Placeholder 5">
            <a:extLst>
              <a:ext uri="{FF2B5EF4-FFF2-40B4-BE49-F238E27FC236}">
                <a16:creationId xmlns:a16="http://schemas.microsoft.com/office/drawing/2014/main" id="{E75A400B-0135-42C5-B53F-D5D1E477369E}"/>
              </a:ext>
            </a:extLst>
          </p:cNvPr>
          <p:cNvSpPr>
            <a:spLocks noGrp="1"/>
          </p:cNvSpPr>
          <p:nvPr>
            <p:ph sz="quarter" idx="13"/>
          </p:nvPr>
        </p:nvSpPr>
        <p:spPr>
          <a:xfrm>
            <a:off x="312516" y="5133727"/>
            <a:ext cx="11115400" cy="668184"/>
          </a:xfrm>
        </p:spPr>
        <p:txBody>
          <a:bodyPr>
            <a:noAutofit/>
          </a:bodyPr>
          <a:lstStyle/>
          <a:p>
            <a:pPr marL="0" indent="0">
              <a:buNone/>
            </a:pPr>
            <a:r>
              <a:rPr lang="en-US">
                <a:solidFill>
                  <a:srgbClr val="000000"/>
                </a:solidFill>
                <a:cs typeface="Arial" panose="020B0604020202020204" pitchFamily="34" charset="0"/>
              </a:rPr>
              <a:t>Thus at 95% confidence, the margin of error is $1,470.</a:t>
            </a:r>
          </a:p>
          <a:p>
            <a:endParaRPr lang="en-US"/>
          </a:p>
        </p:txBody>
      </p:sp>
      <p:sp>
        <p:nvSpPr>
          <p:cNvPr id="3" name="Slide Number Placeholder 2"/>
          <p:cNvSpPr>
            <a:spLocks noGrp="1"/>
          </p:cNvSpPr>
          <p:nvPr>
            <p:ph type="sldNum" sz="quarter" idx="12"/>
            <p:custDataLst>
              <p:tags r:id="rId2"/>
            </p:custDataLst>
          </p:nvPr>
        </p:nvSpPr>
        <p:spPr/>
        <p:txBody>
          <a:bodyPr/>
          <a:lstStyle/>
          <a:p>
            <a:fld id="{949EBC64-41CB-41B8-B6DF-9B1367312BD4}" type="slidenum">
              <a:rPr lang="en-US" smtClean="0"/>
              <a:t>10</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kern="1200" dirty="0">
                <a:solidFill>
                  <a:srgbClr val="000000"/>
                </a:solidFill>
                <a:effectLst/>
                <a:latin typeface="Calibri" panose="020F0502020204030204" pitchFamily="34" charset="0"/>
                <a:ea typeface="+mj-ea"/>
                <a:cs typeface="Arial" panose="020B0604020202020204" pitchFamily="34" charset="0"/>
              </a:rPr>
              <a:t>Interval Estimate of a Population Mean:  </a:t>
            </a:r>
            <a:r>
              <a:rPr lang="el-GR" dirty="0"/>
              <a:t>σ</a:t>
            </a:r>
            <a:r>
              <a:rPr lang="en-US" sz="3200" kern="1200" dirty="0">
                <a:solidFill>
                  <a:srgbClr val="000000"/>
                </a:solidFill>
                <a:effectLst/>
                <a:latin typeface="Calibri" panose="020F0502020204030204" pitchFamily="34" charset="0"/>
                <a:ea typeface="+mj-ea"/>
                <a:cs typeface="Arial" panose="020B0604020202020204" pitchFamily="34" charset="0"/>
              </a:rPr>
              <a:t> Known </a:t>
            </a:r>
            <a:r>
              <a:rPr lang="en-US" sz="1600" dirty="0">
                <a:solidFill>
                  <a:srgbClr val="000000"/>
                </a:solidFill>
                <a:latin typeface="Calibri" panose="020F0502020204030204" pitchFamily="34" charset="0"/>
                <a:cs typeface="Arial" panose="020B0604020202020204" pitchFamily="34" charset="0"/>
              </a:rPr>
              <a:t>(3 of 5)</a:t>
            </a:r>
            <a:endParaRPr lang="en-US" dirty="0"/>
          </a:p>
        </p:txBody>
      </p:sp>
      <p:sp>
        <p:nvSpPr>
          <p:cNvPr id="63491" name="Rectangle 3"/>
          <p:cNvSpPr>
            <a:spLocks noGrp="1" noChangeArrowheads="1"/>
          </p:cNvSpPr>
          <p:nvPr>
            <p:ph sz="half" idx="1"/>
            <p:custDataLst>
              <p:tags r:id="rId2"/>
            </p:custDataLst>
          </p:nvPr>
        </p:nvSpPr>
        <p:spPr/>
        <p:txBody>
          <a:bodyPr>
            <a:noAutofit/>
          </a:bodyPr>
          <a:lstStyle/>
          <a:p>
            <a:pPr marL="0" indent="0">
              <a:buNone/>
            </a:pPr>
            <a:r>
              <a:rPr lang="en-US" dirty="0">
                <a:solidFill>
                  <a:srgbClr val="000000"/>
                </a:solidFill>
                <a:cs typeface="Arial" panose="020B0604020202020204" pitchFamily="34" charset="0"/>
              </a:rPr>
              <a:t>Example:  Discount Sounds</a:t>
            </a:r>
          </a:p>
          <a:p>
            <a:pPr marL="0" indent="0">
              <a:buNone/>
            </a:pPr>
            <a:endParaRPr lang="en-US" dirty="0">
              <a:solidFill>
                <a:srgbClr val="000000"/>
              </a:solidFill>
              <a:cs typeface="Arial" panose="020B0604020202020204" pitchFamily="34" charset="0"/>
            </a:endParaRPr>
          </a:p>
        </p:txBody>
      </p:sp>
      <p:pic>
        <p:nvPicPr>
          <p:cNvPr id="7" name="Content Placeholder 6" descr="The interval estimate of mu is">
            <a:extLst>
              <a:ext uri="{FF2B5EF4-FFF2-40B4-BE49-F238E27FC236}">
                <a16:creationId xmlns:a16="http://schemas.microsoft.com/office/drawing/2014/main" id="{692ECAC7-6CE9-48BD-A7A0-50E71F15E746}"/>
              </a:ext>
            </a:extLst>
          </p:cNvPr>
          <p:cNvPicPr>
            <a:picLocks noGrp="1" noChangeAspect="1"/>
          </p:cNvPicPr>
          <p:nvPr>
            <p:ph sz="half" idx="2"/>
          </p:nvPr>
        </p:nvPicPr>
        <p:blipFill>
          <a:blip r:embed="rId6">
            <a:extLst>
              <a:ext uri="{28A0092B-C50C-407E-A947-70E740481C1C}">
                <a14:useLocalDpi xmlns:a14="http://schemas.microsoft.com/office/drawing/2010/main" val="0"/>
              </a:ext>
            </a:extLst>
          </a:blip>
          <a:stretch>
            <a:fillRect/>
          </a:stretch>
        </p:blipFill>
        <p:spPr>
          <a:xfrm>
            <a:off x="256612" y="2284216"/>
            <a:ext cx="4291551" cy="579300"/>
          </a:xfrm>
        </p:spPr>
      </p:pic>
      <p:sp>
        <p:nvSpPr>
          <p:cNvPr id="5" name="Content Placeholder 4">
            <a:extLst>
              <a:ext uri="{FF2B5EF4-FFF2-40B4-BE49-F238E27FC236}">
                <a16:creationId xmlns:a16="http://schemas.microsoft.com/office/drawing/2014/main" id="{99E0031F-D15F-4753-B1FA-12240BDA7807}"/>
              </a:ext>
            </a:extLst>
          </p:cNvPr>
          <p:cNvSpPr>
            <a:spLocks noGrp="1"/>
          </p:cNvSpPr>
          <p:nvPr>
            <p:ph sz="quarter" idx="13"/>
          </p:nvPr>
        </p:nvSpPr>
        <p:spPr>
          <a:xfrm>
            <a:off x="210312" y="2970235"/>
            <a:ext cx="11115400" cy="2423567"/>
          </a:xfrm>
        </p:spPr>
        <p:txBody>
          <a:bodyPr>
            <a:noAutofit/>
          </a:bodyPr>
          <a:lstStyle/>
          <a:p>
            <a:pPr lvl="0" algn="ctr">
              <a:spcBef>
                <a:spcPct val="20000"/>
              </a:spcBef>
              <a:buSzPct val="75000"/>
              <a:buNone/>
            </a:pPr>
            <a:r>
              <a:rPr lang="en-US" dirty="0">
                <a:solidFill>
                  <a:srgbClr val="000000"/>
                </a:solidFill>
                <a:cs typeface="Arial" panose="020B0604020202020204" pitchFamily="34" charset="0"/>
              </a:rPr>
              <a:t>$41,100  </a:t>
            </a:r>
            <a:r>
              <a:rPr lang="en-US" u="sng" dirty="0">
                <a:solidFill>
                  <a:srgbClr val="000000"/>
                </a:solidFill>
                <a:cs typeface="Arial" panose="020B0604020202020204" pitchFamily="34" charset="0"/>
              </a:rPr>
              <a:t>+</a:t>
            </a:r>
            <a:r>
              <a:rPr lang="en-US" dirty="0">
                <a:solidFill>
                  <a:srgbClr val="000000"/>
                </a:solidFill>
                <a:cs typeface="Arial" panose="020B0604020202020204" pitchFamily="34" charset="0"/>
              </a:rPr>
              <a:t>  $1,470</a:t>
            </a:r>
          </a:p>
          <a:p>
            <a:pPr lvl="0" algn="ctr">
              <a:spcBef>
                <a:spcPct val="20000"/>
              </a:spcBef>
              <a:buSzPct val="75000"/>
              <a:buNone/>
            </a:pPr>
            <a:r>
              <a:rPr lang="en-US" dirty="0">
                <a:solidFill>
                  <a:srgbClr val="000000"/>
                </a:solidFill>
                <a:cs typeface="Arial" panose="020B0604020202020204" pitchFamily="34" charset="0"/>
              </a:rPr>
              <a:t>or</a:t>
            </a:r>
          </a:p>
          <a:p>
            <a:pPr lvl="0" algn="ctr">
              <a:spcBef>
                <a:spcPct val="20000"/>
              </a:spcBef>
              <a:buSzPct val="75000"/>
              <a:buNone/>
            </a:pPr>
            <a:r>
              <a:rPr lang="en-US" dirty="0">
                <a:solidFill>
                  <a:srgbClr val="000000"/>
                </a:solidFill>
                <a:cs typeface="Arial" panose="020B0604020202020204" pitchFamily="34" charset="0"/>
              </a:rPr>
              <a:t>$39,630  to  $42,570</a:t>
            </a:r>
          </a:p>
          <a:p>
            <a:pPr lvl="0" algn="ctr">
              <a:spcBef>
                <a:spcPct val="20000"/>
              </a:spcBef>
              <a:buSzPct val="75000"/>
              <a:buNone/>
            </a:pPr>
            <a:endParaRPr lang="en-US" dirty="0">
              <a:solidFill>
                <a:srgbClr val="000000"/>
              </a:solidFill>
              <a:cs typeface="Arial" panose="020B0604020202020204" pitchFamily="34" charset="0"/>
            </a:endParaRPr>
          </a:p>
          <a:p>
            <a:pPr lvl="0">
              <a:spcBef>
                <a:spcPct val="20000"/>
              </a:spcBef>
              <a:buSzPct val="75000"/>
              <a:buNone/>
            </a:pPr>
            <a:r>
              <a:rPr lang="en-US" dirty="0">
                <a:solidFill>
                  <a:srgbClr val="000000"/>
                </a:solidFill>
                <a:cs typeface="Arial" panose="020B0604020202020204" pitchFamily="34" charset="0"/>
              </a:rPr>
              <a:t>We are </a:t>
            </a:r>
            <a:r>
              <a:rPr lang="en-US" u="sng" dirty="0">
                <a:solidFill>
                  <a:srgbClr val="000000"/>
                </a:solidFill>
                <a:cs typeface="Arial" panose="020B0604020202020204" pitchFamily="34" charset="0"/>
              </a:rPr>
              <a:t>95% confident</a:t>
            </a:r>
            <a:r>
              <a:rPr lang="en-US" dirty="0">
                <a:solidFill>
                  <a:srgbClr val="000000"/>
                </a:solidFill>
                <a:cs typeface="Arial" panose="020B0604020202020204" pitchFamily="34" charset="0"/>
              </a:rPr>
              <a:t> that the interval contains the population mean.</a:t>
            </a:r>
            <a:endParaRPr lang="en-US" dirty="0">
              <a:solidFill>
                <a:prstClr val="black"/>
              </a:solidFill>
            </a:endParaRPr>
          </a:p>
          <a:p>
            <a:pPr marL="0" indent="0">
              <a:buNone/>
            </a:pPr>
            <a:endParaRPr lang="en-US" dirty="0"/>
          </a:p>
        </p:txBody>
      </p:sp>
      <p:sp>
        <p:nvSpPr>
          <p:cNvPr id="2" name="Slide Number Placeholder 1"/>
          <p:cNvSpPr>
            <a:spLocks noGrp="1"/>
          </p:cNvSpPr>
          <p:nvPr>
            <p:ph type="sldNum" sz="quarter" idx="12"/>
            <p:custDataLst>
              <p:tags r:id="rId3"/>
            </p:custDataLst>
          </p:nvPr>
        </p:nvSpPr>
        <p:spPr/>
        <p:txBody>
          <a:bodyPr/>
          <a:lstStyle/>
          <a:p>
            <a:fld id="{949EBC64-41CB-41B8-B6DF-9B1367312BD4}" type="slidenum">
              <a:rPr lang="en-US" smtClean="0"/>
              <a:t>11</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z="3200" kern="1200" dirty="0">
                <a:solidFill>
                  <a:srgbClr val="000000"/>
                </a:solidFill>
                <a:effectLst/>
                <a:latin typeface="Calibri" panose="020F0502020204030204" pitchFamily="34" charset="0"/>
                <a:ea typeface="+mj-ea"/>
                <a:cs typeface="Arial" panose="020B0604020202020204" pitchFamily="34" charset="0"/>
              </a:rPr>
              <a:t>Interval Estimate of a Population Mean:  </a:t>
            </a:r>
            <a:r>
              <a:rPr lang="el-GR" i="1"/>
              <a:t>σ</a:t>
            </a:r>
            <a:r>
              <a:rPr lang="en-US" sz="3200" kern="1200">
                <a:solidFill>
                  <a:srgbClr val="000000"/>
                </a:solidFill>
                <a:effectLst/>
                <a:latin typeface="Calibri" panose="020F0502020204030204" pitchFamily="34" charset="0"/>
                <a:ea typeface="+mj-ea"/>
                <a:cs typeface="Arial" panose="020B0604020202020204" pitchFamily="34" charset="0"/>
              </a:rPr>
              <a:t>  Known</a:t>
            </a:r>
            <a:r>
              <a:rPr lang="en-US" sz="1600">
                <a:solidFill>
                  <a:srgbClr val="000000"/>
                </a:solidFill>
                <a:latin typeface="Calibri" panose="020F0502020204030204" pitchFamily="34" charset="0"/>
                <a:cs typeface="Arial" panose="020B0604020202020204" pitchFamily="34" charset="0"/>
              </a:rPr>
              <a:t> (4 of 5)</a:t>
            </a:r>
            <a:endParaRPr lang="en-US" dirty="0"/>
          </a:p>
        </p:txBody>
      </p:sp>
      <p:sp>
        <p:nvSpPr>
          <p:cNvPr id="3" name="Content Placeholder 2"/>
          <p:cNvSpPr>
            <a:spLocks noGrp="1"/>
          </p:cNvSpPr>
          <p:nvPr>
            <p:ph sz="half" idx="1"/>
          </p:nvPr>
        </p:nvSpPr>
        <p:spPr/>
        <p:txBody>
          <a:bodyPr>
            <a:noAutofit/>
          </a:bodyPr>
          <a:lstStyle/>
          <a:p>
            <a:pPr marL="0" indent="0">
              <a:buNone/>
            </a:pPr>
            <a:r>
              <a:rPr lang="en-US" dirty="0">
                <a:solidFill>
                  <a:srgbClr val="000000"/>
                </a:solidFill>
                <a:cs typeface="Arial" panose="020B0604020202020204" pitchFamily="34" charset="0"/>
              </a:rPr>
              <a:t>Example:  Discount Sounds</a:t>
            </a:r>
          </a:p>
        </p:txBody>
      </p:sp>
      <p:graphicFrame>
        <p:nvGraphicFramePr>
          <p:cNvPr id="7" name="Content Placeholder 6" descr="Table with 3 columns and 4 rows. Column headers are Confidence level, Margin of error, and Interval estimate.">
            <a:extLst>
              <a:ext uri="{FF2B5EF4-FFF2-40B4-BE49-F238E27FC236}">
                <a16:creationId xmlns:a16="http://schemas.microsoft.com/office/drawing/2014/main" id="{CC977924-86BF-47F5-BD71-BCDF53EA1AA1}"/>
              </a:ext>
            </a:extLst>
          </p:cNvPr>
          <p:cNvGraphicFramePr>
            <a:graphicFrameLocks noGrp="1"/>
          </p:cNvGraphicFramePr>
          <p:nvPr>
            <p:ph sz="half" idx="14"/>
            <p:extLst>
              <p:ext uri="{D42A27DB-BD31-4B8C-83A1-F6EECF244321}">
                <p14:modId xmlns:p14="http://schemas.microsoft.com/office/powerpoint/2010/main" val="1496328727"/>
              </p:ext>
            </p:extLst>
          </p:nvPr>
        </p:nvGraphicFramePr>
        <p:xfrm>
          <a:off x="3545425" y="2722418"/>
          <a:ext cx="4445179" cy="1630680"/>
        </p:xfrm>
        <a:graphic>
          <a:graphicData uri="http://schemas.openxmlformats.org/drawingml/2006/table">
            <a:tbl>
              <a:tblPr firstRow="1" bandRow="1">
                <a:tableStyleId>{5C22544A-7EE6-4342-B048-85BDC9FD1C3A}</a:tableStyleId>
              </a:tblPr>
              <a:tblGrid>
                <a:gridCol w="1357446">
                  <a:extLst>
                    <a:ext uri="{9D8B030D-6E8A-4147-A177-3AD203B41FA5}">
                      <a16:colId xmlns:a16="http://schemas.microsoft.com/office/drawing/2014/main" val="2738075493"/>
                    </a:ext>
                  </a:extLst>
                </a:gridCol>
                <a:gridCol w="1391994">
                  <a:extLst>
                    <a:ext uri="{9D8B030D-6E8A-4147-A177-3AD203B41FA5}">
                      <a16:colId xmlns:a16="http://schemas.microsoft.com/office/drawing/2014/main" val="194839431"/>
                    </a:ext>
                  </a:extLst>
                </a:gridCol>
                <a:gridCol w="1695739">
                  <a:extLst>
                    <a:ext uri="{9D8B030D-6E8A-4147-A177-3AD203B41FA5}">
                      <a16:colId xmlns:a16="http://schemas.microsoft.com/office/drawing/2014/main" val="3351520731"/>
                    </a:ext>
                  </a:extLst>
                </a:gridCol>
              </a:tblGrid>
              <a:tr h="370840">
                <a:tc>
                  <a:txBody>
                    <a:bodyPr/>
                    <a:lstStyle/>
                    <a:p>
                      <a:r>
                        <a:rPr lang="en-US" sz="1400">
                          <a:solidFill>
                            <a:sysClr val="windowText" lastClr="000000"/>
                          </a:solidFill>
                        </a:rPr>
                        <a:t>Confidence level</a:t>
                      </a:r>
                    </a:p>
                  </a:txBody>
                  <a:tcPr marL="144561" marR="14456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r>
                        <a:rPr lang="en-US" sz="1400">
                          <a:solidFill>
                            <a:sysClr val="windowText" lastClr="000000"/>
                          </a:solidFill>
                        </a:rPr>
                        <a:t>Margin of error</a:t>
                      </a:r>
                    </a:p>
                  </a:txBody>
                  <a:tcPr marL="144561" marR="14456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r>
                        <a:rPr lang="en-US" sz="1400">
                          <a:solidFill>
                            <a:sysClr val="windowText" lastClr="000000"/>
                          </a:solidFill>
                        </a:rPr>
                        <a:t>Interval estimate</a:t>
                      </a:r>
                    </a:p>
                  </a:txBody>
                  <a:tcPr marL="144561" marR="14456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2054746"/>
                  </a:ext>
                </a:extLst>
              </a:tr>
              <a:tr h="370840">
                <a:tc>
                  <a:txBody>
                    <a:bodyPr/>
                    <a:lstStyle/>
                    <a:p>
                      <a:r>
                        <a:rPr lang="en-US" sz="1400">
                          <a:solidFill>
                            <a:sysClr val="windowText" lastClr="000000"/>
                          </a:solidFill>
                        </a:rPr>
                        <a:t>90%</a:t>
                      </a:r>
                    </a:p>
                  </a:txBody>
                  <a:tcPr marL="144561" marR="14456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a:solidFill>
                            <a:sysClr val="windowText" lastClr="000000"/>
                          </a:solidFill>
                        </a:rPr>
                        <a:t>1,234</a:t>
                      </a:r>
                    </a:p>
                  </a:txBody>
                  <a:tcPr marL="144561" marR="14456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a:solidFill>
                            <a:sysClr val="windowText" lastClr="000000"/>
                          </a:solidFill>
                        </a:rPr>
                        <a:t>39,866 to 42,334</a:t>
                      </a:r>
                    </a:p>
                  </a:txBody>
                  <a:tcPr marL="144561" marR="14456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85772937"/>
                  </a:ext>
                </a:extLst>
              </a:tr>
              <a:tr h="370840">
                <a:tc>
                  <a:txBody>
                    <a:bodyPr/>
                    <a:lstStyle/>
                    <a:p>
                      <a:r>
                        <a:rPr lang="en-US" sz="1400">
                          <a:solidFill>
                            <a:sysClr val="windowText" lastClr="000000"/>
                          </a:solidFill>
                        </a:rPr>
                        <a:t>95%</a:t>
                      </a:r>
                    </a:p>
                  </a:txBody>
                  <a:tcPr marL="144561" marR="14456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a:solidFill>
                            <a:sysClr val="windowText" lastClr="000000"/>
                          </a:solidFill>
                        </a:rPr>
                        <a:t>1,470</a:t>
                      </a:r>
                    </a:p>
                  </a:txBody>
                  <a:tcPr marL="144561" marR="14456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a:solidFill>
                            <a:sysClr val="windowText" lastClr="000000"/>
                          </a:solidFill>
                        </a:rPr>
                        <a:t>39,630 to 42,570</a:t>
                      </a:r>
                    </a:p>
                  </a:txBody>
                  <a:tcPr marL="144561" marR="14456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94248076"/>
                  </a:ext>
                </a:extLst>
              </a:tr>
              <a:tr h="370840">
                <a:tc>
                  <a:txBody>
                    <a:bodyPr/>
                    <a:lstStyle/>
                    <a:p>
                      <a:r>
                        <a:rPr lang="en-US" sz="1400">
                          <a:solidFill>
                            <a:sysClr val="windowText" lastClr="000000"/>
                          </a:solidFill>
                        </a:rPr>
                        <a:t>99%</a:t>
                      </a:r>
                    </a:p>
                  </a:txBody>
                  <a:tcPr marL="144561" marR="14456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a:solidFill>
                            <a:sysClr val="windowText" lastClr="000000"/>
                          </a:solidFill>
                        </a:rPr>
                        <a:t>1,932</a:t>
                      </a:r>
                    </a:p>
                  </a:txBody>
                  <a:tcPr marL="144561" marR="14456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a:solidFill>
                            <a:sysClr val="windowText" lastClr="000000"/>
                          </a:solidFill>
                        </a:rPr>
                        <a:t>39,168 to 43,032</a:t>
                      </a:r>
                    </a:p>
                  </a:txBody>
                  <a:tcPr marL="144561" marR="14456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8984963"/>
                  </a:ext>
                </a:extLst>
              </a:tr>
            </a:tbl>
          </a:graphicData>
        </a:graphic>
      </p:graphicFrame>
      <p:pic>
        <p:nvPicPr>
          <p:cNvPr id="14" name="Content Placeholder 13" descr="Screenshot of table">
            <a:extLst>
              <a:ext uri="{FF2B5EF4-FFF2-40B4-BE49-F238E27FC236}">
                <a16:creationId xmlns:a16="http://schemas.microsoft.com/office/drawing/2014/main" id="{8CB3765A-87FF-448F-8CFF-99CD032E4616}"/>
              </a:ext>
            </a:extLst>
          </p:cNvPr>
          <p:cNvPicPr>
            <a:picLocks noGrp="1" noChangeAspect="1"/>
          </p:cNvPicPr>
          <p:nvPr>
            <p:ph sz="half" idx="2"/>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tretch>
            <a:fillRect/>
          </a:stretch>
        </p:blipFill>
        <p:spPr>
          <a:xfrm>
            <a:off x="3359807" y="2651876"/>
            <a:ext cx="4816414" cy="1731963"/>
          </a:xfrm>
        </p:spPr>
      </p:pic>
      <p:sp>
        <p:nvSpPr>
          <p:cNvPr id="6" name="Content Placeholder 5">
            <a:extLst>
              <a:ext uri="{FF2B5EF4-FFF2-40B4-BE49-F238E27FC236}">
                <a16:creationId xmlns:a16="http://schemas.microsoft.com/office/drawing/2014/main" id="{489BEBFD-EAEB-46C0-9D7F-13E0FF63D2E2}"/>
              </a:ext>
            </a:extLst>
          </p:cNvPr>
          <p:cNvSpPr>
            <a:spLocks noGrp="1"/>
          </p:cNvSpPr>
          <p:nvPr>
            <p:ph sz="half" idx="15"/>
          </p:nvPr>
        </p:nvSpPr>
        <p:spPr>
          <a:xfrm>
            <a:off x="210319" y="4958650"/>
            <a:ext cx="11115395" cy="908437"/>
          </a:xfrm>
        </p:spPr>
        <p:txBody>
          <a:bodyPr>
            <a:noAutofit/>
          </a:bodyPr>
          <a:lstStyle/>
          <a:p>
            <a:pPr marL="0" indent="0">
              <a:buNone/>
            </a:pPr>
            <a:r>
              <a:rPr lang="en-US" dirty="0">
                <a:solidFill>
                  <a:srgbClr val="000000"/>
                </a:solidFill>
                <a:cs typeface="Arial" panose="020B0604020202020204" pitchFamily="34" charset="0"/>
              </a:rPr>
              <a:t>In order to have a higher degree of confidence, the margin of error and thus the width of the confidence interval must be larger.</a:t>
            </a:r>
          </a:p>
          <a:p>
            <a:endParaRPr lang="en-US" dirty="0"/>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12</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sz="3200" kern="1200" dirty="0">
                <a:solidFill>
                  <a:srgbClr val="000000"/>
                </a:solidFill>
                <a:effectLst/>
                <a:latin typeface="Calibri" panose="020F0502020204030204" pitchFamily="34" charset="0"/>
                <a:ea typeface="+mj-ea"/>
                <a:cs typeface="Arial" panose="020B0604020202020204" pitchFamily="34" charset="0"/>
              </a:rPr>
              <a:t>Interval Estimate of a Population Mean:  </a:t>
            </a:r>
            <a:r>
              <a:rPr lang="el-GR" i="1" dirty="0"/>
              <a:t>σ</a:t>
            </a:r>
            <a:r>
              <a:rPr lang="en-US" sz="3200" kern="1200" dirty="0">
                <a:solidFill>
                  <a:srgbClr val="000000"/>
                </a:solidFill>
                <a:effectLst/>
                <a:latin typeface="Calibri" panose="020F0502020204030204" pitchFamily="34" charset="0"/>
                <a:ea typeface="+mj-ea"/>
                <a:cs typeface="Arial" panose="020B0604020202020204" pitchFamily="34" charset="0"/>
              </a:rPr>
              <a:t> Known </a:t>
            </a:r>
            <a:r>
              <a:rPr lang="en-US" sz="1600" dirty="0">
                <a:solidFill>
                  <a:srgbClr val="000000"/>
                </a:solidFill>
                <a:latin typeface="Calibri" panose="020F0502020204030204" pitchFamily="34" charset="0"/>
                <a:cs typeface="Arial" panose="020B0604020202020204" pitchFamily="34" charset="0"/>
              </a:rPr>
              <a:t>(5 of 5)</a:t>
            </a:r>
            <a:endParaRPr lang="en-US" dirty="0"/>
          </a:p>
        </p:txBody>
      </p:sp>
      <p:sp>
        <p:nvSpPr>
          <p:cNvPr id="8" name="Content Placeholder 7"/>
          <p:cNvSpPr>
            <a:spLocks noGrp="1"/>
          </p:cNvSpPr>
          <p:nvPr>
            <p:ph sz="half" idx="1"/>
          </p:nvPr>
        </p:nvSpPr>
        <p:spPr/>
        <p:txBody>
          <a:bodyPr>
            <a:noAutofit/>
          </a:bodyPr>
          <a:lstStyle/>
          <a:p>
            <a:pPr marL="0" indent="0">
              <a:lnSpc>
                <a:spcPct val="100000"/>
              </a:lnSpc>
              <a:spcAft>
                <a:spcPts val="1200"/>
              </a:spcAft>
              <a:buNone/>
            </a:pPr>
            <a:r>
              <a:rPr lang="en-US" dirty="0">
                <a:solidFill>
                  <a:srgbClr val="000000"/>
                </a:solidFill>
                <a:cs typeface="Arial" panose="020B0604020202020204" pitchFamily="34" charset="0"/>
              </a:rPr>
              <a:t>Adequate Sample Size</a:t>
            </a:r>
          </a:p>
        </p:txBody>
      </p:sp>
      <p:pic>
        <p:nvPicPr>
          <p:cNvPr id="7" name="Content Placeholder 6" descr="In most applications, a sample size of n greater than or equal to 30 is adequate.">
            <a:extLst>
              <a:ext uri="{FF2B5EF4-FFF2-40B4-BE49-F238E27FC236}">
                <a16:creationId xmlns:a16="http://schemas.microsoft.com/office/drawing/2014/main" id="{692F328F-5AC4-4BCC-954B-DB27D2D4D051}"/>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79625" y="2416527"/>
            <a:ext cx="7461293" cy="446989"/>
          </a:xfrm>
        </p:spPr>
      </p:pic>
      <p:sp>
        <p:nvSpPr>
          <p:cNvPr id="4" name="Content Placeholder 3">
            <a:extLst>
              <a:ext uri="{FF2B5EF4-FFF2-40B4-BE49-F238E27FC236}">
                <a16:creationId xmlns:a16="http://schemas.microsoft.com/office/drawing/2014/main" id="{4B1139E3-7FC8-4395-9086-4C42D7E2A1DF}"/>
              </a:ext>
            </a:extLst>
          </p:cNvPr>
          <p:cNvSpPr>
            <a:spLocks noGrp="1"/>
          </p:cNvSpPr>
          <p:nvPr>
            <p:ph sz="quarter" idx="13"/>
          </p:nvPr>
        </p:nvSpPr>
        <p:spPr>
          <a:xfrm>
            <a:off x="210313" y="2977843"/>
            <a:ext cx="11115400" cy="1316252"/>
          </a:xfrm>
        </p:spPr>
        <p:txBody>
          <a:bodyPr>
            <a:noAutofit/>
          </a:bodyPr>
          <a:lstStyle/>
          <a:p>
            <a:pPr lvl="1">
              <a:lnSpc>
                <a:spcPct val="100000"/>
              </a:lnSpc>
              <a:spcAft>
                <a:spcPts val="1200"/>
              </a:spcAft>
            </a:pPr>
            <a:r>
              <a:rPr lang="en-US" dirty="0">
                <a:solidFill>
                  <a:srgbClr val="000000"/>
                </a:solidFill>
                <a:cs typeface="Arial" panose="020B0604020202020204" pitchFamily="34" charset="0"/>
              </a:rPr>
              <a:t>If the population distribution is highly skewed or contains outliers, a sample size of 50 or more is recommended.</a:t>
            </a:r>
          </a:p>
          <a:p>
            <a:pPr lvl="1">
              <a:lnSpc>
                <a:spcPct val="100000"/>
              </a:lnSpc>
              <a:spcAft>
                <a:spcPts val="1200"/>
              </a:spcAft>
            </a:pPr>
            <a:r>
              <a:rPr lang="en-US" dirty="0">
                <a:solidFill>
                  <a:srgbClr val="000000"/>
                </a:solidFill>
                <a:cs typeface="Arial" panose="020B0604020202020204" pitchFamily="34" charset="0"/>
              </a:rPr>
              <a:t>If the population is not normally distributed but is roughly symmetric, a sample size as small as 15 will suffice.</a:t>
            </a:r>
            <a:endParaRPr lang="en-US" dirty="0">
              <a:solidFill>
                <a:prstClr val="black"/>
              </a:solidFill>
            </a:endParaRPr>
          </a:p>
          <a:p>
            <a:pPr lvl="1">
              <a:lnSpc>
                <a:spcPct val="100000"/>
              </a:lnSpc>
              <a:spcAft>
                <a:spcPts val="1200"/>
              </a:spcAft>
            </a:pPr>
            <a:r>
              <a:rPr lang="en-US" dirty="0">
                <a:solidFill>
                  <a:srgbClr val="000000"/>
                </a:solidFill>
                <a:cs typeface="Arial" panose="020B0604020202020204" pitchFamily="34" charset="0"/>
              </a:rPr>
              <a:t>If the population is believed to be at least approximately normal, a sample size of less than 15 can be used.</a:t>
            </a:r>
            <a:endParaRPr lang="en-US" sz="2000" dirty="0">
              <a:solidFill>
                <a:srgbClr val="000000"/>
              </a:solidFill>
              <a:cs typeface="Arial" panose="020B0604020202020204" pitchFamily="34" charset="0"/>
            </a:endParaRPr>
          </a:p>
          <a:p>
            <a:pPr marL="0" indent="0">
              <a:buNone/>
            </a:pPr>
            <a:endParaRPr lang="en-US" dirty="0"/>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13</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kern="1200" dirty="0">
                <a:solidFill>
                  <a:srgbClr val="000000"/>
                </a:solidFill>
                <a:effectLst/>
                <a:latin typeface="Calibri" panose="020F0502020204030204" pitchFamily="34" charset="0"/>
                <a:ea typeface="+mj-ea"/>
                <a:cs typeface="Arial" panose="020B0604020202020204" pitchFamily="34" charset="0"/>
              </a:rPr>
              <a:t>Interval Estimate of a Population Mean:  </a:t>
            </a:r>
            <a:r>
              <a:rPr lang="el-GR" i="1" dirty="0"/>
              <a:t>σ</a:t>
            </a:r>
            <a:r>
              <a:rPr lang="en-US" sz="3200" kern="1200" dirty="0">
                <a:solidFill>
                  <a:srgbClr val="000000"/>
                </a:solidFill>
                <a:effectLst/>
                <a:latin typeface="Calibri" panose="020F0502020204030204" pitchFamily="34" charset="0"/>
                <a:ea typeface="+mj-ea"/>
                <a:cs typeface="Arial" panose="020B0604020202020204" pitchFamily="34" charset="0"/>
              </a:rPr>
              <a:t>  unknown</a:t>
            </a:r>
            <a:endParaRPr lang="en-US" dirty="0"/>
          </a:p>
        </p:txBody>
      </p:sp>
      <p:pic>
        <p:nvPicPr>
          <p:cNvPr id="8" name="Content Placeholder 7" descr="If an estimate of the population standard deviation sigma cannot be developed prior to sampling, we use the sample standard deviation s to estimate sigma. This is the sigma unknown case. In this case, the interval estimate for mu is based on the t distribution.">
            <a:extLst>
              <a:ext uri="{FF2B5EF4-FFF2-40B4-BE49-F238E27FC236}">
                <a16:creationId xmlns:a16="http://schemas.microsoft.com/office/drawing/2014/main" id="{B3C28A81-C729-4C15-AA77-FBD77C0C2683}"/>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48265" y="1558704"/>
            <a:ext cx="12012555" cy="1937922"/>
          </a:xfrm>
        </p:spPr>
      </p:pic>
      <p:sp>
        <p:nvSpPr>
          <p:cNvPr id="4" name="Content Placeholder 3">
            <a:extLst>
              <a:ext uri="{FF2B5EF4-FFF2-40B4-BE49-F238E27FC236}">
                <a16:creationId xmlns:a16="http://schemas.microsoft.com/office/drawing/2014/main" id="{AB144518-2E6F-41B5-A26A-9B2C5A2A67BD}"/>
              </a:ext>
            </a:extLst>
          </p:cNvPr>
          <p:cNvSpPr>
            <a:spLocks noGrp="1"/>
          </p:cNvSpPr>
          <p:nvPr>
            <p:ph sz="half" idx="2"/>
          </p:nvPr>
        </p:nvSpPr>
        <p:spPr>
          <a:xfrm>
            <a:off x="48265" y="3519776"/>
            <a:ext cx="11115400" cy="1316252"/>
          </a:xfrm>
        </p:spPr>
        <p:txBody>
          <a:bodyPr>
            <a:noAutofit/>
          </a:bodyPr>
          <a:lstStyle/>
          <a:p>
            <a:pPr lvl="0"/>
            <a:r>
              <a:rPr lang="en-US" sz="2600" dirty="0">
                <a:solidFill>
                  <a:srgbClr val="000000"/>
                </a:solidFill>
                <a:cs typeface="Arial" panose="020B0604020202020204" pitchFamily="34" charset="0"/>
              </a:rPr>
              <a:t>We’ll assume for now that the population is normally distributed.</a:t>
            </a:r>
          </a:p>
          <a:p>
            <a:endParaRPr lang="en-US" dirty="0"/>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pPr/>
              <a:t>14</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2742" y="599888"/>
            <a:ext cx="10489585" cy="727075"/>
          </a:xfrm>
        </p:spPr>
        <p:txBody>
          <a:bodyPr>
            <a:noAutofit/>
          </a:bodyPr>
          <a:lstStyle/>
          <a:p>
            <a:pPr rtl="0" eaLnBrk="0" fontAlgn="base" hangingPunct="0"/>
            <a:r>
              <a:rPr lang="en-US" sz="3200" i="1" kern="1200" dirty="0">
                <a:solidFill>
                  <a:srgbClr val="000000"/>
                </a:solidFill>
                <a:effectLst/>
                <a:latin typeface="Calibri" panose="020F0502020204030204" pitchFamily="34" charset="0"/>
                <a:ea typeface="+mn-ea"/>
                <a:cs typeface="Arial" panose="020B0604020202020204" pitchFamily="34" charset="0"/>
              </a:rPr>
              <a:t>t</a:t>
            </a:r>
            <a:r>
              <a:rPr lang="en-US" sz="3200" kern="1200" dirty="0">
                <a:solidFill>
                  <a:srgbClr val="000000"/>
                </a:solidFill>
                <a:effectLst/>
                <a:latin typeface="Calibri" panose="020F0502020204030204" pitchFamily="34" charset="0"/>
                <a:ea typeface="+mn-ea"/>
                <a:cs typeface="Arial" panose="020B0604020202020204" pitchFamily="34" charset="0"/>
              </a:rPr>
              <a:t>  Distribution </a:t>
            </a:r>
            <a:r>
              <a:rPr lang="en-US" sz="1800" kern="1200" dirty="0">
                <a:solidFill>
                  <a:srgbClr val="000000"/>
                </a:solidFill>
                <a:effectLst/>
                <a:latin typeface="Calibri" panose="020F0502020204030204" pitchFamily="34" charset="0"/>
                <a:ea typeface="+mn-ea"/>
                <a:cs typeface="Arial" panose="020B0604020202020204" pitchFamily="34" charset="0"/>
              </a:rPr>
              <a:t>(1 of 4)</a:t>
            </a:r>
            <a:endParaRPr lang="en-US" dirty="0">
              <a:effectLst/>
            </a:endParaRPr>
          </a:p>
        </p:txBody>
      </p:sp>
      <p:sp>
        <p:nvSpPr>
          <p:cNvPr id="4" name="Content Placeholder 3"/>
          <p:cNvSpPr>
            <a:spLocks noGrp="1"/>
          </p:cNvSpPr>
          <p:nvPr>
            <p:ph idx="1"/>
          </p:nvPr>
        </p:nvSpPr>
        <p:spPr>
          <a:xfrm>
            <a:off x="132742" y="1326963"/>
            <a:ext cx="11503249" cy="4572000"/>
          </a:xfrm>
        </p:spPr>
        <p:txBody>
          <a:bodyPr>
            <a:noAutofit/>
          </a:bodyPr>
          <a:lstStyle/>
          <a:p>
            <a:r>
              <a:rPr lang="en-US" dirty="0">
                <a:solidFill>
                  <a:srgbClr val="000000"/>
                </a:solidFill>
                <a:cs typeface="Arial" panose="020B0604020202020204" pitchFamily="34" charset="0"/>
              </a:rPr>
              <a:t>William Gosset, writing under the name “Student,” is the founder of the </a:t>
            </a:r>
            <a:r>
              <a:rPr lang="en-US" i="1" dirty="0">
                <a:solidFill>
                  <a:srgbClr val="000000"/>
                </a:solidFill>
                <a:cs typeface="Arial" panose="020B0604020202020204" pitchFamily="34" charset="0"/>
              </a:rPr>
              <a:t>t</a:t>
            </a:r>
            <a:r>
              <a:rPr lang="en-US" dirty="0">
                <a:solidFill>
                  <a:srgbClr val="000000"/>
                </a:solidFill>
                <a:cs typeface="Arial" panose="020B0604020202020204" pitchFamily="34" charset="0"/>
              </a:rPr>
              <a:t> distribution.</a:t>
            </a:r>
          </a:p>
          <a:p>
            <a:r>
              <a:rPr lang="en-US" dirty="0">
                <a:solidFill>
                  <a:srgbClr val="000000"/>
                </a:solidFill>
                <a:cs typeface="Arial" panose="020B0604020202020204" pitchFamily="34" charset="0"/>
              </a:rPr>
              <a:t>Gosset was an Oxford graduate in mathematics and worked for the Guinness Brewery in Dublin.</a:t>
            </a:r>
          </a:p>
          <a:p>
            <a:r>
              <a:rPr lang="en-US" dirty="0">
                <a:solidFill>
                  <a:srgbClr val="000000"/>
                </a:solidFill>
                <a:cs typeface="Arial" panose="020B0604020202020204" pitchFamily="34" charset="0"/>
              </a:rPr>
              <a:t>He developed the </a:t>
            </a:r>
            <a:r>
              <a:rPr lang="en-US" i="1" dirty="0">
                <a:solidFill>
                  <a:srgbClr val="000000"/>
                </a:solidFill>
                <a:cs typeface="Arial" panose="020B0604020202020204" pitchFamily="34" charset="0"/>
              </a:rPr>
              <a:t>t</a:t>
            </a:r>
            <a:r>
              <a:rPr lang="en-US" dirty="0">
                <a:solidFill>
                  <a:srgbClr val="000000"/>
                </a:solidFill>
                <a:cs typeface="Arial" panose="020B0604020202020204" pitchFamily="34" charset="0"/>
              </a:rPr>
              <a:t> distribution while working on small-scale materials and temperature experiments.</a:t>
            </a:r>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15</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2742" y="529230"/>
            <a:ext cx="10489585" cy="727075"/>
          </a:xfrm>
        </p:spPr>
        <p:txBody>
          <a:bodyPr>
            <a:noAutofit/>
          </a:bodyPr>
          <a:lstStyle/>
          <a:p>
            <a:pPr eaLnBrk="0" fontAlgn="base" hangingPunct="0"/>
            <a:r>
              <a:rPr lang="en-US" sz="3200" i="1" kern="1200" dirty="0">
                <a:solidFill>
                  <a:srgbClr val="000000"/>
                </a:solidFill>
                <a:effectLst/>
                <a:latin typeface="Calibri" panose="020F0502020204030204" pitchFamily="34" charset="0"/>
                <a:ea typeface="+mn-ea"/>
                <a:cs typeface="Arial" panose="020B0604020202020204" pitchFamily="34" charset="0"/>
              </a:rPr>
              <a:t>t</a:t>
            </a:r>
            <a:r>
              <a:rPr lang="en-US" sz="3200" kern="1200" dirty="0">
                <a:solidFill>
                  <a:srgbClr val="000000"/>
                </a:solidFill>
                <a:effectLst/>
                <a:latin typeface="Calibri" panose="020F0502020204030204" pitchFamily="34" charset="0"/>
                <a:ea typeface="+mn-ea"/>
                <a:cs typeface="Arial" panose="020B0604020202020204" pitchFamily="34" charset="0"/>
              </a:rPr>
              <a:t>  Distribution</a:t>
            </a:r>
            <a:r>
              <a:rPr lang="en-US" sz="1800" dirty="0">
                <a:solidFill>
                  <a:srgbClr val="000000"/>
                </a:solidFill>
                <a:latin typeface="Calibri" panose="020F0502020204030204" pitchFamily="34" charset="0"/>
                <a:cs typeface="Arial" panose="020B0604020202020204" pitchFamily="34" charset="0"/>
              </a:rPr>
              <a:t> (2 of 4)</a:t>
            </a:r>
            <a:endParaRPr lang="en-US" dirty="0">
              <a:effectLst/>
            </a:endParaRPr>
          </a:p>
        </p:txBody>
      </p:sp>
      <p:sp>
        <p:nvSpPr>
          <p:cNvPr id="4" name="Content Placeholder 3"/>
          <p:cNvSpPr>
            <a:spLocks noGrp="1"/>
          </p:cNvSpPr>
          <p:nvPr>
            <p:ph idx="1"/>
          </p:nvPr>
        </p:nvSpPr>
        <p:spPr>
          <a:xfrm>
            <a:off x="210189" y="1256305"/>
            <a:ext cx="11646866" cy="4572000"/>
          </a:xfrm>
        </p:spPr>
        <p:txBody>
          <a:bodyPr>
            <a:noAutofit/>
          </a:bodyPr>
          <a:lstStyle/>
          <a:p>
            <a:pPr marL="342900" indent="-342900"/>
            <a:r>
              <a:rPr lang="en-US" dirty="0">
                <a:solidFill>
                  <a:srgbClr val="000000"/>
                </a:solidFill>
                <a:cs typeface="Arial" panose="020B0604020202020204" pitchFamily="34" charset="0"/>
              </a:rPr>
              <a:t>The </a:t>
            </a:r>
            <a:r>
              <a:rPr lang="en-US" i="1" u="sng" dirty="0">
                <a:solidFill>
                  <a:srgbClr val="000000"/>
                </a:solidFill>
                <a:cs typeface="Arial" panose="020B0604020202020204" pitchFamily="34" charset="0"/>
              </a:rPr>
              <a:t>t </a:t>
            </a:r>
            <a:r>
              <a:rPr lang="en-US" u="sng" dirty="0">
                <a:solidFill>
                  <a:srgbClr val="000000"/>
                </a:solidFill>
                <a:cs typeface="Arial" panose="020B0604020202020204" pitchFamily="34" charset="0"/>
              </a:rPr>
              <a:t>distribution</a:t>
            </a:r>
            <a:r>
              <a:rPr lang="en-US" dirty="0">
                <a:solidFill>
                  <a:srgbClr val="000000"/>
                </a:solidFill>
                <a:cs typeface="Arial" panose="020B0604020202020204" pitchFamily="34" charset="0"/>
              </a:rPr>
              <a:t> is a family of similar probability distributions.</a:t>
            </a:r>
          </a:p>
          <a:p>
            <a:pPr marL="342900" indent="-342900"/>
            <a:r>
              <a:rPr lang="en-US" dirty="0">
                <a:solidFill>
                  <a:srgbClr val="000000"/>
                </a:solidFill>
                <a:cs typeface="Arial" panose="020B0604020202020204" pitchFamily="34" charset="0"/>
              </a:rPr>
              <a:t>A specific </a:t>
            </a:r>
            <a:r>
              <a:rPr lang="en-US" i="1" dirty="0">
                <a:solidFill>
                  <a:srgbClr val="000000"/>
                </a:solidFill>
                <a:cs typeface="Arial" panose="020B0604020202020204" pitchFamily="34" charset="0"/>
              </a:rPr>
              <a:t>t</a:t>
            </a:r>
            <a:r>
              <a:rPr lang="en-US" dirty="0">
                <a:solidFill>
                  <a:srgbClr val="000000"/>
                </a:solidFill>
                <a:cs typeface="Arial" panose="020B0604020202020204" pitchFamily="34" charset="0"/>
              </a:rPr>
              <a:t> distribution depends on a parameter known as the </a:t>
            </a:r>
            <a:r>
              <a:rPr lang="en-US" u="sng" dirty="0">
                <a:solidFill>
                  <a:srgbClr val="000000"/>
                </a:solidFill>
                <a:cs typeface="Arial" panose="020B0604020202020204" pitchFamily="34" charset="0"/>
              </a:rPr>
              <a:t>degrees of freedom</a:t>
            </a:r>
            <a:r>
              <a:rPr lang="en-US" dirty="0">
                <a:solidFill>
                  <a:srgbClr val="000000"/>
                </a:solidFill>
                <a:cs typeface="Arial" panose="020B0604020202020204" pitchFamily="34" charset="0"/>
              </a:rPr>
              <a:t>.</a:t>
            </a:r>
          </a:p>
          <a:p>
            <a:pPr marL="342900" indent="-342900"/>
            <a:r>
              <a:rPr lang="en-US" dirty="0">
                <a:solidFill>
                  <a:srgbClr val="000000"/>
                </a:solidFill>
                <a:cs typeface="Arial" panose="020B0604020202020204" pitchFamily="34" charset="0"/>
              </a:rPr>
              <a:t>Degrees of freedom refer to the number of independent pieces of information that go into the computation of </a:t>
            </a:r>
            <a:r>
              <a:rPr lang="en-US" i="1" dirty="0">
                <a:solidFill>
                  <a:srgbClr val="000000"/>
                </a:solidFill>
                <a:cs typeface="Arial" panose="020B0604020202020204" pitchFamily="34" charset="0"/>
              </a:rPr>
              <a:t>s</a:t>
            </a:r>
            <a:r>
              <a:rPr lang="en-US" dirty="0">
                <a:solidFill>
                  <a:srgbClr val="000000"/>
                </a:solidFill>
                <a:cs typeface="Arial" panose="020B0604020202020204" pitchFamily="34" charset="0"/>
              </a:rPr>
              <a:t>.</a:t>
            </a:r>
          </a:p>
          <a:p>
            <a:r>
              <a:rPr lang="en-US" dirty="0">
                <a:solidFill>
                  <a:srgbClr val="000000"/>
                </a:solidFill>
                <a:cs typeface="Arial" panose="020B0604020202020204" pitchFamily="34" charset="0"/>
              </a:rPr>
              <a:t>A </a:t>
            </a:r>
            <a:r>
              <a:rPr lang="en-US" i="1" dirty="0">
                <a:solidFill>
                  <a:srgbClr val="000000"/>
                </a:solidFill>
                <a:cs typeface="Arial" panose="020B0604020202020204" pitchFamily="34" charset="0"/>
              </a:rPr>
              <a:t>t</a:t>
            </a:r>
            <a:r>
              <a:rPr lang="en-US" dirty="0">
                <a:solidFill>
                  <a:srgbClr val="000000"/>
                </a:solidFill>
                <a:cs typeface="Arial" panose="020B0604020202020204" pitchFamily="34" charset="0"/>
              </a:rPr>
              <a:t> distribution with more degrees of freedom has less dispersion.</a:t>
            </a:r>
          </a:p>
          <a:p>
            <a:r>
              <a:rPr lang="en-US" dirty="0">
                <a:solidFill>
                  <a:srgbClr val="000000"/>
                </a:solidFill>
                <a:cs typeface="Arial" panose="020B0604020202020204" pitchFamily="34" charset="0"/>
              </a:rPr>
              <a:t>As the degrees of freedom increases, the difference between the </a:t>
            </a:r>
            <a:r>
              <a:rPr lang="en-US" i="1" dirty="0">
                <a:solidFill>
                  <a:srgbClr val="000000"/>
                </a:solidFill>
                <a:cs typeface="Arial" panose="020B0604020202020204" pitchFamily="34" charset="0"/>
              </a:rPr>
              <a:t>t</a:t>
            </a:r>
            <a:r>
              <a:rPr lang="en-US" dirty="0">
                <a:solidFill>
                  <a:srgbClr val="000000"/>
                </a:solidFill>
                <a:cs typeface="Arial" panose="020B0604020202020204" pitchFamily="34" charset="0"/>
              </a:rPr>
              <a:t> distribution and the standard normal probability distribution becomes smaller and smaller.</a:t>
            </a:r>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16</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pPr eaLnBrk="0" fontAlgn="base" hangingPunct="0"/>
            <a:r>
              <a:rPr lang="en-US" sz="3200" i="1" kern="1200">
                <a:solidFill>
                  <a:srgbClr val="000000"/>
                </a:solidFill>
                <a:effectLst/>
                <a:latin typeface="Calibri" panose="020F0502020204030204" pitchFamily="34" charset="0"/>
                <a:ea typeface="+mn-ea"/>
                <a:cs typeface="Arial" panose="020B0604020202020204" pitchFamily="34" charset="0"/>
              </a:rPr>
              <a:t>t</a:t>
            </a:r>
            <a:r>
              <a:rPr lang="en-US" sz="3200" kern="1200">
                <a:solidFill>
                  <a:srgbClr val="000000"/>
                </a:solidFill>
                <a:effectLst/>
                <a:latin typeface="Calibri" panose="020F0502020204030204" pitchFamily="34" charset="0"/>
                <a:ea typeface="+mn-ea"/>
                <a:cs typeface="Arial" panose="020B0604020202020204" pitchFamily="34" charset="0"/>
              </a:rPr>
              <a:t>  Distribution</a:t>
            </a:r>
            <a:r>
              <a:rPr lang="en-US" sz="1800">
                <a:solidFill>
                  <a:srgbClr val="000000"/>
                </a:solidFill>
                <a:latin typeface="Calibri" panose="020F0502020204030204" pitchFamily="34" charset="0"/>
                <a:cs typeface="Arial" panose="020B0604020202020204" pitchFamily="34" charset="0"/>
              </a:rPr>
              <a:t> (3 of 4)</a:t>
            </a:r>
            <a:endParaRPr lang="en-US" dirty="0">
              <a:effectLst/>
            </a:endParaRPr>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95E3EAD8-E3C7-49A8-9171-DA90F4AA190A}"/>
                  </a:ext>
                </a:extLst>
              </p:cNvPr>
              <p:cNvSpPr>
                <a:spLocks noGrp="1"/>
              </p:cNvSpPr>
              <p:nvPr>
                <p:ph sz="half" idx="1"/>
              </p:nvPr>
            </p:nvSpPr>
            <p:spPr/>
            <p:txBody>
              <a:bodyPr>
                <a:noAutofit/>
              </a:bodyPr>
              <a:lstStyle/>
              <a:p>
                <a:r>
                  <a:rPr lang="en-US" dirty="0">
                    <a:solidFill>
                      <a:srgbClr val="000000"/>
                    </a:solidFill>
                    <a:cs typeface="Arial" panose="020B0604020202020204" pitchFamily="34" charset="0"/>
                  </a:rPr>
                  <a:t>For more than 100 degrees of freedom, the standard normal </a:t>
                </a:r>
                <a:r>
                  <a:rPr lang="en-US" i="1" dirty="0">
                    <a:solidFill>
                      <a:srgbClr val="000000"/>
                    </a:solidFill>
                    <a:cs typeface="Arial" panose="020B0604020202020204" pitchFamily="34" charset="0"/>
                  </a:rPr>
                  <a:t>z</a:t>
                </a:r>
                <a:r>
                  <a:rPr lang="en-US" dirty="0">
                    <a:solidFill>
                      <a:srgbClr val="000000"/>
                    </a:solidFill>
                    <a:cs typeface="Arial" panose="020B0604020202020204" pitchFamily="34" charset="0"/>
                  </a:rPr>
                  <a:t> value provides a good approximation to the </a:t>
                </a:r>
                <a:r>
                  <a:rPr lang="en-US" i="1" dirty="0">
                    <a:solidFill>
                      <a:srgbClr val="000000"/>
                    </a:solidFill>
                    <a:cs typeface="Arial" panose="020B0604020202020204" pitchFamily="34" charset="0"/>
                  </a:rPr>
                  <a:t>t</a:t>
                </a:r>
                <a:r>
                  <a:rPr lang="en-US" dirty="0">
                    <a:solidFill>
                      <a:srgbClr val="000000"/>
                    </a:solidFill>
                    <a:cs typeface="Arial" panose="020B0604020202020204" pitchFamily="34" charset="0"/>
                  </a:rPr>
                  <a:t> value.</a:t>
                </a:r>
              </a:p>
              <a:p>
                <a:r>
                  <a:rPr lang="en-US" dirty="0">
                    <a:solidFill>
                      <a:srgbClr val="000000"/>
                    </a:solidFill>
                    <a:cs typeface="Arial" panose="020B0604020202020204" pitchFamily="34" charset="0"/>
                  </a:rPr>
                  <a:t>The standard normal </a:t>
                </a:r>
                <a:r>
                  <a:rPr lang="en-US" i="1" dirty="0">
                    <a:solidFill>
                      <a:srgbClr val="000000"/>
                    </a:solidFill>
                    <a:cs typeface="Arial" panose="020B0604020202020204" pitchFamily="34" charset="0"/>
                  </a:rPr>
                  <a:t>z</a:t>
                </a:r>
                <a:r>
                  <a:rPr lang="en-US" dirty="0">
                    <a:solidFill>
                      <a:srgbClr val="000000"/>
                    </a:solidFill>
                    <a:cs typeface="Arial" panose="020B0604020202020204" pitchFamily="34" charset="0"/>
                  </a:rPr>
                  <a:t> values can be found in the infinite degrees (</a:t>
                </a:r>
                <a14:m>
                  <m:oMath xmlns:m="http://schemas.openxmlformats.org/officeDocument/2006/math">
                    <m:r>
                      <a:rPr lang="en-US" i="1">
                        <a:solidFill>
                          <a:srgbClr val="000000"/>
                        </a:solidFill>
                        <a:latin typeface="Cambria Math"/>
                        <a:ea typeface="Cambria Math"/>
                      </a:rPr>
                      <m:t>∞</m:t>
                    </m:r>
                  </m:oMath>
                </a14:m>
                <a:r>
                  <a:rPr lang="en-US" dirty="0">
                    <a:solidFill>
                      <a:srgbClr val="000000"/>
                    </a:solidFill>
                    <a:cs typeface="Arial" panose="020B0604020202020204" pitchFamily="34" charset="0"/>
                  </a:rPr>
                  <a:t>) row of the </a:t>
                </a:r>
                <a:r>
                  <a:rPr lang="en-US" i="1" dirty="0">
                    <a:solidFill>
                      <a:srgbClr val="000000"/>
                    </a:solidFill>
                    <a:cs typeface="Arial" panose="020B0604020202020204" pitchFamily="34" charset="0"/>
                  </a:rPr>
                  <a:t>t</a:t>
                </a:r>
                <a:r>
                  <a:rPr lang="en-US" dirty="0">
                    <a:solidFill>
                      <a:srgbClr val="000000"/>
                    </a:solidFill>
                    <a:cs typeface="Arial" panose="020B0604020202020204" pitchFamily="34" charset="0"/>
                  </a:rPr>
                  <a:t> distribution table.</a:t>
                </a:r>
              </a:p>
            </p:txBody>
          </p:sp>
        </mc:Choice>
        <mc:Fallback xmlns="">
          <p:sp>
            <p:nvSpPr>
              <p:cNvPr id="5" name="Content Placeholder 3">
                <a:extLst>
                  <a:ext uri="{FF2B5EF4-FFF2-40B4-BE49-F238E27FC236}">
                    <a16:creationId xmlns:a16="http://schemas.microsoft.com/office/drawing/2014/main" id="{95E3EAD8-E3C7-49A8-9171-DA90F4AA190A}"/>
                  </a:ext>
                </a:extLst>
              </p:cNvPr>
              <p:cNvSpPr>
                <a:spLocks noGrp="1" noRot="1" noChangeAspect="1" noMove="1" noResize="1" noEditPoints="1" noAdjustHandles="1" noChangeArrowheads="1" noChangeShapeType="1" noTextEdit="1"/>
              </p:cNvSpPr>
              <p:nvPr>
                <p:ph sz="half" idx="1"/>
              </p:nvPr>
            </p:nvSpPr>
            <p:spPr>
              <a:blipFill>
                <a:blip r:embed="rId5"/>
                <a:stretch>
                  <a:fillRect l="-987" t="-10738" r="-1371" b="-112081"/>
                </a:stretch>
              </a:blipFill>
            </p:spPr>
            <p:txBody>
              <a:bodyPr/>
              <a:lstStyle/>
              <a:p>
                <a:r>
                  <a:rPr lang="en-US">
                    <a:noFill/>
                  </a:rPr>
                  <a:t> </a:t>
                </a:r>
              </a:p>
            </p:txBody>
          </p:sp>
        </mc:Fallback>
      </mc:AlternateContent>
      <p:pic>
        <p:nvPicPr>
          <p:cNvPr id="10" name="Content Placeholder 9" descr="A distribution curve with a horizontal line labeled z comma t. At the center of the line is 0, and this is where three curves peak. The curve with highest peak is standard normal distribution, the curve with second highest peak is t distribution with 20 degrees of freedom, and the curve with lowest peak is t distribution with 10 degrees of freedom.">
            <a:extLst>
              <a:ext uri="{FF2B5EF4-FFF2-40B4-BE49-F238E27FC236}">
                <a16:creationId xmlns:a16="http://schemas.microsoft.com/office/drawing/2014/main" id="{9F145DF5-8F54-4352-B12F-7F5A7981886A}"/>
              </a:ext>
            </a:extLst>
          </p:cNvPr>
          <p:cNvPicPr>
            <a:picLocks noGrp="1" noChangeAspect="1"/>
          </p:cNvPicPr>
          <p:nvPr>
            <p:ph sz="half" idx="14"/>
          </p:nvPr>
        </p:nvPicPr>
        <p:blipFill>
          <a:blip r:embed="rId6">
            <a:extLst>
              <a:ext uri="{28A0092B-C50C-407E-A947-70E740481C1C}">
                <a14:useLocalDpi xmlns:a14="http://schemas.microsoft.com/office/drawing/2010/main" val="0"/>
              </a:ext>
            </a:extLst>
          </a:blip>
          <a:stretch>
            <a:fillRect/>
          </a:stretch>
        </p:blipFill>
        <p:spPr>
          <a:xfrm>
            <a:off x="2945219" y="3567224"/>
            <a:ext cx="6059611" cy="2546056"/>
          </a:xfrm>
        </p:spPr>
      </p:pic>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17</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58"/>
          <p:cNvSpPr>
            <a:spLocks noGrp="1"/>
          </p:cNvSpPr>
          <p:nvPr>
            <p:ph type="title"/>
          </p:nvPr>
        </p:nvSpPr>
        <p:spPr/>
        <p:txBody>
          <a:bodyPr>
            <a:noAutofit/>
          </a:bodyPr>
          <a:lstStyle/>
          <a:p>
            <a:pPr eaLnBrk="0" fontAlgn="base" hangingPunct="0"/>
            <a:r>
              <a:rPr lang="en-US" sz="3200" i="1" kern="1200">
                <a:solidFill>
                  <a:srgbClr val="000000"/>
                </a:solidFill>
                <a:effectLst/>
                <a:latin typeface="Calibri" panose="020F0502020204030204" pitchFamily="34" charset="0"/>
                <a:ea typeface="+mn-ea"/>
                <a:cs typeface="Arial" panose="020B0604020202020204" pitchFamily="34" charset="0"/>
              </a:rPr>
              <a:t>t</a:t>
            </a:r>
            <a:r>
              <a:rPr lang="en-US" sz="3200" kern="1200">
                <a:solidFill>
                  <a:srgbClr val="000000"/>
                </a:solidFill>
                <a:effectLst/>
                <a:latin typeface="Calibri" panose="020F0502020204030204" pitchFamily="34" charset="0"/>
                <a:ea typeface="+mn-ea"/>
                <a:cs typeface="Arial" panose="020B0604020202020204" pitchFamily="34" charset="0"/>
              </a:rPr>
              <a:t>  Distribution</a:t>
            </a:r>
            <a:r>
              <a:rPr lang="en-US" sz="1800">
                <a:solidFill>
                  <a:srgbClr val="000000"/>
                </a:solidFill>
                <a:latin typeface="Calibri" panose="020F0502020204030204" pitchFamily="34" charset="0"/>
                <a:cs typeface="Arial" panose="020B0604020202020204" pitchFamily="34" charset="0"/>
              </a:rPr>
              <a:t> (4 of 4)</a:t>
            </a:r>
            <a:endParaRPr lang="en-US" dirty="0">
              <a:effectLst/>
            </a:endParaRPr>
          </a:p>
        </p:txBody>
      </p:sp>
      <p:graphicFrame>
        <p:nvGraphicFramePr>
          <p:cNvPr id="9" name="Content Placeholder 8" descr="Table with 7 columns and 6 rows. Column headers are Degrees of Freedom, .20 area in upper tail, .10 area in upper tail, .05 area in upper tail, .025 area in upper tail, .01 area in upper tail, and .005 area in upper tail. Bottom row of the table is standard normal z values.">
            <a:extLst>
              <a:ext uri="{FF2B5EF4-FFF2-40B4-BE49-F238E27FC236}">
                <a16:creationId xmlns:a16="http://schemas.microsoft.com/office/drawing/2014/main" id="{9F353504-2C9F-47A4-B02C-9252C2EF9303}"/>
              </a:ext>
            </a:extLst>
          </p:cNvPr>
          <p:cNvGraphicFramePr>
            <a:graphicFrameLocks noGrp="1"/>
          </p:cNvGraphicFramePr>
          <p:nvPr>
            <p:ph sz="half" idx="1"/>
            <p:extLst>
              <p:ext uri="{D42A27DB-BD31-4B8C-83A1-F6EECF244321}">
                <p14:modId xmlns:p14="http://schemas.microsoft.com/office/powerpoint/2010/main" val="496046215"/>
              </p:ext>
            </p:extLst>
          </p:nvPr>
        </p:nvGraphicFramePr>
        <p:xfrm>
          <a:off x="1309889" y="1686655"/>
          <a:ext cx="9110017" cy="2768600"/>
        </p:xfrm>
        <a:graphic>
          <a:graphicData uri="http://schemas.openxmlformats.org/drawingml/2006/table">
            <a:tbl>
              <a:tblPr firstRow="1" bandRow="1">
                <a:tableStyleId>{5C22544A-7EE6-4342-B048-85BDC9FD1C3A}</a:tableStyleId>
              </a:tblPr>
              <a:tblGrid>
                <a:gridCol w="1301431">
                  <a:extLst>
                    <a:ext uri="{9D8B030D-6E8A-4147-A177-3AD203B41FA5}">
                      <a16:colId xmlns:a16="http://schemas.microsoft.com/office/drawing/2014/main" val="2788994239"/>
                    </a:ext>
                  </a:extLst>
                </a:gridCol>
                <a:gridCol w="1301431">
                  <a:extLst>
                    <a:ext uri="{9D8B030D-6E8A-4147-A177-3AD203B41FA5}">
                      <a16:colId xmlns:a16="http://schemas.microsoft.com/office/drawing/2014/main" val="2011433573"/>
                    </a:ext>
                  </a:extLst>
                </a:gridCol>
                <a:gridCol w="1301431">
                  <a:extLst>
                    <a:ext uri="{9D8B030D-6E8A-4147-A177-3AD203B41FA5}">
                      <a16:colId xmlns:a16="http://schemas.microsoft.com/office/drawing/2014/main" val="3970462145"/>
                    </a:ext>
                  </a:extLst>
                </a:gridCol>
                <a:gridCol w="1301431">
                  <a:extLst>
                    <a:ext uri="{9D8B030D-6E8A-4147-A177-3AD203B41FA5}">
                      <a16:colId xmlns:a16="http://schemas.microsoft.com/office/drawing/2014/main" val="1014835054"/>
                    </a:ext>
                  </a:extLst>
                </a:gridCol>
                <a:gridCol w="1301431">
                  <a:extLst>
                    <a:ext uri="{9D8B030D-6E8A-4147-A177-3AD203B41FA5}">
                      <a16:colId xmlns:a16="http://schemas.microsoft.com/office/drawing/2014/main" val="291127596"/>
                    </a:ext>
                  </a:extLst>
                </a:gridCol>
                <a:gridCol w="1301431">
                  <a:extLst>
                    <a:ext uri="{9D8B030D-6E8A-4147-A177-3AD203B41FA5}">
                      <a16:colId xmlns:a16="http://schemas.microsoft.com/office/drawing/2014/main" val="2466615223"/>
                    </a:ext>
                  </a:extLst>
                </a:gridCol>
                <a:gridCol w="1301431">
                  <a:extLst>
                    <a:ext uri="{9D8B030D-6E8A-4147-A177-3AD203B41FA5}">
                      <a16:colId xmlns:a16="http://schemas.microsoft.com/office/drawing/2014/main" val="266832432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solidFill>
                            <a:sysClr val="windowText" lastClr="000000"/>
                          </a:solidFill>
                          <a:effectLst/>
                        </a:rPr>
                        <a:t>Degrees of Freedom</a:t>
                      </a:r>
                      <a:endParaRPr lang="en-US" sz="18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solidFill>
                            <a:schemeClr val="tx1"/>
                          </a:solidFill>
                          <a:effectLst/>
                        </a:rPr>
                        <a:t>.20 area in upper tail</a:t>
                      </a:r>
                      <a:endParaRPr lang="en-US" sz="18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mn-lt"/>
                          <a:ea typeface="+mn-ea"/>
                          <a:cs typeface="+mn-cs"/>
                        </a:rPr>
                        <a:t>.10 area in upper tail</a:t>
                      </a:r>
                      <a:endParaRPr kumimoji="0" lang="en-US"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endParaRPr lang="en-US" sz="120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mn-lt"/>
                          <a:ea typeface="+mn-ea"/>
                          <a:cs typeface="+mn-cs"/>
                        </a:rPr>
                        <a:t>.05 area in upper tail</a:t>
                      </a:r>
                      <a:endParaRPr kumimoji="0" lang="en-US"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endParaRPr lang="en-US" sz="120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mn-lt"/>
                          <a:ea typeface="+mn-ea"/>
                          <a:cs typeface="+mn-cs"/>
                        </a:rPr>
                        <a:t>.025 area in upper tail</a:t>
                      </a:r>
                      <a:endParaRPr kumimoji="0" lang="en-US"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endParaRPr lang="en-US" sz="120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mn-lt"/>
                          <a:ea typeface="+mn-ea"/>
                          <a:cs typeface="+mn-cs"/>
                        </a:rPr>
                        <a:t>.01 area in upper tail</a:t>
                      </a:r>
                      <a:endParaRPr kumimoji="0" lang="en-US"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endParaRPr lang="en-US" sz="120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mn-lt"/>
                          <a:ea typeface="+mn-ea"/>
                          <a:cs typeface="+mn-cs"/>
                        </a:rPr>
                        <a:t>.005 area in upper tail</a:t>
                      </a:r>
                      <a:endParaRPr kumimoji="0" lang="en-US"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endParaRPr lang="en-US" sz="120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8346846"/>
                  </a:ext>
                </a:extLst>
              </a:tr>
              <a:tr h="370840">
                <a:tc>
                  <a:txBody>
                    <a:bodyPr/>
                    <a:lstStyle/>
                    <a:p>
                      <a:r>
                        <a:rPr lang="en-US">
                          <a:solidFill>
                            <a:sysClr val="windowText" lastClr="000000"/>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.849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1.299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1.676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2.403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2.678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51937686"/>
                  </a:ext>
                </a:extLst>
              </a:tr>
              <a:tr h="370840">
                <a:tc>
                  <a:txBody>
                    <a:bodyPr/>
                    <a:lstStyle/>
                    <a:p>
                      <a:r>
                        <a:rPr lang="en-US">
                          <a:solidFill>
                            <a:sysClr val="windowText" lastClr="000000"/>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.848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1.296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1.671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2.390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2.660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8372511"/>
                  </a:ext>
                </a:extLst>
              </a:tr>
              <a:tr h="370840">
                <a:tc>
                  <a:txBody>
                    <a:bodyPr/>
                    <a:lstStyle/>
                    <a:p>
                      <a:r>
                        <a:rPr lang="en-US">
                          <a:solidFill>
                            <a:sysClr val="windowText" lastClr="00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.846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1.292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1.664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1.990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2374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2.639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79930709"/>
                  </a:ext>
                </a:extLst>
              </a:tr>
              <a:tr h="370840">
                <a:tc>
                  <a:txBody>
                    <a:bodyPr/>
                    <a:lstStyle/>
                    <a:p>
                      <a:r>
                        <a:rPr lang="en-US">
                          <a:solidFill>
                            <a:sysClr val="windowText" lastClr="000000"/>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.845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1.290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1.660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1.984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2.364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2.626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640008"/>
                  </a:ext>
                </a:extLst>
              </a:tr>
              <a:tr h="370840">
                <a:tc>
                  <a:txBody>
                    <a:bodyPr/>
                    <a:lstStyle/>
                    <a:p>
                      <a:r>
                        <a:rPr lang="en-US">
                          <a:solidFill>
                            <a:sysClr val="windowText" lastClr="000000"/>
                          </a:solidFill>
                        </a:rPr>
                        <a:t>Infinite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.842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1.282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1.645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1.960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2.326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solidFill>
                            <a:sysClr val="windowText" lastClr="000000"/>
                          </a:solidFill>
                        </a:rPr>
                        <a:t>2.576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4622940"/>
                  </a:ext>
                </a:extLst>
              </a:tr>
            </a:tbl>
          </a:graphicData>
        </a:graphic>
      </p:graphicFrame>
      <p:pic>
        <p:nvPicPr>
          <p:cNvPr id="8" name="Content Placeholder 7" descr="A screenshot of a table of t distribution chart. Bottom row of the table is standard normal z values.">
            <a:extLst>
              <a:ext uri="{FF2B5EF4-FFF2-40B4-BE49-F238E27FC236}">
                <a16:creationId xmlns:a16="http://schemas.microsoft.com/office/drawing/2014/main" id="{653EC214-9F76-4004-B3B3-4F3B9CF423C5}"/>
              </a:ext>
            </a:extLst>
          </p:cNvPr>
          <p:cNvPicPr>
            <a:picLocks noGrp="1" noChangeAspect="1"/>
          </p:cNvPicPr>
          <p:nvPr>
            <p:ph sz="half" idx="15"/>
          </p:nvPr>
        </p:nvPicPr>
        <p:blipFill>
          <a:blip r:embed="rId4">
            <a:extLst>
              <a:ext uri="{28A0092B-C50C-407E-A947-70E740481C1C}">
                <a14:useLocalDpi xmlns:a14="http://schemas.microsoft.com/office/drawing/2010/main" val="0"/>
              </a:ext>
            </a:extLst>
          </a:blip>
          <a:stretch>
            <a:fillRect/>
          </a:stretch>
        </p:blipFill>
        <p:spPr>
          <a:xfrm>
            <a:off x="912615" y="1512990"/>
            <a:ext cx="10336608" cy="4339425"/>
          </a:xfrm>
        </p:spPr>
      </p:pic>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18</a:t>
            </a:fld>
            <a:endParaRPr lang="en-US"/>
          </a:p>
        </p:txBody>
      </p:sp>
    </p:spTree>
    <p:custDataLst>
      <p:tags r:id="rId1"/>
    </p:custDataLst>
    <p:extLst>
      <p:ext uri="{BB962C8B-B14F-4D97-AF65-F5344CB8AC3E}">
        <p14:creationId xmlns:p14="http://schemas.microsoft.com/office/powerpoint/2010/main" val="3240139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0189" y="605513"/>
            <a:ext cx="10489585" cy="727075"/>
          </a:xfrm>
        </p:spPr>
        <p:txBody>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Mean:  </a:t>
            </a:r>
            <a:r>
              <a:rPr lang="el-GR" dirty="0"/>
              <a:t>σ</a:t>
            </a:r>
            <a:r>
              <a:rPr lang="en-US" sz="3200" kern="1200" dirty="0">
                <a:solidFill>
                  <a:srgbClr val="000000"/>
                </a:solidFill>
                <a:effectLst/>
                <a:latin typeface="Calibri" panose="020F0502020204030204" pitchFamily="34" charset="0"/>
                <a:ea typeface="+mn-ea"/>
                <a:cs typeface="Arial" panose="020B0604020202020204" pitchFamily="34" charset="0"/>
              </a:rPr>
              <a:t> Unknown</a:t>
            </a:r>
            <a:r>
              <a:rPr lang="en-US" sz="1800" dirty="0">
                <a:solidFill>
                  <a:srgbClr val="000000"/>
                </a:solidFill>
                <a:latin typeface="Calibri" panose="020F0502020204030204" pitchFamily="34" charset="0"/>
                <a:cs typeface="Arial" panose="020B0604020202020204" pitchFamily="34" charset="0"/>
              </a:rPr>
              <a:t> (1 of 5)</a:t>
            </a:r>
            <a:endParaRPr lang="en-US" dirty="0">
              <a:effectLst/>
            </a:endParaRPr>
          </a:p>
        </p:txBody>
      </p:sp>
      <p:pic>
        <p:nvPicPr>
          <p:cNvPr id="4" name="Content Placeholder 3" descr="Interval Estimate of mu:&#10;Begin equation. x overbar plus or minus t subscript start fraction alpha over 2 end fraction baseline start fraction s over start root n end root end fraction. End equation.&#10;Where: x overbar equals the sample mean, 1 minus alpha equals the confidence coefficient, t subscript alpha divided by 2 baseline equals the t value providing an area of alpha divided by 2 in the upper tail of a t distribution with n minus 1 degrees of freedom, s equals the sample standard deviation, and n equals the sample size.">
            <a:extLst>
              <a:ext uri="{FF2B5EF4-FFF2-40B4-BE49-F238E27FC236}">
                <a16:creationId xmlns:a16="http://schemas.microsoft.com/office/drawing/2014/main" id="{0B9DAC45-123C-478F-9EA4-045C8FD604F9}"/>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314362" y="1332588"/>
            <a:ext cx="11237173" cy="4267136"/>
          </a:xfrm>
          <a:noFill/>
          <a:ln/>
        </p:spPr>
      </p:pic>
      <p:sp>
        <p:nvSpPr>
          <p:cNvPr id="3" name="Slide Number Placeholder 2"/>
          <p:cNvSpPr>
            <a:spLocks noGrp="1"/>
          </p:cNvSpPr>
          <p:nvPr>
            <p:ph type="sldNum" sz="quarter" idx="12"/>
            <p:custDataLst>
              <p:tags r:id="rId2"/>
            </p:custDataLst>
          </p:nvPr>
        </p:nvSpPr>
        <p:spPr/>
        <p:txBody>
          <a:bodyPr/>
          <a:lstStyle/>
          <a:p>
            <a:fld id="{949EBC64-41CB-41B8-B6DF-9B1367312BD4}" type="slidenum">
              <a:rPr lang="en-US" smtClean="0"/>
              <a:t>19</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a:xfrm>
            <a:off x="210189" y="529230"/>
            <a:ext cx="10489585" cy="727075"/>
          </a:xfrm>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Mean:  </a:t>
            </a:r>
            <a:r>
              <a:rPr lang="el-GR" dirty="0"/>
              <a:t>σ</a:t>
            </a:r>
            <a:r>
              <a:rPr lang="en-US" sz="3200" kern="1200" dirty="0">
                <a:solidFill>
                  <a:srgbClr val="000000"/>
                </a:solidFill>
                <a:effectLst/>
                <a:latin typeface="Calibri" panose="020F0502020204030204" pitchFamily="34" charset="0"/>
                <a:ea typeface="+mn-ea"/>
                <a:cs typeface="Arial" panose="020B0604020202020204" pitchFamily="34" charset="0"/>
              </a:rPr>
              <a:t> Unknown</a:t>
            </a:r>
            <a:r>
              <a:rPr lang="en-US" sz="1800" dirty="0">
                <a:solidFill>
                  <a:srgbClr val="000000"/>
                </a:solidFill>
                <a:latin typeface="Calibri" panose="020F0502020204030204" pitchFamily="34" charset="0"/>
                <a:cs typeface="Arial" panose="020B0604020202020204" pitchFamily="34" charset="0"/>
              </a:rPr>
              <a:t> (2 of 5)</a:t>
            </a:r>
            <a:endParaRPr lang="en-US" dirty="0">
              <a:effectLst/>
            </a:endParaRPr>
          </a:p>
        </p:txBody>
      </p:sp>
      <p:sp>
        <p:nvSpPr>
          <p:cNvPr id="5" name="Content Placeholder 4"/>
          <p:cNvSpPr>
            <a:spLocks noGrp="1"/>
          </p:cNvSpPr>
          <p:nvPr>
            <p:ph idx="1"/>
          </p:nvPr>
        </p:nvSpPr>
        <p:spPr>
          <a:xfrm>
            <a:off x="210189" y="1256305"/>
            <a:ext cx="11741460" cy="4572000"/>
          </a:xfrm>
        </p:spPr>
        <p:txBody>
          <a:bodyPr>
            <a:noAutofit/>
          </a:bodyPr>
          <a:lstStyle/>
          <a:p>
            <a:pPr marL="0" indent="0">
              <a:spcBef>
                <a:spcPct val="20000"/>
              </a:spcBef>
              <a:buSzPct val="101000"/>
              <a:buNone/>
            </a:pPr>
            <a:r>
              <a:rPr lang="en-US" dirty="0">
                <a:solidFill>
                  <a:srgbClr val="000000"/>
                </a:solidFill>
                <a:cs typeface="Arial" panose="020B0604020202020204" pitchFamily="34" charset="0"/>
              </a:rPr>
              <a:t>Example:  Apartment Rents</a:t>
            </a:r>
          </a:p>
          <a:p>
            <a:pPr marL="0" indent="0">
              <a:spcBef>
                <a:spcPct val="20000"/>
              </a:spcBef>
              <a:buSzPct val="101000"/>
              <a:buNone/>
            </a:pPr>
            <a:r>
              <a:rPr lang="en-US" dirty="0">
                <a:solidFill>
                  <a:srgbClr val="000000"/>
                </a:solidFill>
                <a:cs typeface="Arial" panose="020B0604020202020204" pitchFamily="34" charset="0"/>
              </a:rPr>
              <a:t>	</a:t>
            </a:r>
          </a:p>
          <a:p>
            <a:pPr marL="0" indent="0">
              <a:spcBef>
                <a:spcPct val="20000"/>
              </a:spcBef>
              <a:buSzPct val="101000"/>
              <a:buNone/>
            </a:pPr>
            <a:r>
              <a:rPr lang="en-US" dirty="0">
                <a:solidFill>
                  <a:srgbClr val="000000"/>
                </a:solidFill>
                <a:cs typeface="Arial" panose="020B0604020202020204" pitchFamily="34" charset="0"/>
              </a:rPr>
              <a:t>A reporter for a student newspaper is writing an article on the cost of off-campus housing.  A sample of 16 one-bedroom apartments within a half-mile of campus resulted in a sample mean of $750 per month and a sample standard deviation of $55.</a:t>
            </a:r>
          </a:p>
          <a:p>
            <a:pPr marL="0" indent="0">
              <a:spcBef>
                <a:spcPct val="20000"/>
              </a:spcBef>
              <a:buSzPct val="101000"/>
              <a:buNone/>
            </a:pPr>
            <a:r>
              <a:rPr lang="en-US" dirty="0">
                <a:solidFill>
                  <a:srgbClr val="000000"/>
                </a:solidFill>
                <a:cs typeface="Arial" panose="020B0604020202020204" pitchFamily="34" charset="0"/>
              </a:rPr>
              <a:t>	</a:t>
            </a:r>
          </a:p>
          <a:p>
            <a:pPr marL="0" indent="0">
              <a:spcBef>
                <a:spcPct val="20000"/>
              </a:spcBef>
              <a:buSzPct val="101000"/>
              <a:buNone/>
            </a:pPr>
            <a:r>
              <a:rPr lang="en-US" dirty="0">
                <a:solidFill>
                  <a:srgbClr val="000000"/>
                </a:solidFill>
                <a:cs typeface="Arial" panose="020B0604020202020204" pitchFamily="34" charset="0"/>
              </a:rPr>
              <a:t>Let us provide a 95% confidence interval estimate of the mean rent per month for the population of one-bedroom apartments within a half-mile of campus. We will assume this population to be normally distributed.</a:t>
            </a:r>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20</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Mean:  </a:t>
            </a:r>
            <a:r>
              <a:rPr lang="el-GR" i="1"/>
              <a:t>σ</a:t>
            </a:r>
            <a:r>
              <a:rPr lang="en-US" sz="3200" kern="1200">
                <a:solidFill>
                  <a:srgbClr val="000000"/>
                </a:solidFill>
                <a:effectLst/>
                <a:latin typeface="Calibri" panose="020F0502020204030204" pitchFamily="34" charset="0"/>
                <a:ea typeface="+mn-ea"/>
                <a:cs typeface="Arial" panose="020B0604020202020204" pitchFamily="34" charset="0"/>
              </a:rPr>
              <a:t>  Unknown</a:t>
            </a:r>
            <a:r>
              <a:rPr lang="en-US" sz="1800">
                <a:solidFill>
                  <a:srgbClr val="000000"/>
                </a:solidFill>
                <a:latin typeface="Calibri" panose="020F0502020204030204" pitchFamily="34" charset="0"/>
                <a:cs typeface="Arial" panose="020B0604020202020204" pitchFamily="34" charset="0"/>
              </a:rPr>
              <a:t> (3 of 5)</a:t>
            </a:r>
            <a:endParaRPr lang="en-US" dirty="0">
              <a:effectLst/>
            </a:endParaRPr>
          </a:p>
        </p:txBody>
      </p:sp>
      <p:pic>
        <p:nvPicPr>
          <p:cNvPr id="4" name="Content Placeholder 3" descr="At 95% confidence, alpha equals .05, and alpha divided by 2 equals .025. t subscript .025 baseline is based on n minus 1 equals 16 minus 1 equals 15 degrees of freedom.">
            <a:extLst>
              <a:ext uri="{FF2B5EF4-FFF2-40B4-BE49-F238E27FC236}">
                <a16:creationId xmlns:a16="http://schemas.microsoft.com/office/drawing/2014/main" id="{B531D340-0AC8-44D4-954B-A0E5BB2AB875}"/>
              </a:ext>
            </a:extLst>
          </p:cNvPr>
          <p:cNvPicPr>
            <a:picLocks noGrp="1" noChangeAspect="1"/>
          </p:cNvPicPr>
          <p:nvPr>
            <p:ph sz="half" idx="1"/>
          </p:nvPr>
        </p:nvPicPr>
        <p:blipFill>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292519" y="1264563"/>
            <a:ext cx="8070896" cy="1025731"/>
          </a:xfrm>
        </p:spPr>
      </p:pic>
      <p:graphicFrame>
        <p:nvGraphicFramePr>
          <p:cNvPr id="9" name="Content Placeholder 8" descr="A table with 7 columns and 6 rows. Column headers are Degrees of Freedom, .20 area in upper tail, .10 area in upper tail, .05 area in upper tail, .025 area in upper tail, .01 area in upper tail, and .005 area in upper tail.">
            <a:extLst>
              <a:ext uri="{FF2B5EF4-FFF2-40B4-BE49-F238E27FC236}">
                <a16:creationId xmlns:a16="http://schemas.microsoft.com/office/drawing/2014/main" id="{D451A353-348D-4AC5-B9EF-76ED641C4C28}"/>
              </a:ext>
            </a:extLst>
          </p:cNvPr>
          <p:cNvGraphicFramePr>
            <a:graphicFrameLocks noGrp="1"/>
          </p:cNvGraphicFramePr>
          <p:nvPr>
            <p:ph sz="half" idx="2"/>
            <p:extLst>
              <p:ext uri="{D42A27DB-BD31-4B8C-83A1-F6EECF244321}">
                <p14:modId xmlns:p14="http://schemas.microsoft.com/office/powerpoint/2010/main" val="937302132"/>
              </p:ext>
            </p:extLst>
          </p:nvPr>
        </p:nvGraphicFramePr>
        <p:xfrm>
          <a:off x="1806498" y="3049122"/>
          <a:ext cx="8106931" cy="2578804"/>
        </p:xfrm>
        <a:graphic>
          <a:graphicData uri="http://schemas.openxmlformats.org/drawingml/2006/table">
            <a:tbl>
              <a:tblPr firstRow="1" bandRow="1">
                <a:tableStyleId>{5C22544A-7EE6-4342-B048-85BDC9FD1C3A}</a:tableStyleId>
              </a:tblPr>
              <a:tblGrid>
                <a:gridCol w="1505413">
                  <a:extLst>
                    <a:ext uri="{9D8B030D-6E8A-4147-A177-3AD203B41FA5}">
                      <a16:colId xmlns:a16="http://schemas.microsoft.com/office/drawing/2014/main" val="2097799944"/>
                    </a:ext>
                  </a:extLst>
                </a:gridCol>
                <a:gridCol w="810853">
                  <a:extLst>
                    <a:ext uri="{9D8B030D-6E8A-4147-A177-3AD203B41FA5}">
                      <a16:colId xmlns:a16="http://schemas.microsoft.com/office/drawing/2014/main" val="2096611928"/>
                    </a:ext>
                  </a:extLst>
                </a:gridCol>
                <a:gridCol w="1158133">
                  <a:extLst>
                    <a:ext uri="{9D8B030D-6E8A-4147-A177-3AD203B41FA5}">
                      <a16:colId xmlns:a16="http://schemas.microsoft.com/office/drawing/2014/main" val="174885833"/>
                    </a:ext>
                  </a:extLst>
                </a:gridCol>
                <a:gridCol w="1158133">
                  <a:extLst>
                    <a:ext uri="{9D8B030D-6E8A-4147-A177-3AD203B41FA5}">
                      <a16:colId xmlns:a16="http://schemas.microsoft.com/office/drawing/2014/main" val="1991033440"/>
                    </a:ext>
                  </a:extLst>
                </a:gridCol>
                <a:gridCol w="1158133">
                  <a:extLst>
                    <a:ext uri="{9D8B030D-6E8A-4147-A177-3AD203B41FA5}">
                      <a16:colId xmlns:a16="http://schemas.microsoft.com/office/drawing/2014/main" val="2453567268"/>
                    </a:ext>
                  </a:extLst>
                </a:gridCol>
                <a:gridCol w="1158133">
                  <a:extLst>
                    <a:ext uri="{9D8B030D-6E8A-4147-A177-3AD203B41FA5}">
                      <a16:colId xmlns:a16="http://schemas.microsoft.com/office/drawing/2014/main" val="2917718375"/>
                    </a:ext>
                  </a:extLst>
                </a:gridCol>
                <a:gridCol w="1158133">
                  <a:extLst>
                    <a:ext uri="{9D8B030D-6E8A-4147-A177-3AD203B41FA5}">
                      <a16:colId xmlns:a16="http://schemas.microsoft.com/office/drawing/2014/main" val="2410258424"/>
                    </a:ext>
                  </a:extLst>
                </a:gridCol>
              </a:tblGrid>
              <a:tr h="750004">
                <a:tc>
                  <a:txBody>
                    <a:bodyPr/>
                    <a:lstStyle/>
                    <a:p>
                      <a:r>
                        <a:rPr lang="en-US">
                          <a:solidFill>
                            <a:sysClr val="windowText" lastClr="000000"/>
                          </a:solidFill>
                        </a:rPr>
                        <a:t>Degrees of Freedom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9087831"/>
                  </a:ext>
                </a:extLst>
              </a:tr>
              <a:tr h="299847">
                <a:tc>
                  <a:txBody>
                    <a:bodyPr/>
                    <a:lstStyle/>
                    <a:p>
                      <a:r>
                        <a:rPr lang="en-US">
                          <a:solidFill>
                            <a:sysClr val="windowText" lastClr="00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.866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1.341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1.753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2.131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2.602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2.947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7869762"/>
                  </a:ext>
                </a:extLst>
              </a:tr>
              <a:tr h="299847">
                <a:tc>
                  <a:txBody>
                    <a:bodyPr/>
                    <a:lstStyle/>
                    <a:p>
                      <a:r>
                        <a:rPr lang="en-US">
                          <a:solidFill>
                            <a:sysClr val="windowText" lastClr="000000"/>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.865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1.337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1.746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2.583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2.921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8585266"/>
                  </a:ext>
                </a:extLst>
              </a:tr>
              <a:tr h="299847">
                <a:tc>
                  <a:txBody>
                    <a:bodyPr/>
                    <a:lstStyle/>
                    <a:p>
                      <a:r>
                        <a:rPr lang="en-US">
                          <a:solidFill>
                            <a:sysClr val="windowText" lastClr="000000"/>
                          </a:solidFill>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.863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1.333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1.740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2.567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2.898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259787"/>
                  </a:ext>
                </a:extLst>
              </a:tr>
              <a:tr h="299847">
                <a:tc>
                  <a:txBody>
                    <a:bodyPr/>
                    <a:lstStyle/>
                    <a:p>
                      <a:r>
                        <a:rPr lang="en-US">
                          <a:solidFill>
                            <a:sysClr val="windowText" lastClr="000000"/>
                          </a:solidFill>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.862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1.330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1.734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2.520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2.878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8323425"/>
                  </a:ext>
                </a:extLst>
              </a:tr>
              <a:tr h="299847">
                <a:tc>
                  <a:txBody>
                    <a:bodyPr/>
                    <a:lstStyle/>
                    <a:p>
                      <a:r>
                        <a:rPr lang="en-US">
                          <a:solidFill>
                            <a:sysClr val="windowText" lastClr="000000"/>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.861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1.328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1.729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2.093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2.539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solidFill>
                            <a:sysClr val="windowText" lastClr="000000"/>
                          </a:solidFill>
                        </a:rPr>
                        <a:t>2.861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505522"/>
                  </a:ext>
                </a:extLst>
              </a:tr>
            </a:tbl>
          </a:graphicData>
        </a:graphic>
      </p:graphicFrame>
      <p:pic>
        <p:nvPicPr>
          <p:cNvPr id="8" name="Content Placeholder 7" descr="Screenshot of the table of t distribution chart. Degrees of freedom of 15 and .025 area in upper tail of 2.131 are circled, and there is an arrow pointing from 15 to 2.131.">
            <a:extLst>
              <a:ext uri="{FF2B5EF4-FFF2-40B4-BE49-F238E27FC236}">
                <a16:creationId xmlns:a16="http://schemas.microsoft.com/office/drawing/2014/main" id="{44EE8ED5-3C23-43C5-B5B1-1CAD8BA811F8}"/>
              </a:ext>
            </a:extLst>
          </p:cNvPr>
          <p:cNvPicPr>
            <a:picLocks noGrp="1" noChangeAspect="1"/>
          </p:cNvPicPr>
          <p:nvPr>
            <p:ph sz="half" idx="14"/>
          </p:nvPr>
        </p:nvPicPr>
        <p:blipFill>
          <a:blip r:embed="rId5">
            <a:extLst>
              <a:ext uri="{28A0092B-C50C-407E-A947-70E740481C1C}">
                <a14:useLocalDpi xmlns:a14="http://schemas.microsoft.com/office/drawing/2010/main" val="0"/>
              </a:ext>
            </a:extLst>
          </a:blip>
          <a:stretch>
            <a:fillRect/>
          </a:stretch>
        </p:blipFill>
        <p:spPr>
          <a:xfrm>
            <a:off x="1678084" y="2513354"/>
            <a:ext cx="8677256" cy="3326440"/>
          </a:xfrm>
        </p:spPr>
      </p:pic>
    </p:spTree>
    <p:custDataLst>
      <p:tags r:id="rId1"/>
    </p:custDataLst>
    <p:extLst>
      <p:ext uri="{BB962C8B-B14F-4D97-AF65-F5344CB8AC3E}">
        <p14:creationId xmlns:p14="http://schemas.microsoft.com/office/powerpoint/2010/main" val="3564418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Mean:  </a:t>
            </a:r>
            <a:r>
              <a:rPr lang="el-GR" i="1" dirty="0"/>
              <a:t>σ</a:t>
            </a:r>
            <a:r>
              <a:rPr lang="en-US" sz="3200" kern="1200" dirty="0">
                <a:solidFill>
                  <a:srgbClr val="000000"/>
                </a:solidFill>
                <a:effectLst/>
                <a:latin typeface="Calibri" panose="020F0502020204030204" pitchFamily="34" charset="0"/>
                <a:ea typeface="+mn-ea"/>
                <a:cs typeface="Arial" panose="020B0604020202020204" pitchFamily="34" charset="0"/>
              </a:rPr>
              <a:t>  Unknown</a:t>
            </a:r>
            <a:r>
              <a:rPr lang="en-US" sz="1800" dirty="0">
                <a:solidFill>
                  <a:srgbClr val="000000"/>
                </a:solidFill>
                <a:latin typeface="Calibri" panose="020F0502020204030204" pitchFamily="34" charset="0"/>
                <a:cs typeface="Arial" panose="020B0604020202020204" pitchFamily="34" charset="0"/>
              </a:rPr>
              <a:t> (4 of 5)</a:t>
            </a:r>
            <a:endParaRPr lang="en-US" dirty="0">
              <a:effectLst/>
            </a:endParaRPr>
          </a:p>
        </p:txBody>
      </p:sp>
      <p:sp>
        <p:nvSpPr>
          <p:cNvPr id="4" name="Content Placeholder 3"/>
          <p:cNvSpPr>
            <a:spLocks noGrp="1"/>
          </p:cNvSpPr>
          <p:nvPr>
            <p:ph sz="half" idx="1"/>
          </p:nvPr>
        </p:nvSpPr>
        <p:spPr/>
        <p:txBody>
          <a:bodyPr>
            <a:noAutofit/>
          </a:bodyPr>
          <a:lstStyle/>
          <a:p>
            <a:pPr marL="0" indent="0">
              <a:buNone/>
            </a:pPr>
            <a:r>
              <a:rPr lang="en-US" dirty="0">
                <a:solidFill>
                  <a:srgbClr val="000000"/>
                </a:solidFill>
                <a:cs typeface="Arial" panose="020B0604020202020204" pitchFamily="34" charset="0"/>
              </a:rPr>
              <a:t>Interval Estimate</a:t>
            </a:r>
          </a:p>
          <a:p>
            <a:pPr marL="0" indent="0" algn="ctr">
              <a:buNone/>
            </a:pPr>
            <a:endParaRPr lang="en-US" dirty="0">
              <a:solidFill>
                <a:srgbClr val="000000"/>
              </a:solidFill>
              <a:cs typeface="Arial" panose="020B0604020202020204" pitchFamily="34" charset="0"/>
            </a:endParaRPr>
          </a:p>
        </p:txBody>
      </p:sp>
      <p:pic>
        <p:nvPicPr>
          <p:cNvPr id="8" name="Content Placeholder 7" descr="Two equations. Begin equation. X overbar plus or minus t subscript .025 baseline start fraction s over start root n end root end fraction. End equation. Begin equation. 750 plus or minus 2.131 start fraction 55 over start root 16 end root end fraction equals 750 plus or minus 29.30.">
            <a:extLst>
              <a:ext uri="{FF2B5EF4-FFF2-40B4-BE49-F238E27FC236}">
                <a16:creationId xmlns:a16="http://schemas.microsoft.com/office/drawing/2014/main" id="{84A2C290-4E48-4DF8-9B07-F335648E5D8A}"/>
              </a:ext>
            </a:extLst>
          </p:cNvPr>
          <p:cNvPicPr>
            <a:picLocks noGrp="1" noChangeAspect="1"/>
          </p:cNvPicPr>
          <p:nvPr>
            <p:ph sz="half" idx="2"/>
          </p:nvPr>
        </p:nvPicPr>
        <p:blipFill>
          <a:blip r:embed="rId5">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tretch>
            <a:fillRect/>
          </a:stretch>
        </p:blipFill>
        <p:spPr>
          <a:xfrm>
            <a:off x="3490912" y="2044208"/>
            <a:ext cx="4446286" cy="1912937"/>
          </a:xfrm>
        </p:spPr>
      </p:pic>
      <p:sp>
        <p:nvSpPr>
          <p:cNvPr id="2" name="Content Placeholder 1">
            <a:extLst>
              <a:ext uri="{FF2B5EF4-FFF2-40B4-BE49-F238E27FC236}">
                <a16:creationId xmlns:a16="http://schemas.microsoft.com/office/drawing/2014/main" id="{EE08F584-B31B-4562-8777-FF4720C8E0B9}"/>
              </a:ext>
            </a:extLst>
          </p:cNvPr>
          <p:cNvSpPr>
            <a:spLocks noGrp="1"/>
          </p:cNvSpPr>
          <p:nvPr>
            <p:ph sz="quarter" idx="13"/>
          </p:nvPr>
        </p:nvSpPr>
        <p:spPr/>
        <p:txBody>
          <a:bodyPr>
            <a:noAutofit/>
          </a:bodyPr>
          <a:lstStyle/>
          <a:p>
            <a:pPr marL="0" lvl="0" indent="0">
              <a:buNone/>
            </a:pPr>
            <a:r>
              <a:rPr lang="en-US" dirty="0">
                <a:solidFill>
                  <a:prstClr val="black"/>
                </a:solidFill>
              </a:rPr>
              <a:t>We are 95% confident that the mean rent per month for the population of one-bedroom apartments within a half-mile of campus is between $720.70 and $779.30.</a:t>
            </a:r>
          </a:p>
          <a:p>
            <a:endParaRPr lang="en-US" dirty="0"/>
          </a:p>
        </p:txBody>
      </p:sp>
      <p:sp>
        <p:nvSpPr>
          <p:cNvPr id="3" name="Slide Number Placeholder 2"/>
          <p:cNvSpPr>
            <a:spLocks noGrp="1"/>
          </p:cNvSpPr>
          <p:nvPr>
            <p:ph type="sldNum" sz="quarter" idx="12"/>
            <p:custDataLst>
              <p:tags r:id="rId2"/>
            </p:custDataLst>
          </p:nvPr>
        </p:nvSpPr>
        <p:spPr/>
        <p:txBody>
          <a:bodyPr/>
          <a:lstStyle/>
          <a:p>
            <a:fld id="{949EBC64-41CB-41B8-B6DF-9B1367312BD4}" type="slidenum">
              <a:rPr lang="en-US" smtClean="0"/>
              <a:t>22</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314" y="568397"/>
            <a:ext cx="10489585" cy="727075"/>
          </a:xfrm>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Mean:  </a:t>
            </a:r>
            <a:r>
              <a:rPr lang="el-GR" dirty="0"/>
              <a:t>σ</a:t>
            </a:r>
            <a:r>
              <a:rPr lang="en-US" sz="3200" kern="1200" dirty="0">
                <a:solidFill>
                  <a:srgbClr val="000000"/>
                </a:solidFill>
                <a:effectLst/>
                <a:latin typeface="Calibri" panose="020F0502020204030204" pitchFamily="34" charset="0"/>
                <a:ea typeface="+mn-ea"/>
                <a:cs typeface="Arial" panose="020B0604020202020204" pitchFamily="34" charset="0"/>
              </a:rPr>
              <a:t> Unknown</a:t>
            </a:r>
            <a:r>
              <a:rPr lang="en-US" sz="1800" dirty="0">
                <a:solidFill>
                  <a:srgbClr val="000000"/>
                </a:solidFill>
                <a:latin typeface="Calibri" panose="020F0502020204030204" pitchFamily="34" charset="0"/>
                <a:cs typeface="Arial" panose="020B0604020202020204" pitchFamily="34" charset="0"/>
              </a:rPr>
              <a:t> (5 of 5)</a:t>
            </a:r>
            <a:endParaRPr lang="en-US" dirty="0">
              <a:effectLst/>
            </a:endParaRPr>
          </a:p>
        </p:txBody>
      </p:sp>
      <p:sp>
        <p:nvSpPr>
          <p:cNvPr id="9" name="Content Placeholder 8"/>
          <p:cNvSpPr>
            <a:spLocks noGrp="1"/>
          </p:cNvSpPr>
          <p:nvPr>
            <p:ph sz="half" idx="1"/>
          </p:nvPr>
        </p:nvSpPr>
        <p:spPr>
          <a:xfrm>
            <a:off x="207313" y="1295472"/>
            <a:ext cx="11659790" cy="4663201"/>
          </a:xfrm>
        </p:spPr>
        <p:txBody>
          <a:bodyPr>
            <a:noAutofit/>
          </a:bodyPr>
          <a:lstStyle/>
          <a:p>
            <a:pPr marL="0" indent="0">
              <a:buNone/>
            </a:pPr>
            <a:r>
              <a:rPr lang="en-US" dirty="0">
                <a:solidFill>
                  <a:srgbClr val="000000"/>
                </a:solidFill>
                <a:cs typeface="Arial" panose="020B0604020202020204" pitchFamily="34" charset="0"/>
              </a:rPr>
              <a:t>Adequate Sample Size</a:t>
            </a:r>
          </a:p>
          <a:p>
            <a:r>
              <a:rPr lang="en-US" dirty="0">
                <a:solidFill>
                  <a:srgbClr val="000000"/>
                </a:solidFill>
                <a:cs typeface="Arial" panose="020B0604020202020204" pitchFamily="34" charset="0"/>
              </a:rPr>
              <a:t>Usually, a sample size of at least 30 is adequate when using a t interval to estimate a population mean.</a:t>
            </a:r>
          </a:p>
          <a:p>
            <a:r>
              <a:rPr lang="en-US" dirty="0">
                <a:solidFill>
                  <a:srgbClr val="000000"/>
                </a:solidFill>
                <a:cs typeface="Arial" panose="020B0604020202020204" pitchFamily="34" charset="0"/>
              </a:rPr>
              <a:t>If the population distribution is highly skewed or contains outliers, a sample size of 50 or more is recommended.</a:t>
            </a:r>
          </a:p>
          <a:p>
            <a:r>
              <a:rPr lang="en-US" dirty="0">
                <a:solidFill>
                  <a:srgbClr val="000000"/>
                </a:solidFill>
                <a:cs typeface="Arial" panose="020B0604020202020204" pitchFamily="34" charset="0"/>
              </a:rPr>
              <a:t>If the population is not normally distributed but is roughly symmetric, a sample size as small as 15 will suffice.</a:t>
            </a:r>
          </a:p>
          <a:p>
            <a:r>
              <a:rPr lang="en-US" dirty="0">
                <a:solidFill>
                  <a:srgbClr val="000000"/>
                </a:solidFill>
                <a:cs typeface="Arial" panose="020B0604020202020204" pitchFamily="34" charset="0"/>
              </a:rPr>
              <a:t>If the population is believed to be at least approximately normal, a sample size of less than 15 can be used.</a:t>
            </a:r>
          </a:p>
        </p:txBody>
      </p:sp>
      <p:sp>
        <p:nvSpPr>
          <p:cNvPr id="5" name="Slide Number Placeholder 4"/>
          <p:cNvSpPr>
            <a:spLocks noGrp="1"/>
          </p:cNvSpPr>
          <p:nvPr>
            <p:ph type="sldNum" sz="quarter" idx="12"/>
            <p:custDataLst>
              <p:tags r:id="rId2"/>
            </p:custDataLst>
          </p:nvPr>
        </p:nvSpPr>
        <p:spPr/>
        <p:txBody>
          <a:bodyPr/>
          <a:lstStyle/>
          <a:p>
            <a:fld id="{949EBC64-41CB-41B8-B6DF-9B1367312BD4}" type="slidenum">
              <a:rPr lang="en-US" smtClean="0"/>
              <a:t>23</a:t>
            </a:fld>
            <a:endParaRPr lang="en-US"/>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67991" y="640081"/>
            <a:ext cx="10957722" cy="727075"/>
          </a:xfrm>
        </p:spPr>
        <p:txBody>
          <a:bodyPr>
            <a:noAutofit/>
          </a:bodyPr>
          <a:lstStyle/>
          <a:p>
            <a:pPr rtl="0" eaLnBrk="0" fontAlgn="base" hangingPunct="0"/>
            <a:r>
              <a:rPr lang="en-US" sz="3000" kern="1200" dirty="0">
                <a:solidFill>
                  <a:srgbClr val="000000"/>
                </a:solidFill>
                <a:effectLst/>
                <a:latin typeface="Calibri" panose="020F0502020204030204" pitchFamily="34" charset="0"/>
                <a:ea typeface="+mn-ea"/>
                <a:cs typeface="Arial" panose="020B0604020202020204" pitchFamily="34" charset="0"/>
              </a:rPr>
              <a:t>Summary of Interval Estimation Procedures</a:t>
            </a:r>
            <a:r>
              <a:rPr lang="en-US" sz="3000" kern="1200" baseline="0" dirty="0">
                <a:solidFill>
                  <a:schemeClr val="tx1"/>
                </a:solidFill>
                <a:effectLst/>
                <a:latin typeface="+mn-lt"/>
                <a:ea typeface="+mj-ea"/>
                <a:cs typeface="+mj-cs"/>
              </a:rPr>
              <a:t> </a:t>
            </a:r>
            <a:r>
              <a:rPr lang="en-US" sz="3000" kern="1200" dirty="0">
                <a:solidFill>
                  <a:srgbClr val="000000"/>
                </a:solidFill>
                <a:effectLst/>
                <a:latin typeface="Calibri" panose="020F0502020204030204" pitchFamily="34" charset="0"/>
                <a:ea typeface="+mn-ea"/>
                <a:cs typeface="Arial" panose="020B0604020202020204" pitchFamily="34" charset="0"/>
              </a:rPr>
              <a:t>for a Population Mean</a:t>
            </a:r>
            <a:endParaRPr lang="en-US" sz="3000" dirty="0">
              <a:effectLst/>
            </a:endParaRPr>
          </a:p>
        </p:txBody>
      </p:sp>
      <p:pic>
        <p:nvPicPr>
          <p:cNvPr id="7" name="Content Placeholder 6" descr="A flowchart of summary of interval estimation procedures for a population mean. At the top of the flowchart, it says, Can the population standard deviation sigma be assumed known? If the answer is yes, the flowchart leads to: Use x overbar plus or minus z subscript start fraction alpha over 2 end fraction baseline sigma divided by square root of n, and this is the sigma known case. If the answer is no, the flowchart leads to: Use the sample standard deviation s to estimate sigma, and this leads to Use x overbar plus or minus t subscript alpha divided by 2 baseline s divided by square root of n, and this is the sigma unknown case.">
            <a:extLst>
              <a:ext uri="{FF2B5EF4-FFF2-40B4-BE49-F238E27FC236}">
                <a16:creationId xmlns:a16="http://schemas.microsoft.com/office/drawing/2014/main" id="{36C999BA-062B-402D-B841-6B0E461E8B0C}"/>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235665" y="1642731"/>
            <a:ext cx="9021434" cy="4191585"/>
          </a:xfrm>
        </p:spPr>
      </p:pic>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24</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Sample Size for an Interval Estimate of a Population Mean</a:t>
            </a:r>
            <a:r>
              <a:rPr lang="en-US" sz="1800" dirty="0">
                <a:solidFill>
                  <a:srgbClr val="000000"/>
                </a:solidFill>
                <a:latin typeface="Calibri" panose="020F0502020204030204" pitchFamily="34" charset="0"/>
                <a:cs typeface="Arial" panose="020B0604020202020204" pitchFamily="34" charset="0"/>
              </a:rPr>
              <a:t> (1 of 4)</a:t>
            </a:r>
            <a:endParaRPr lang="en-US" dirty="0">
              <a:effectLst/>
            </a:endParaRPr>
          </a:p>
        </p:txBody>
      </p:sp>
      <mc:AlternateContent xmlns:mc="http://schemas.openxmlformats.org/markup-compatibility/2006" xmlns:a14="http://schemas.microsoft.com/office/drawing/2010/main">
        <mc:Choice Requires="a14">
          <p:sp>
            <p:nvSpPr>
              <p:cNvPr id="4" name="Content Placeholder 3"/>
              <p:cNvSpPr>
                <a:spLocks noGrp="1"/>
              </p:cNvSpPr>
              <p:nvPr>
                <p:ph sz="half" idx="1"/>
              </p:nvPr>
            </p:nvSpPr>
            <p:spPr/>
            <p:txBody>
              <a:bodyPr>
                <a:noAutofit/>
              </a:bodyPr>
              <a:lstStyle/>
              <a:p>
                <a:r>
                  <a:rPr lang="en-US" dirty="0">
                    <a:solidFill>
                      <a:srgbClr val="000000"/>
                    </a:solidFill>
                    <a:cs typeface="Arial" panose="020B0604020202020204" pitchFamily="34" charset="0"/>
                  </a:rPr>
                  <a:t>Let </a:t>
                </a:r>
                <a14:m>
                  <m:oMath xmlns:m="http://schemas.openxmlformats.org/officeDocument/2006/math">
                    <m:r>
                      <a:rPr lang="en-US" i="1">
                        <a:latin typeface="Cambria Math" panose="02040503050406030204" pitchFamily="18" charset="0"/>
                      </a:rPr>
                      <m:t>𝐸</m:t>
                    </m:r>
                  </m:oMath>
                </a14:m>
                <a:r>
                  <a:rPr lang="en-US" dirty="0">
                    <a:solidFill>
                      <a:srgbClr val="000000"/>
                    </a:solidFill>
                    <a:cs typeface="Arial" panose="020B0604020202020204" pitchFamily="34" charset="0"/>
                  </a:rPr>
                  <a:t> = the desired margin of error.</a:t>
                </a:r>
              </a:p>
              <a:p>
                <a14:m>
                  <m:oMath xmlns:m="http://schemas.openxmlformats.org/officeDocument/2006/math">
                    <m:r>
                      <a:rPr lang="en-US" i="1">
                        <a:latin typeface="Cambria Math" panose="02040503050406030204" pitchFamily="18" charset="0"/>
                      </a:rPr>
                      <m:t>𝐸</m:t>
                    </m:r>
                  </m:oMath>
                </a14:m>
                <a:r>
                  <a:rPr lang="en-US" dirty="0">
                    <a:solidFill>
                      <a:srgbClr val="000000"/>
                    </a:solidFill>
                    <a:cs typeface="Arial" panose="020B0604020202020204" pitchFamily="34" charset="0"/>
                  </a:rPr>
                  <a:t> is the amount added to and subtracted from the point estimate to obtain an interval estimate.</a:t>
                </a:r>
              </a:p>
              <a:p>
                <a:r>
                  <a:rPr lang="en-US" dirty="0">
                    <a:solidFill>
                      <a:srgbClr val="000000"/>
                    </a:solidFill>
                    <a:cs typeface="Arial" panose="020B0604020202020204" pitchFamily="34" charset="0"/>
                  </a:rPr>
                  <a:t>If a desired margin of error is selected prior to sampling, the sample size necessary to satisfy the margin of error can be determined.</a:t>
                </a:r>
              </a:p>
              <a:p>
                <a:endParaRPr lang="en-US" dirty="0">
                  <a:solidFill>
                    <a:srgbClr val="000000"/>
                  </a:solidFill>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sz="half" idx="1"/>
              </p:nvPr>
            </p:nvSpPr>
            <p:spPr>
              <a:blipFill>
                <a:blip r:embed="rId5"/>
                <a:stretch>
                  <a:fillRect l="-1047" t="-20482" b="-381928"/>
                </a:stretch>
              </a:blipFill>
            </p:spPr>
            <p:txBody>
              <a:bodyPr/>
              <a:lstStyle/>
              <a:p>
                <a:r>
                  <a:rPr lang="en-US">
                    <a:noFill/>
                  </a:rPr>
                  <a:t> </a:t>
                </a:r>
              </a:p>
            </p:txBody>
          </p:sp>
        </mc:Fallback>
      </mc:AlternateContent>
      <p:sp>
        <p:nvSpPr>
          <p:cNvPr id="5" name="Content Placeholder 4">
            <a:extLst>
              <a:ext uri="{FF2B5EF4-FFF2-40B4-BE49-F238E27FC236}">
                <a16:creationId xmlns:a16="http://schemas.microsoft.com/office/drawing/2014/main" id="{A0A94CF0-153C-4E95-8500-65604FF60F1A}"/>
              </a:ext>
            </a:extLst>
          </p:cNvPr>
          <p:cNvSpPr>
            <a:spLocks noGrp="1"/>
          </p:cNvSpPr>
          <p:nvPr>
            <p:ph sz="half" idx="2"/>
          </p:nvPr>
        </p:nvSpPr>
        <p:spPr>
          <a:xfrm>
            <a:off x="210312" y="4044408"/>
            <a:ext cx="11115400" cy="329650"/>
          </a:xfrm>
        </p:spPr>
        <p:txBody>
          <a:bodyPr>
            <a:noAutofit/>
          </a:bodyPr>
          <a:lstStyle/>
          <a:p>
            <a:r>
              <a:rPr lang="en-US" dirty="0"/>
              <a:t>Margin of error</a:t>
            </a:r>
          </a:p>
        </p:txBody>
      </p:sp>
      <p:pic>
        <p:nvPicPr>
          <p:cNvPr id="13" name="Content Placeholder 12" descr="An equation. Begin equation. E equals z subscript start fraction alpha over 2 end fraction baseline sigma divided by square root of n. End equation.">
            <a:extLst>
              <a:ext uri="{FF2B5EF4-FFF2-40B4-BE49-F238E27FC236}">
                <a16:creationId xmlns:a16="http://schemas.microsoft.com/office/drawing/2014/main" id="{A3FFEC4F-509B-4FE0-B4A7-D41700A13534}"/>
              </a:ext>
            </a:extLst>
          </p:cNvPr>
          <p:cNvPicPr>
            <a:picLocks noGrp="1" noChangeAspect="1"/>
          </p:cNvPicPr>
          <p:nvPr>
            <p:ph sz="quarter" idx="13"/>
          </p:nvPr>
        </p:nvPicPr>
        <p:blipFill>
          <a:blip r:embed="rId6">
            <a:extLst>
              <a:ext uri="{BEBA8EAE-BF5A-486C-A8C5-ECC9F3942E4B}">
                <a14:imgProps xmlns:a14="http://schemas.microsoft.com/office/drawing/2010/main">
                  <a14:imgLayer r:embed="rId7">
                    <a14:imgEffect>
                      <a14:sharpenSoften amount="25000"/>
                    </a14:imgEffect>
                  </a14:imgLayer>
                </a14:imgProps>
              </a:ext>
              <a:ext uri="{28A0092B-C50C-407E-A947-70E740481C1C}">
                <a14:useLocalDpi xmlns:a14="http://schemas.microsoft.com/office/drawing/2010/main" val="0"/>
              </a:ext>
            </a:extLst>
          </a:blip>
          <a:stretch>
            <a:fillRect/>
          </a:stretch>
        </p:blipFill>
        <p:spPr>
          <a:xfrm>
            <a:off x="3532810" y="3887685"/>
            <a:ext cx="2009163" cy="843131"/>
          </a:xfrm>
        </p:spPr>
      </p:pic>
      <p:pic>
        <p:nvPicPr>
          <p:cNvPr id="11" name="Content Placeholder 10" descr="An equation. Begin equation. n equals start fraction left parenthesis z subscript alpha divided by 2 baseline right parenthesis squared sigma squared over E squared end fraction end equation.">
            <a:extLst>
              <a:ext uri="{FF2B5EF4-FFF2-40B4-BE49-F238E27FC236}">
                <a16:creationId xmlns:a16="http://schemas.microsoft.com/office/drawing/2014/main" id="{00F827EC-3D2C-4C60-9AB7-5988C867A5B9}"/>
              </a:ext>
            </a:extLst>
          </p:cNvPr>
          <p:cNvPicPr>
            <a:picLocks noGrp="1" noChangeAspect="1"/>
          </p:cNvPicPr>
          <p:nvPr>
            <p:ph sz="half" idx="14"/>
          </p:nvPr>
        </p:nvPicPr>
        <p:blipFill>
          <a:blip r:embed="rId8">
            <a:extLst>
              <a:ext uri="{BEBA8EAE-BF5A-486C-A8C5-ECC9F3942E4B}">
                <a14:imgProps xmlns:a14="http://schemas.microsoft.com/office/drawing/2010/main">
                  <a14:imgLayer r:embed="rId9">
                    <a14:imgEffect>
                      <a14:sharpenSoften amount="25000"/>
                    </a14:imgEffect>
                  </a14:imgLayer>
                </a14:imgProps>
              </a:ext>
              <a:ext uri="{28A0092B-C50C-407E-A947-70E740481C1C}">
                <a14:useLocalDpi xmlns:a14="http://schemas.microsoft.com/office/drawing/2010/main" val="0"/>
              </a:ext>
            </a:extLst>
          </a:blip>
          <a:stretch>
            <a:fillRect/>
          </a:stretch>
        </p:blipFill>
        <p:spPr>
          <a:xfrm>
            <a:off x="4935356" y="4998675"/>
            <a:ext cx="2009163" cy="898214"/>
          </a:xfrm>
        </p:spPr>
      </p:pic>
      <p:sp>
        <p:nvSpPr>
          <p:cNvPr id="8" name="Content Placeholder 7">
            <a:extLst>
              <a:ext uri="{FF2B5EF4-FFF2-40B4-BE49-F238E27FC236}">
                <a16:creationId xmlns:a16="http://schemas.microsoft.com/office/drawing/2014/main" id="{DA5B4299-9EF0-4EE4-B16E-B517BDD766B3}"/>
              </a:ext>
            </a:extLst>
          </p:cNvPr>
          <p:cNvSpPr>
            <a:spLocks noGrp="1"/>
          </p:cNvSpPr>
          <p:nvPr>
            <p:ph sz="half" idx="15"/>
          </p:nvPr>
        </p:nvSpPr>
        <p:spPr>
          <a:xfrm>
            <a:off x="182531" y="5194371"/>
            <a:ext cx="11115400" cy="506823"/>
          </a:xfrm>
        </p:spPr>
        <p:txBody>
          <a:bodyPr>
            <a:noAutofit/>
          </a:bodyPr>
          <a:lstStyle/>
          <a:p>
            <a:r>
              <a:rPr lang="en-US" dirty="0"/>
              <a:t>Necessary sample size</a:t>
            </a:r>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25</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0189" y="569743"/>
            <a:ext cx="10489585" cy="727075"/>
          </a:xfrm>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Sample Size for an Interval Estimate of a Population Mean</a:t>
            </a:r>
            <a:r>
              <a:rPr lang="en-US" sz="1800" dirty="0">
                <a:solidFill>
                  <a:srgbClr val="000000"/>
                </a:solidFill>
                <a:latin typeface="Calibri" panose="020F0502020204030204" pitchFamily="34" charset="0"/>
                <a:cs typeface="Arial" panose="020B0604020202020204" pitchFamily="34" charset="0"/>
              </a:rPr>
              <a:t> (2 of 4)</a:t>
            </a:r>
            <a:endParaRPr lang="en-US" dirty="0">
              <a:effectLst/>
            </a:endParaRP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210189" y="1296818"/>
                <a:ext cx="11424975" cy="4320211"/>
              </a:xfrm>
            </p:spPr>
            <p:txBody>
              <a:bodyPr>
                <a:noAutofit/>
              </a:bodyPr>
              <a:lstStyle/>
              <a:p>
                <a:pPr marL="60325" indent="0">
                  <a:buNone/>
                </a:pPr>
                <a:r>
                  <a:rPr lang="en-US" dirty="0">
                    <a:solidFill>
                      <a:srgbClr val="000000"/>
                    </a:solidFill>
                    <a:cs typeface="Arial" panose="020B0604020202020204" pitchFamily="34" charset="0"/>
                  </a:rPr>
                  <a:t>The Necessary Sample Size equation requires a value for the population standard deviation,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𝜎</m:t>
                    </m:r>
                    <m:r>
                      <a:rPr lang="en-US"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oMath>
                </a14:m>
                <a:endParaRPr lang="en-US" dirty="0">
                  <a:solidFill>
                    <a:srgbClr val="000000"/>
                  </a:solidFill>
                  <a:cs typeface="Arial" panose="020B0604020202020204" pitchFamily="34" charset="0"/>
                </a:endParaRPr>
              </a:p>
              <a:p>
                <a:pPr marL="60325" indent="0">
                  <a:buNone/>
                </a:pPr>
                <a:endParaRPr lang="en-US" dirty="0">
                  <a:solidFill>
                    <a:srgbClr val="000000"/>
                  </a:solidFill>
                  <a:cs typeface="Arial" panose="020B0604020202020204" pitchFamily="34" charset="0"/>
                </a:endParaRPr>
              </a:p>
              <a:p>
                <a:pPr marL="461963" indent="-452438">
                  <a:buNone/>
                </a:pPr>
                <a:r>
                  <a:rPr lang="en-US" dirty="0">
                    <a:solidFill>
                      <a:srgbClr val="000000"/>
                    </a:solidFill>
                    <a:cs typeface="Arial" panose="020B0604020202020204" pitchFamily="34" charset="0"/>
                  </a:rPr>
                  <a:t>If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t>𝜎</m:t>
                    </m:r>
                  </m:oMath>
                </a14:m>
                <a:r>
                  <a:rPr lang="en-US" dirty="0">
                    <a:solidFill>
                      <a:srgbClr val="000000"/>
                    </a:solidFill>
                    <a:cs typeface="Arial" panose="020B0604020202020204" pitchFamily="34" charset="0"/>
                  </a:rPr>
                  <a:t> is unknown, a preliminary or planning value for </a:t>
                </a:r>
                <a14:m>
                  <m:oMath xmlns:m="http://schemas.openxmlformats.org/officeDocument/2006/math">
                    <m:r>
                      <a:rPr lang="en-US" i="1">
                        <a:solidFill>
                          <a:srgbClr val="000000"/>
                        </a:solidFill>
                        <a:latin typeface="Cambria Math" panose="02040503050406030204" pitchFamily="18" charset="0"/>
                        <a:ea typeface="Cambria Math" panose="02040503050406030204" pitchFamily="18" charset="0"/>
                        <a:cs typeface="Arial" panose="020B0604020202020204" pitchFamily="34" charset="0"/>
                      </a:rPr>
                      <m:t>𝜎</m:t>
                    </m:r>
                  </m:oMath>
                </a14:m>
                <a:r>
                  <a:rPr lang="en-US" dirty="0">
                    <a:solidFill>
                      <a:srgbClr val="000000"/>
                    </a:solidFill>
                    <a:cs typeface="Arial" panose="020B0604020202020204" pitchFamily="34" charset="0"/>
                  </a:rPr>
                  <a:t> can be used in the equation.</a:t>
                </a:r>
              </a:p>
              <a:p>
                <a:pPr marL="461963" indent="-452438">
                  <a:buNone/>
                </a:pPr>
                <a:endParaRPr lang="en-US" dirty="0">
                  <a:solidFill>
                    <a:srgbClr val="000000"/>
                  </a:solidFill>
                  <a:cs typeface="Arial" panose="020B0604020202020204" pitchFamily="34" charset="0"/>
                </a:endParaRPr>
              </a:p>
              <a:p>
                <a:pPr marL="461963" indent="-452438">
                  <a:buNone/>
                </a:pPr>
                <a:r>
                  <a:rPr lang="en-US" dirty="0">
                    <a:solidFill>
                      <a:srgbClr val="000000"/>
                    </a:solidFill>
                    <a:cs typeface="Arial" panose="020B0604020202020204" pitchFamily="34" charset="0"/>
                  </a:rPr>
                  <a:t>1.  Use the estimate of the population standard deviation computed in a previous study.</a:t>
                </a:r>
              </a:p>
              <a:p>
                <a:pPr marL="461963" indent="-452438">
                  <a:buNone/>
                </a:pPr>
                <a:r>
                  <a:rPr lang="en-US" dirty="0">
                    <a:solidFill>
                      <a:srgbClr val="000000"/>
                    </a:solidFill>
                    <a:cs typeface="Arial" panose="020B0604020202020204" pitchFamily="34" charset="0"/>
                  </a:rPr>
                  <a:t>2.  Use a pilot study to select a preliminary sample and use the sample standard deviation from the study.</a:t>
                </a:r>
              </a:p>
              <a:p>
                <a:pPr marL="461963" indent="-452438">
                  <a:buNone/>
                </a:pPr>
                <a:r>
                  <a:rPr lang="en-US" dirty="0">
                    <a:solidFill>
                      <a:srgbClr val="000000"/>
                    </a:solidFill>
                    <a:cs typeface="Arial" panose="020B0604020202020204" pitchFamily="34" charset="0"/>
                  </a:rPr>
                  <a:t>3.  Use judgment or a “best guess” for the value of </a:t>
                </a:r>
                <a:r>
                  <a:rPr lang="en-US" i="1" dirty="0">
                    <a:solidFill>
                      <a:srgbClr val="000000"/>
                    </a:solidFill>
                    <a:latin typeface="Symbol" panose="05050102010706020507" pitchFamily="18" charset="2"/>
                    <a:cs typeface="Arial" panose="020B0604020202020204" pitchFamily="34" charset="0"/>
                  </a:rPr>
                  <a:t>s</a:t>
                </a:r>
                <a:r>
                  <a:rPr lang="en-US" dirty="0">
                    <a:solidFill>
                      <a:srgbClr val="000000"/>
                    </a:solidFill>
                    <a:cs typeface="Arial" panose="020B0604020202020204" pitchFamily="34" charset="0"/>
                  </a:rPr>
                  <a:t>.</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210189" y="1296818"/>
                <a:ext cx="11424975" cy="4320211"/>
              </a:xfrm>
              <a:blipFill>
                <a:blip r:embed="rId5"/>
                <a:stretch>
                  <a:fillRect l="-693" t="-1977"/>
                </a:stretch>
              </a:blipFill>
            </p:spPr>
            <p:txBody>
              <a:bodyPr/>
              <a:lstStyle/>
              <a:p>
                <a:r>
                  <a:rPr lang="en-US">
                    <a:noFill/>
                  </a:rPr>
                  <a:t> </a:t>
                </a:r>
              </a:p>
            </p:txBody>
          </p:sp>
        </mc:Fallback>
      </mc:AlternateContent>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26</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a:xfrm>
            <a:off x="0" y="579791"/>
            <a:ext cx="10489585" cy="727075"/>
          </a:xfrm>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Sample Size for an Interval Estimate of a Population Mean</a:t>
            </a:r>
            <a:r>
              <a:rPr lang="en-US" sz="1800" dirty="0">
                <a:solidFill>
                  <a:srgbClr val="000000"/>
                </a:solidFill>
                <a:latin typeface="Calibri" panose="020F0502020204030204" pitchFamily="34" charset="0"/>
                <a:cs typeface="Arial" panose="020B0604020202020204" pitchFamily="34" charset="0"/>
              </a:rPr>
              <a:t> (3 of 4)</a:t>
            </a:r>
            <a:endParaRPr lang="en-US" dirty="0">
              <a:effectLst/>
            </a:endParaRPr>
          </a:p>
        </p:txBody>
      </p:sp>
      <p:sp>
        <p:nvSpPr>
          <p:cNvPr id="4" name="Content Placeholder 3"/>
          <p:cNvSpPr>
            <a:spLocks noGrp="1"/>
          </p:cNvSpPr>
          <p:nvPr>
            <p:ph idx="1"/>
          </p:nvPr>
        </p:nvSpPr>
        <p:spPr>
          <a:xfrm>
            <a:off x="102597" y="1306866"/>
            <a:ext cx="11794651" cy="4417254"/>
          </a:xfrm>
        </p:spPr>
        <p:txBody>
          <a:bodyPr>
            <a:noAutofit/>
          </a:bodyPr>
          <a:lstStyle/>
          <a:p>
            <a:pPr marL="0" indent="0">
              <a:buNone/>
            </a:pPr>
            <a:r>
              <a:rPr lang="en-US" dirty="0">
                <a:solidFill>
                  <a:srgbClr val="000000"/>
                </a:solidFill>
                <a:cs typeface="Arial" panose="020B0604020202020204" pitchFamily="34" charset="0"/>
              </a:rPr>
              <a:t>Example:  Discount Sounds</a:t>
            </a:r>
            <a:endParaRPr lang="en-US" dirty="0"/>
          </a:p>
          <a:p>
            <a:pPr marL="0" indent="0">
              <a:buNone/>
            </a:pPr>
            <a:r>
              <a:rPr lang="en-US" dirty="0"/>
              <a:t>Recall that Discount Sounds is evaluating a potential location for a new retail outlet, based in part, on the mean annual income of the individuals in the marketing area of the new location.</a:t>
            </a:r>
          </a:p>
          <a:p>
            <a:pPr marL="0" indent="0">
              <a:buNone/>
            </a:pPr>
            <a:endParaRPr lang="en-US" dirty="0"/>
          </a:p>
          <a:p>
            <a:pPr marL="0" indent="0">
              <a:buNone/>
            </a:pPr>
            <a:r>
              <a:rPr lang="en-US" dirty="0">
                <a:solidFill>
                  <a:srgbClr val="000000"/>
                </a:solidFill>
                <a:cs typeface="Arial" panose="020B0604020202020204" pitchFamily="34" charset="0"/>
              </a:rPr>
              <a:t>Suppose that Discount Sounds’ management team wants an estimate of the population mean such that there is a 0.95 probability that the sampling error is $500 or less.</a:t>
            </a:r>
          </a:p>
          <a:p>
            <a:pPr marL="0" indent="0">
              <a:buNone/>
            </a:pPr>
            <a:endParaRPr lang="en-US" dirty="0"/>
          </a:p>
          <a:p>
            <a:pPr marL="0" indent="0">
              <a:buNone/>
            </a:pPr>
            <a:r>
              <a:rPr lang="en-US" dirty="0">
                <a:solidFill>
                  <a:srgbClr val="000000"/>
                </a:solidFill>
                <a:cs typeface="Arial" panose="020B0604020202020204" pitchFamily="34" charset="0"/>
              </a:rPr>
              <a:t>How large a sample size is needed to meet the required precision?</a:t>
            </a:r>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27</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p:cNvSpPr>
            <a:spLocks noGrp="1"/>
          </p:cNvSpPr>
          <p:nvPr>
            <p:ph type="title"/>
          </p:nvPr>
        </p:nvSpPr>
        <p:spPr>
          <a:xfrm>
            <a:off x="112645" y="579790"/>
            <a:ext cx="10489585" cy="727075"/>
          </a:xfrm>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Sample Size for an Interval Estimate of a Population Mean</a:t>
            </a:r>
            <a:r>
              <a:rPr lang="en-US" sz="1800" dirty="0">
                <a:solidFill>
                  <a:srgbClr val="000000"/>
                </a:solidFill>
                <a:latin typeface="Calibri" panose="020F0502020204030204" pitchFamily="34" charset="0"/>
                <a:cs typeface="Arial" panose="020B0604020202020204" pitchFamily="34" charset="0"/>
              </a:rPr>
              <a:t> (4 of 4)</a:t>
            </a:r>
            <a:endParaRPr lang="en-US" dirty="0">
              <a:effectLst/>
            </a:endParaRPr>
          </a:p>
        </p:txBody>
      </p:sp>
      <p:sp>
        <p:nvSpPr>
          <p:cNvPr id="4" name="Slide Number Placeholder 3"/>
          <p:cNvSpPr>
            <a:spLocks noGrp="1"/>
          </p:cNvSpPr>
          <p:nvPr>
            <p:ph type="sldNum" sz="quarter" idx="12"/>
            <p:custDataLst>
              <p:tags r:id="rId2"/>
            </p:custDataLst>
          </p:nvPr>
        </p:nvSpPr>
        <p:spPr/>
        <p:txBody>
          <a:bodyPr/>
          <a:lstStyle/>
          <a:p>
            <a:fld id="{949EBC64-41CB-41B8-B6DF-9B1367312BD4}" type="slidenum">
              <a:rPr lang="en-US" smtClean="0"/>
              <a:t>28</a:t>
            </a:fld>
            <a:endParaRPr lang="en-US"/>
          </a:p>
        </p:txBody>
      </p:sp>
      <p:pic>
        <p:nvPicPr>
          <p:cNvPr id="3" name="Content Placeholder 2" descr="An equation. Begin equation. E equals z subscript start fraction alpha over 2 end fraction baseline start fraction sigma over start root n end root end fraction equals 500. End equation. At 95% confidence, z subscript .025 baseline equals 1.96. Recall that sigma equals 4,500. Begin equation. n equals start fraction left parenthesis 1.96 right parenthesis squared left parenthesis 4,500 right parenthesis squared over left parenthesis 500 right parenthesis squared end fraction equals 311.17 approximately equals to 312. End equation.  312 is circled. A sample size of 312 is needed to reach a desired precision of plus or minus 500 dollars at 95% confidence.">
            <a:extLst>
              <a:ext uri="{FF2B5EF4-FFF2-40B4-BE49-F238E27FC236}">
                <a16:creationId xmlns:a16="http://schemas.microsoft.com/office/drawing/2014/main" id="{FCDB2675-9E9F-4086-AF56-935ADE5A465B}"/>
              </a:ext>
            </a:extLst>
          </p:cNvPr>
          <p:cNvPicPr>
            <a:picLocks noGrp="1" noChangeAspect="1"/>
          </p:cNvPicPr>
          <p:nvPr>
            <p:ph idx="1"/>
          </p:nvPr>
        </p:nvPicPr>
        <p:blipFill>
          <a:blip r:embed="rId5">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tretch>
            <a:fillRect/>
          </a:stretch>
        </p:blipFill>
        <p:spPr>
          <a:xfrm>
            <a:off x="265199" y="1530433"/>
            <a:ext cx="11060513" cy="3882416"/>
          </a:xfrm>
        </p:spPr>
      </p:pic>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Proportion</a:t>
            </a:r>
            <a:r>
              <a:rPr lang="en-US" sz="1800" dirty="0">
                <a:solidFill>
                  <a:srgbClr val="000000"/>
                </a:solidFill>
                <a:latin typeface="Calibri" panose="020F0502020204030204" pitchFamily="34" charset="0"/>
                <a:cs typeface="Arial" panose="020B0604020202020204" pitchFamily="34" charset="0"/>
              </a:rPr>
              <a:t> (1 of 5)</a:t>
            </a:r>
            <a:endParaRPr lang="en-US" dirty="0">
              <a:effectLst/>
            </a:endParaRPr>
          </a:p>
        </p:txBody>
      </p:sp>
      <p:sp>
        <p:nvSpPr>
          <p:cNvPr id="6" name="Content Placeholder 5"/>
          <p:cNvSpPr>
            <a:spLocks noGrp="1"/>
          </p:cNvSpPr>
          <p:nvPr>
            <p:ph sz="half" idx="1"/>
          </p:nvPr>
        </p:nvSpPr>
        <p:spPr/>
        <p:txBody>
          <a:bodyPr>
            <a:noAutofit/>
          </a:bodyPr>
          <a:lstStyle/>
          <a:p>
            <a:pPr marL="342900" indent="-342900"/>
            <a:r>
              <a:rPr lang="en-US" dirty="0">
                <a:solidFill>
                  <a:srgbClr val="000000"/>
                </a:solidFill>
                <a:cs typeface="Arial" panose="020B0604020202020204" pitchFamily="34" charset="0"/>
              </a:rPr>
              <a:t>The general form of an interval estimate of a population proportion is:</a:t>
            </a:r>
          </a:p>
          <a:p>
            <a:pPr marL="0" indent="0" algn="ctr">
              <a:buNone/>
            </a:pPr>
            <a:endParaRPr lang="en-US" dirty="0">
              <a:solidFill>
                <a:srgbClr val="000000"/>
              </a:solidFill>
              <a:cs typeface="Arial" panose="020B0604020202020204" pitchFamily="34" charset="0"/>
            </a:endParaRPr>
          </a:p>
        </p:txBody>
      </p:sp>
      <p:pic>
        <p:nvPicPr>
          <p:cNvPr id="8" name="Content Placeholder 7" descr="p overbar plus or minus Margin of error.p overbar plus or minus Margin of error.">
            <a:extLst>
              <a:ext uri="{FF2B5EF4-FFF2-40B4-BE49-F238E27FC236}">
                <a16:creationId xmlns:a16="http://schemas.microsoft.com/office/drawing/2014/main" id="{D40CEE84-A61D-466C-96E1-6E5B5507FAEF}"/>
              </a:ext>
            </a:extLst>
          </p:cNvPr>
          <p:cNvPicPr>
            <a:picLocks noGrp="1" noChangeAspect="1"/>
          </p:cNvPicPr>
          <p:nvPr>
            <p:ph sz="half" idx="2"/>
          </p:nvPr>
        </p:nvPicPr>
        <p:blipFill>
          <a:blip r:embed="rId5">
            <a:extLst>
              <a:ext uri="{28A0092B-C50C-407E-A947-70E740481C1C}">
                <a14:useLocalDpi xmlns:a14="http://schemas.microsoft.com/office/drawing/2010/main" val="0"/>
              </a:ext>
            </a:extLst>
          </a:blip>
          <a:stretch>
            <a:fillRect/>
          </a:stretch>
        </p:blipFill>
        <p:spPr>
          <a:xfrm>
            <a:off x="3822701" y="2398083"/>
            <a:ext cx="2705100" cy="503708"/>
          </a:xfrm>
        </p:spPr>
      </p:pic>
      <p:pic>
        <p:nvPicPr>
          <p:cNvPr id="10" name="Content Placeholder 9" descr="The sampling distribution of p overbar plays a key role in computing the margin of error for this interval estimate. The sampling distribution of p overbar can be approximated by a normal distribution whenever n p is greater than or equal to 6 and n left parenthesis 1 minus p right parenthesis is greater than or equal to 5.">
            <a:extLst>
              <a:ext uri="{FF2B5EF4-FFF2-40B4-BE49-F238E27FC236}">
                <a16:creationId xmlns:a16="http://schemas.microsoft.com/office/drawing/2014/main" id="{8A02676B-AF23-4DDB-BB67-9CFFBD2223C3}"/>
              </a:ext>
            </a:extLst>
          </p:cNvPr>
          <p:cNvPicPr>
            <a:picLocks noGrp="1" noChangeAspect="1"/>
          </p:cNvPicPr>
          <p:nvPr>
            <p:ph sz="quarter" idx="13"/>
          </p:nvPr>
        </p:nvPicPr>
        <p:blipFill>
          <a:blip r:embed="rId6">
            <a:extLst>
              <a:ext uri="{28A0092B-C50C-407E-A947-70E740481C1C}">
                <a14:useLocalDpi xmlns:a14="http://schemas.microsoft.com/office/drawing/2010/main" val="0"/>
              </a:ext>
            </a:extLst>
          </a:blip>
          <a:stretch>
            <a:fillRect/>
          </a:stretch>
        </p:blipFill>
        <p:spPr>
          <a:xfrm>
            <a:off x="50800" y="3429000"/>
            <a:ext cx="11984340" cy="1911123"/>
          </a:xfrm>
        </p:spPr>
      </p:pic>
      <p:sp>
        <p:nvSpPr>
          <p:cNvPr id="3" name="Slide Number Placeholder 2"/>
          <p:cNvSpPr>
            <a:spLocks noGrp="1"/>
          </p:cNvSpPr>
          <p:nvPr>
            <p:ph type="sldNum" sz="quarter" idx="12"/>
            <p:custDataLst>
              <p:tags r:id="rId2"/>
            </p:custDataLst>
          </p:nvPr>
        </p:nvSpPr>
        <p:spPr/>
        <p:txBody>
          <a:bodyPr/>
          <a:lstStyle/>
          <a:p>
            <a:fld id="{949EBC64-41CB-41B8-B6DF-9B1367312BD4}" type="slidenum">
              <a:rPr lang="en-US" smtClean="0"/>
              <a:t>29</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0189" y="560534"/>
            <a:ext cx="10489585" cy="727075"/>
          </a:xfrm>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Proportion</a:t>
            </a:r>
            <a:r>
              <a:rPr lang="en-US" sz="1800" dirty="0">
                <a:solidFill>
                  <a:srgbClr val="000000"/>
                </a:solidFill>
                <a:latin typeface="Calibri" panose="020F0502020204030204" pitchFamily="34" charset="0"/>
                <a:cs typeface="Arial" panose="020B0604020202020204" pitchFamily="34" charset="0"/>
              </a:rPr>
              <a:t> (2 of 5)</a:t>
            </a:r>
            <a:endParaRPr lang="en-US" dirty="0">
              <a:effectLst/>
            </a:endParaRPr>
          </a:p>
        </p:txBody>
      </p:sp>
      <p:pic>
        <p:nvPicPr>
          <p:cNvPr id="9" name="Content Placeholder 8" descr="Normal Approximation of Sampling Distribution of p overbar.">
            <a:extLst>
              <a:ext uri="{FF2B5EF4-FFF2-40B4-BE49-F238E27FC236}">
                <a16:creationId xmlns:a16="http://schemas.microsoft.com/office/drawing/2014/main" id="{951DF3C4-C356-4C1A-9BDA-D38738D186AD}"/>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340827" y="1628975"/>
            <a:ext cx="8866673" cy="558043"/>
          </a:xfrm>
        </p:spPr>
      </p:pic>
      <p:pic>
        <p:nvPicPr>
          <p:cNvPr id="11" name="Content Placeholder 10" descr="A distribution graph of normal approximation of sampling distribution of p overbar. There is a bell curve on a horizontal line labeled p overbar. The areas under the curve at the beginning and end of the graph are labeled alpha divided by 2, and the area under the curve between the two areas is labeled 1 minus alpha of all p overbar values. On the horizontal line and at the center of the bell curve, it is marked as p, and the area between the end of beginning portion of alpha divided by 2 and mu is labeled z subscript start fraction alpha over 2 end fraction baseline lower sigma subscript p overbar baseline, and the area between mu and end portion of alpha divided by 2 is labeled z subscript start fraction alpha over 2 end fraction baseline lower sigma subscript p overbar baseline.">
            <a:extLst>
              <a:ext uri="{FF2B5EF4-FFF2-40B4-BE49-F238E27FC236}">
                <a16:creationId xmlns:a16="http://schemas.microsoft.com/office/drawing/2014/main" id="{C6FA55E1-9CAC-4EA9-8068-848F1F1AAA1A}"/>
              </a:ext>
            </a:extLst>
          </p:cNvPr>
          <p:cNvPicPr>
            <a:picLocks noGrp="1" noChangeAspect="1"/>
          </p:cNvPicPr>
          <p:nvPr>
            <p:ph sz="half" idx="2"/>
          </p:nvPr>
        </p:nvPicPr>
        <p:blipFill>
          <a:blip r:embed="rId6">
            <a:extLst>
              <a:ext uri="{28A0092B-C50C-407E-A947-70E740481C1C}">
                <a14:useLocalDpi xmlns:a14="http://schemas.microsoft.com/office/drawing/2010/main" val="0"/>
              </a:ext>
            </a:extLst>
          </a:blip>
          <a:stretch>
            <a:fillRect/>
          </a:stretch>
        </p:blipFill>
        <p:spPr>
          <a:xfrm>
            <a:off x="3082925" y="2528384"/>
            <a:ext cx="5168900" cy="2958700"/>
          </a:xfrm>
        </p:spPr>
      </p:pic>
      <p:sp>
        <p:nvSpPr>
          <p:cNvPr id="4" name="Slide Number Placeholder 3"/>
          <p:cNvSpPr>
            <a:spLocks noGrp="1"/>
          </p:cNvSpPr>
          <p:nvPr>
            <p:ph type="sldNum" sz="quarter" idx="12"/>
            <p:custDataLst>
              <p:tags r:id="rId2"/>
            </p:custDataLst>
          </p:nvPr>
        </p:nvSpPr>
        <p:spPr/>
        <p:txBody>
          <a:bodyPr/>
          <a:lstStyle/>
          <a:p>
            <a:fld id="{949EBC64-41CB-41B8-B6DF-9B1367312BD4}" type="slidenum">
              <a:rPr lang="en-US" smtClean="0"/>
              <a:t>30</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0491" y="640081"/>
            <a:ext cx="10489585" cy="727075"/>
          </a:xfrm>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Proportion</a:t>
            </a:r>
            <a:r>
              <a:rPr lang="en-US" sz="1800" dirty="0">
                <a:solidFill>
                  <a:srgbClr val="000000"/>
                </a:solidFill>
                <a:latin typeface="Calibri" panose="020F0502020204030204" pitchFamily="34" charset="0"/>
                <a:cs typeface="Arial" panose="020B0604020202020204" pitchFamily="34" charset="0"/>
              </a:rPr>
              <a:t> (3 of 5)</a:t>
            </a:r>
            <a:endParaRPr lang="en-US" dirty="0">
              <a:effectLst/>
            </a:endParaRPr>
          </a:p>
        </p:txBody>
      </p:sp>
      <p:pic>
        <p:nvPicPr>
          <p:cNvPr id="6" name="Content Placeholder 5" descr="Interval Estimate of mu:&#10;Begin equation. p overbar plus or minus z subscript alpha divided by 2 baseline start root start fraction p overbar left parenthesis 1 minus p overbar right parenthesis over n. End fraction end root. End equation. Where: 1 minus alpha is the confidence coefficient, z subscript start fraction alpha over 2 end fraction baseline is the z value providing an area of alpha divided by 2 in the upper tail of the standard normal probability distribution, and p overbar is the sample proportion.">
            <a:extLst>
              <a:ext uri="{FF2B5EF4-FFF2-40B4-BE49-F238E27FC236}">
                <a16:creationId xmlns:a16="http://schemas.microsoft.com/office/drawing/2014/main" id="{9A104E2F-21C1-41F6-B7CA-466C8EDCE83B}"/>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314325" y="1293428"/>
            <a:ext cx="10992107" cy="4822892"/>
          </a:xfrm>
        </p:spPr>
      </p:pic>
      <p:sp>
        <p:nvSpPr>
          <p:cNvPr id="3" name="Slide Number Placeholder 2"/>
          <p:cNvSpPr>
            <a:spLocks noGrp="1"/>
          </p:cNvSpPr>
          <p:nvPr>
            <p:ph type="sldNum" sz="quarter" idx="12"/>
            <p:custDataLst>
              <p:tags r:id="rId2"/>
            </p:custDataLst>
          </p:nvPr>
        </p:nvSpPr>
        <p:spPr/>
        <p:txBody>
          <a:bodyPr/>
          <a:lstStyle/>
          <a:p>
            <a:fld id="{949EBC64-41CB-41B8-B6DF-9B1367312BD4}" type="slidenum">
              <a:rPr lang="en-US" smtClean="0"/>
              <a:t>31</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a:xfrm>
            <a:off x="102597" y="599887"/>
            <a:ext cx="10489585" cy="727075"/>
          </a:xfrm>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Proportion</a:t>
            </a:r>
            <a:r>
              <a:rPr lang="en-US" sz="1800" dirty="0">
                <a:solidFill>
                  <a:srgbClr val="000000"/>
                </a:solidFill>
                <a:latin typeface="Calibri" panose="020F0502020204030204" pitchFamily="34" charset="0"/>
                <a:cs typeface="Arial" panose="020B0604020202020204" pitchFamily="34" charset="0"/>
              </a:rPr>
              <a:t> (4 of 5)</a:t>
            </a:r>
            <a:endParaRPr lang="en-US" dirty="0">
              <a:effectLst/>
            </a:endParaRPr>
          </a:p>
        </p:txBody>
      </p:sp>
      <p:sp>
        <p:nvSpPr>
          <p:cNvPr id="4" name="Content Placeholder 3"/>
          <p:cNvSpPr>
            <a:spLocks noGrp="1"/>
          </p:cNvSpPr>
          <p:nvPr>
            <p:ph idx="1"/>
          </p:nvPr>
        </p:nvSpPr>
        <p:spPr>
          <a:xfrm>
            <a:off x="210189" y="1326962"/>
            <a:ext cx="11646866" cy="4572000"/>
          </a:xfrm>
        </p:spPr>
        <p:txBody>
          <a:bodyPr>
            <a:noAutofit/>
          </a:bodyPr>
          <a:lstStyle/>
          <a:p>
            <a:pPr marL="0" indent="0">
              <a:spcBef>
                <a:spcPct val="20000"/>
              </a:spcBef>
              <a:buSzPct val="100000"/>
              <a:buNone/>
            </a:pPr>
            <a:r>
              <a:rPr lang="en-US" dirty="0">
                <a:solidFill>
                  <a:srgbClr val="000000"/>
                </a:solidFill>
                <a:cs typeface="Arial" panose="020B0604020202020204" pitchFamily="34" charset="0"/>
              </a:rPr>
              <a:t>Example:  Political Science, Inc.</a:t>
            </a:r>
          </a:p>
          <a:p>
            <a:pPr marL="0" indent="0">
              <a:spcBef>
                <a:spcPct val="20000"/>
              </a:spcBef>
              <a:buSzPct val="100000"/>
              <a:buNone/>
            </a:pPr>
            <a:endParaRPr lang="en-US" dirty="0">
              <a:solidFill>
                <a:srgbClr val="000000"/>
              </a:solidFill>
              <a:cs typeface="Arial" panose="020B0604020202020204" pitchFamily="34" charset="0"/>
            </a:endParaRPr>
          </a:p>
          <a:p>
            <a:pPr marL="0" indent="0">
              <a:spcBef>
                <a:spcPct val="20000"/>
              </a:spcBef>
              <a:buSzPct val="100000"/>
              <a:buNone/>
            </a:pPr>
            <a:r>
              <a:rPr lang="en-US" dirty="0"/>
              <a:t>Political Science Inc. (PSI) specializes in voter polls and surveys designed to keep political office seekers informed of their position in a race. </a:t>
            </a:r>
          </a:p>
          <a:p>
            <a:pPr marL="0" indent="0">
              <a:spcBef>
                <a:spcPct val="20000"/>
              </a:spcBef>
              <a:buSzPct val="100000"/>
              <a:buNone/>
            </a:pPr>
            <a:endParaRPr lang="en-US" dirty="0"/>
          </a:p>
          <a:p>
            <a:pPr marL="0" indent="0">
              <a:spcBef>
                <a:spcPct val="20000"/>
              </a:spcBef>
              <a:buSzPct val="100000"/>
              <a:buNone/>
            </a:pPr>
            <a:r>
              <a:rPr lang="en-US" dirty="0"/>
              <a:t>Using telephone surveys, PSI interviewers ask registered voters who they would vote for if the election were held that day.</a:t>
            </a:r>
          </a:p>
          <a:p>
            <a:pPr marL="0" indent="0">
              <a:spcBef>
                <a:spcPct val="20000"/>
              </a:spcBef>
              <a:buSzPct val="100000"/>
              <a:buNone/>
            </a:pPr>
            <a:endParaRPr lang="en-US" dirty="0"/>
          </a:p>
          <a:p>
            <a:pPr marL="0" indent="0">
              <a:spcBef>
                <a:spcPct val="20000"/>
              </a:spcBef>
              <a:buSzPct val="100000"/>
              <a:buNone/>
            </a:pPr>
            <a:r>
              <a:rPr lang="en-US" dirty="0">
                <a:solidFill>
                  <a:srgbClr val="000000"/>
                </a:solidFill>
                <a:cs typeface="Arial" panose="020B0604020202020204" pitchFamily="34" charset="0"/>
              </a:rPr>
              <a:t>In a current election campaign, PSI has just found that 220 registered voters, out of 500 contacted, favor a particular candidate.  PSI wants to develop a 95% confidence interval estimate for the proportion of the population of registered voters that favor the candidate.</a:t>
            </a:r>
            <a:endParaRPr lang="en-US" dirty="0"/>
          </a:p>
        </p:txBody>
      </p:sp>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32</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pPr eaLnBrk="0" fontAlgn="base" hangingPunct="0"/>
            <a:r>
              <a:rPr lang="en-US" sz="3200" kern="1200" dirty="0">
                <a:solidFill>
                  <a:srgbClr val="000000"/>
                </a:solidFill>
                <a:effectLst/>
                <a:latin typeface="Calibri" panose="020F0502020204030204" pitchFamily="34" charset="0"/>
                <a:ea typeface="+mn-ea"/>
                <a:cs typeface="Arial" panose="020B0604020202020204" pitchFamily="34" charset="0"/>
              </a:rPr>
              <a:t>Interval Estimate of a Population Proportion</a:t>
            </a:r>
            <a:r>
              <a:rPr lang="en-US" sz="1800" dirty="0">
                <a:solidFill>
                  <a:srgbClr val="000000"/>
                </a:solidFill>
                <a:latin typeface="Calibri" panose="020F0502020204030204" pitchFamily="34" charset="0"/>
                <a:cs typeface="Arial" panose="020B0604020202020204" pitchFamily="34" charset="0"/>
              </a:rPr>
              <a:t> (5 of 5)</a:t>
            </a:r>
            <a:endParaRPr lang="en-US" dirty="0">
              <a:effectLst/>
            </a:endParaRPr>
          </a:p>
        </p:txBody>
      </p:sp>
      <p:pic>
        <p:nvPicPr>
          <p:cNvPr id="8" name="Content Placeholder 7" descr="An equation. Begin equation. p overbar plus or minus z subscript start fraction alpha over 2 end fraction baseline start root start fraction p overbar left parenthesis 1 minus p overbar right parenthesis over n end fraction end root. End equation. Where: n equals 500, p overbar equals 220 divided by 500 equals .44, and z subscript start fraction alpha over 2 end fraction baseline equals 1.96. Begin equation. 0.44 plus or minus 1.96 start root start fraction .44 left parenthesis 1 minus .44 right parenthesis over 500 end fraction end root equals .44 plus or minus .0435. End equation.">
            <a:extLst>
              <a:ext uri="{FF2B5EF4-FFF2-40B4-BE49-F238E27FC236}">
                <a16:creationId xmlns:a16="http://schemas.microsoft.com/office/drawing/2014/main" id="{FBC0966D-C485-49EA-B2F4-5CF62A115B2C}"/>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3237593" y="1410103"/>
            <a:ext cx="4779866" cy="3212697"/>
          </a:xfrm>
        </p:spPr>
      </p:pic>
      <p:sp>
        <p:nvSpPr>
          <p:cNvPr id="2" name="Content Placeholder 1">
            <a:extLst>
              <a:ext uri="{FF2B5EF4-FFF2-40B4-BE49-F238E27FC236}">
                <a16:creationId xmlns:a16="http://schemas.microsoft.com/office/drawing/2014/main" id="{5097B74E-142F-4E95-AEC9-DBC0A95C5531}"/>
              </a:ext>
            </a:extLst>
          </p:cNvPr>
          <p:cNvSpPr>
            <a:spLocks noGrp="1"/>
          </p:cNvSpPr>
          <p:nvPr>
            <p:ph sz="half" idx="2"/>
          </p:nvPr>
        </p:nvSpPr>
        <p:spPr>
          <a:xfrm>
            <a:off x="210313" y="4887799"/>
            <a:ext cx="11115400" cy="907183"/>
          </a:xfrm>
        </p:spPr>
        <p:txBody>
          <a:bodyPr>
            <a:noAutofit/>
          </a:bodyPr>
          <a:lstStyle/>
          <a:p>
            <a:pPr marL="0" lvl="0" indent="0">
              <a:buNone/>
            </a:pPr>
            <a:r>
              <a:rPr lang="en-US" dirty="0">
                <a:solidFill>
                  <a:prstClr val="black"/>
                </a:solidFill>
              </a:rPr>
              <a:t>PSI is 95% confident that the proportion of all voters that favor the candidate is between 0.3965 and 0.4835.</a:t>
            </a:r>
          </a:p>
          <a:p>
            <a:pPr marL="0" indent="0">
              <a:buNone/>
            </a:pPr>
            <a:endParaRPr lang="en-US" dirty="0"/>
          </a:p>
        </p:txBody>
      </p:sp>
      <p:sp>
        <p:nvSpPr>
          <p:cNvPr id="3" name="Slide Number Placeholder 2"/>
          <p:cNvSpPr>
            <a:spLocks noGrp="1"/>
          </p:cNvSpPr>
          <p:nvPr>
            <p:ph type="sldNum" sz="quarter" idx="12"/>
            <p:custDataLst>
              <p:tags r:id="rId2"/>
            </p:custDataLst>
          </p:nvPr>
        </p:nvSpPr>
        <p:spPr/>
        <p:txBody>
          <a:bodyPr/>
          <a:lstStyle/>
          <a:p>
            <a:fld id="{949EBC64-41CB-41B8-B6DF-9B1367312BD4}" type="slidenum">
              <a:rPr lang="en-US" smtClean="0"/>
              <a:t>33</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7160" y="502920"/>
            <a:ext cx="11653058" cy="721569"/>
          </a:xfrm>
        </p:spPr>
        <p:txBody>
          <a:bodyPr>
            <a:noAutofit/>
          </a:bodyPr>
          <a:lstStyle/>
          <a:p>
            <a:pPr eaLnBrk="0" fontAlgn="base" hangingPunct="0"/>
            <a:r>
              <a:rPr lang="en-US" sz="3200" dirty="0">
                <a:solidFill>
                  <a:srgbClr val="000000"/>
                </a:solidFill>
                <a:latin typeface="Calibri" panose="020F0502020204030204" pitchFamily="34" charset="0"/>
                <a:ea typeface="+mn-ea"/>
                <a:cs typeface="+mn-cs"/>
              </a:rPr>
              <a:t>Sample Size for an Interval Estimate of a Population Proportion</a:t>
            </a:r>
            <a:r>
              <a:rPr lang="en-US" sz="1800" dirty="0">
                <a:solidFill>
                  <a:srgbClr val="000000"/>
                </a:solidFill>
                <a:latin typeface="Calibri" panose="020F0502020204030204" pitchFamily="34" charset="0"/>
                <a:cs typeface="Arial" panose="020B0604020202020204" pitchFamily="34" charset="0"/>
              </a:rPr>
              <a:t> (1 of 4)</a:t>
            </a:r>
            <a:endParaRPr lang="en-US" dirty="0"/>
          </a:p>
        </p:txBody>
      </p:sp>
      <p:sp>
        <p:nvSpPr>
          <p:cNvPr id="7" name="Content Placeholder 6"/>
          <p:cNvSpPr>
            <a:spLocks noGrp="1"/>
          </p:cNvSpPr>
          <p:nvPr>
            <p:ph sz="half" idx="1"/>
          </p:nvPr>
        </p:nvSpPr>
        <p:spPr/>
        <p:txBody>
          <a:bodyPr>
            <a:noAutofit/>
          </a:bodyPr>
          <a:lstStyle/>
          <a:p>
            <a:r>
              <a:rPr lang="en-US" dirty="0"/>
              <a:t>Margin of error		</a:t>
            </a:r>
          </a:p>
          <a:p>
            <a:endParaRPr lang="en-US" dirty="0">
              <a:solidFill>
                <a:srgbClr val="000000"/>
              </a:solidFill>
              <a:cs typeface="Arial" panose="020B0604020202020204" pitchFamily="34" charset="0"/>
            </a:endParaRPr>
          </a:p>
          <a:p>
            <a:pPr marL="0" indent="0">
              <a:buNone/>
            </a:pPr>
            <a:endParaRPr lang="en-US" dirty="0">
              <a:solidFill>
                <a:srgbClr val="000000"/>
              </a:solidFill>
              <a:cs typeface="Arial" panose="020B0604020202020204" pitchFamily="34" charset="0"/>
            </a:endParaRPr>
          </a:p>
        </p:txBody>
      </p:sp>
      <p:pic>
        <p:nvPicPr>
          <p:cNvPr id="11" name="Content Placeholder 10" descr="An equation. E equals z subscript alpha divided by 2 start root start fraction p overbar left parenthesis 1 minus p overbar right parenthesis over n end fraction end root end equation.">
            <a:extLst>
              <a:ext uri="{FF2B5EF4-FFF2-40B4-BE49-F238E27FC236}">
                <a16:creationId xmlns:a16="http://schemas.microsoft.com/office/drawing/2014/main" id="{B191DF62-8026-40B6-81E1-B46A70AD62AE}"/>
              </a:ext>
            </a:extLst>
          </p:cNvPr>
          <p:cNvPicPr>
            <a:picLocks noGrp="1" noChangeAspect="1"/>
          </p:cNvPicPr>
          <p:nvPr>
            <p:ph sz="half" idx="2"/>
          </p:nvPr>
        </p:nvPicPr>
        <p:blipFill>
          <a:blip r:embed="rId5">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tretch>
            <a:fillRect/>
          </a:stretch>
        </p:blipFill>
        <p:spPr>
          <a:xfrm>
            <a:off x="3115129" y="1244219"/>
            <a:ext cx="2863427" cy="1112911"/>
          </a:xfrm>
        </p:spPr>
      </p:pic>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1777F7F-113B-41A4-A7D5-813AD017650E}"/>
                  </a:ext>
                </a:extLst>
              </p:cNvPr>
              <p:cNvSpPr>
                <a:spLocks noGrp="1"/>
              </p:cNvSpPr>
              <p:nvPr>
                <p:ph sz="quarter" idx="13"/>
              </p:nvPr>
            </p:nvSpPr>
            <p:spPr>
              <a:xfrm>
                <a:off x="210308" y="2842312"/>
                <a:ext cx="11115400" cy="670599"/>
              </a:xfrm>
            </p:spPr>
            <p:txBody>
              <a:bodyPr>
                <a:noAutofit/>
              </a:bodyPr>
              <a:lstStyle/>
              <a:p>
                <a:pPr lvl="0"/>
                <a:r>
                  <a:rPr lang="en-US" dirty="0">
                    <a:solidFill>
                      <a:srgbClr val="000000"/>
                    </a:solidFill>
                    <a:cs typeface="Arial" panose="020B0604020202020204" pitchFamily="34" charset="0"/>
                  </a:rPr>
                  <a:t>Solving for </a:t>
                </a:r>
                <a14:m>
                  <m:oMath xmlns:m="http://schemas.openxmlformats.org/officeDocument/2006/math">
                    <m:r>
                      <a:rPr lang="en-US" i="1">
                        <a:solidFill>
                          <a:prstClr val="black"/>
                        </a:solidFill>
                        <a:latin typeface="Cambria Math" panose="02040503050406030204" pitchFamily="18" charset="0"/>
                        <a:ea typeface="Cambria Math" panose="02040503050406030204" pitchFamily="18" charset="0"/>
                      </a:rPr>
                      <m:t>𝑛</m:t>
                    </m:r>
                    <m:r>
                      <a:rPr lang="en-US" i="1">
                        <a:solidFill>
                          <a:prstClr val="black"/>
                        </a:solidFill>
                        <a:latin typeface="Cambria Math" panose="02040503050406030204" pitchFamily="18" charset="0"/>
                        <a:ea typeface="Cambria Math" panose="02040503050406030204" pitchFamily="18" charset="0"/>
                      </a:rPr>
                      <m:t>,</m:t>
                    </m:r>
                  </m:oMath>
                </a14:m>
                <a:r>
                  <a:rPr lang="en-US" dirty="0">
                    <a:solidFill>
                      <a:srgbClr val="000000"/>
                    </a:solidFill>
                    <a:cs typeface="Arial" panose="020B0604020202020204" pitchFamily="34" charset="0"/>
                  </a:rPr>
                  <a:t> the necessary sample size is</a:t>
                </a:r>
              </a:p>
              <a:p>
                <a:endParaRPr lang="en-US" dirty="0"/>
              </a:p>
            </p:txBody>
          </p:sp>
        </mc:Choice>
        <mc:Fallback xmlns="">
          <p:sp>
            <p:nvSpPr>
              <p:cNvPr id="5" name="Content Placeholder 4">
                <a:extLst>
                  <a:ext uri="{FF2B5EF4-FFF2-40B4-BE49-F238E27FC236}">
                    <a16:creationId xmlns:a16="http://schemas.microsoft.com/office/drawing/2014/main" id="{41777F7F-113B-41A4-A7D5-813AD017650E}"/>
                  </a:ext>
                </a:extLst>
              </p:cNvPr>
              <p:cNvSpPr>
                <a:spLocks noGrp="1" noRot="1" noChangeAspect="1" noMove="1" noResize="1" noEditPoints="1" noAdjustHandles="1" noChangeArrowheads="1" noChangeShapeType="1" noTextEdit="1"/>
              </p:cNvSpPr>
              <p:nvPr>
                <p:ph sz="quarter" idx="13"/>
              </p:nvPr>
            </p:nvSpPr>
            <p:spPr>
              <a:xfrm>
                <a:off x="210308" y="2842312"/>
                <a:ext cx="11115400" cy="670599"/>
              </a:xfrm>
              <a:blipFill>
                <a:blip r:embed="rId7"/>
                <a:stretch>
                  <a:fillRect l="-932" t="-14545"/>
                </a:stretch>
              </a:blipFill>
            </p:spPr>
            <p:txBody>
              <a:bodyPr/>
              <a:lstStyle/>
              <a:p>
                <a:r>
                  <a:rPr lang="en-US">
                    <a:noFill/>
                  </a:rPr>
                  <a:t> </a:t>
                </a:r>
              </a:p>
            </p:txBody>
          </p:sp>
        </mc:Fallback>
      </mc:AlternateContent>
      <p:pic>
        <p:nvPicPr>
          <p:cNvPr id="13" name="Content Placeholder 12" descr="An equation. n equals start fraction left parenthesis z subscript start fraction alpha over 2 end fraction baseline right parenthesis squared p overbar left parenthesis 1 minus p overbar right parenthesis over E squared end fraction end equation.">
            <a:extLst>
              <a:ext uri="{FF2B5EF4-FFF2-40B4-BE49-F238E27FC236}">
                <a16:creationId xmlns:a16="http://schemas.microsoft.com/office/drawing/2014/main" id="{96A3DC39-4166-4A89-8D72-4F6B2428940B}"/>
              </a:ext>
            </a:extLst>
          </p:cNvPr>
          <p:cNvPicPr>
            <a:picLocks noGrp="1" noChangeAspect="1"/>
          </p:cNvPicPr>
          <p:nvPr>
            <p:ph sz="half" idx="14"/>
          </p:nvPr>
        </p:nvPicPr>
        <p:blipFill>
          <a:blip r:embed="rId8">
            <a:extLst>
              <a:ext uri="{BEBA8EAE-BF5A-486C-A8C5-ECC9F3942E4B}">
                <a14:imgProps xmlns:a14="http://schemas.microsoft.com/office/drawing/2010/main">
                  <a14:imgLayer r:embed="rId9">
                    <a14:imgEffect>
                      <a14:sharpenSoften amount="25000"/>
                    </a14:imgEffect>
                  </a14:imgLayer>
                </a14:imgProps>
              </a:ext>
              <a:ext uri="{28A0092B-C50C-407E-A947-70E740481C1C}">
                <a14:useLocalDpi xmlns:a14="http://schemas.microsoft.com/office/drawing/2010/main" val="0"/>
              </a:ext>
            </a:extLst>
          </a:blip>
          <a:stretch>
            <a:fillRect/>
          </a:stretch>
        </p:blipFill>
        <p:spPr>
          <a:xfrm>
            <a:off x="7119757" y="2438063"/>
            <a:ext cx="3228771" cy="1136049"/>
          </a:xfrm>
        </p:spPr>
      </p:pic>
      <p:pic>
        <p:nvPicPr>
          <p:cNvPr id="15" name="Content Placeholder 14" descr="However, p overbar will not be known until after we have selected the sample. We will use the planning value p asterisk for p overbar.">
            <a:extLst>
              <a:ext uri="{FF2B5EF4-FFF2-40B4-BE49-F238E27FC236}">
                <a16:creationId xmlns:a16="http://schemas.microsoft.com/office/drawing/2014/main" id="{57150D78-F4F9-4D26-91E0-E66920DB7D7F}"/>
              </a:ext>
            </a:extLst>
          </p:cNvPr>
          <p:cNvPicPr>
            <a:picLocks noGrp="1" noChangeAspect="1"/>
          </p:cNvPicPr>
          <p:nvPr>
            <p:ph sz="half" idx="15"/>
          </p:nvPr>
        </p:nvPicPr>
        <p:blipFill>
          <a:blip r:embed="rId10">
            <a:extLst>
              <a:ext uri="{28A0092B-C50C-407E-A947-70E740481C1C}">
                <a14:useLocalDpi xmlns:a14="http://schemas.microsoft.com/office/drawing/2010/main" val="0"/>
              </a:ext>
            </a:extLst>
          </a:blip>
          <a:stretch>
            <a:fillRect/>
          </a:stretch>
        </p:blipFill>
        <p:spPr>
          <a:xfrm>
            <a:off x="253773" y="4034745"/>
            <a:ext cx="10332077" cy="905000"/>
          </a:xfrm>
        </p:spPr>
      </p:pic>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34</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7160" y="502920"/>
            <a:ext cx="11653058" cy="907183"/>
          </a:xfrm>
        </p:spPr>
        <p:txBody>
          <a:bodyPr>
            <a:noAutofit/>
          </a:bodyPr>
          <a:lstStyle/>
          <a:p>
            <a:pPr eaLnBrk="0" fontAlgn="base" hangingPunct="0"/>
            <a:r>
              <a:rPr lang="en-US" sz="3200" dirty="0">
                <a:solidFill>
                  <a:srgbClr val="000000"/>
                </a:solidFill>
                <a:latin typeface="Calibri" panose="020F0502020204030204" pitchFamily="34" charset="0"/>
                <a:ea typeface="+mn-ea"/>
                <a:cs typeface="+mn-cs"/>
              </a:rPr>
              <a:t>Sample Size for an Interval Estimate of a Population Proportion</a:t>
            </a:r>
            <a:r>
              <a:rPr lang="en-US" sz="1800" dirty="0">
                <a:solidFill>
                  <a:srgbClr val="000000"/>
                </a:solidFill>
                <a:latin typeface="Calibri" panose="020F0502020204030204" pitchFamily="34" charset="0"/>
                <a:cs typeface="Arial" panose="020B0604020202020204" pitchFamily="34" charset="0"/>
              </a:rPr>
              <a:t> (2 of 4)</a:t>
            </a:r>
            <a:endParaRPr lang="en-US" dirty="0"/>
          </a:p>
        </p:txBody>
      </p:sp>
      <p:pic>
        <p:nvPicPr>
          <p:cNvPr id="8" name="Content Placeholder 7" descr="An equation. n equals start fraction left parenthesis z subscript alpha divided by 2 right parenthesis squared p asterisk left parenthesis 1 minus p asterisk right parenthesis over E squared end fraction end equation. ">
            <a:extLst>
              <a:ext uri="{FF2B5EF4-FFF2-40B4-BE49-F238E27FC236}">
                <a16:creationId xmlns:a16="http://schemas.microsoft.com/office/drawing/2014/main" id="{363F6E6B-C3B8-48C3-A508-B5DBB907DFBD}"/>
              </a:ext>
            </a:extLst>
          </p:cNvPr>
          <p:cNvPicPr>
            <a:picLocks noGrp="1" noChangeAspect="1"/>
          </p:cNvPicPr>
          <p:nvPr>
            <p:ph sz="half" idx="2"/>
          </p:nvPr>
        </p:nvPicPr>
        <p:blipFill>
          <a:blip r:embed="rId5">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tretch>
            <a:fillRect/>
          </a:stretch>
        </p:blipFill>
        <p:spPr>
          <a:xfrm>
            <a:off x="4153392" y="1437038"/>
            <a:ext cx="3784108" cy="1222105"/>
          </a:xfrm>
        </p:spPr>
      </p:pic>
      <p:sp>
        <p:nvSpPr>
          <p:cNvPr id="6" name="Content Placeholder 5"/>
          <p:cNvSpPr>
            <a:spLocks noGrp="1"/>
          </p:cNvSpPr>
          <p:nvPr>
            <p:ph sz="half" idx="1"/>
          </p:nvPr>
        </p:nvSpPr>
        <p:spPr/>
        <p:txBody>
          <a:bodyPr>
            <a:noAutofit/>
          </a:bodyPr>
          <a:lstStyle/>
          <a:p>
            <a:pPr marL="0" indent="0">
              <a:buNone/>
            </a:pPr>
            <a:r>
              <a:rPr lang="en-US" dirty="0">
                <a:solidFill>
                  <a:srgbClr val="000000"/>
                </a:solidFill>
                <a:cs typeface="Arial" panose="020B0604020202020204" pitchFamily="34" charset="0"/>
              </a:rPr>
              <a:t>Necessary Sample Size</a:t>
            </a:r>
          </a:p>
          <a:p>
            <a:pPr marL="0" indent="0" algn="ctr">
              <a:buNone/>
            </a:pPr>
            <a:endParaRPr lang="en-US" dirty="0">
              <a:solidFill>
                <a:srgbClr val="000000"/>
              </a:solidFill>
              <a:cs typeface="Arial" panose="020B0604020202020204" pitchFamily="34" charset="0"/>
            </a:endParaRPr>
          </a:p>
          <a:p>
            <a:pPr marL="0" indent="0" algn="ctr">
              <a:buNone/>
            </a:pPr>
            <a:endParaRPr lang="en-US" dirty="0">
              <a:solidFill>
                <a:srgbClr val="000000"/>
              </a:solidFill>
              <a:cs typeface="Arial" panose="020B0604020202020204" pitchFamily="34" charset="0"/>
            </a:endParaRPr>
          </a:p>
          <a:p>
            <a:pPr marL="0" indent="0">
              <a:buNone/>
            </a:pPr>
            <a:endParaRPr lang="en-US" dirty="0">
              <a:solidFill>
                <a:srgbClr val="000000"/>
              </a:solidFill>
              <a:cs typeface="Arial" panose="020B0604020202020204" pitchFamily="34" charset="0"/>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8CBB1979-A4A7-4C87-8AC5-AFBC003F5CE9}"/>
                  </a:ext>
                </a:extLst>
              </p:cNvPr>
              <p:cNvSpPr>
                <a:spLocks noGrp="1"/>
              </p:cNvSpPr>
              <p:nvPr>
                <p:ph sz="quarter" idx="13"/>
              </p:nvPr>
            </p:nvSpPr>
            <p:spPr>
              <a:xfrm>
                <a:off x="210312" y="2796305"/>
                <a:ext cx="11115400" cy="1316252"/>
              </a:xfrm>
            </p:spPr>
            <p:txBody>
              <a:bodyPr>
                <a:noAutofit/>
              </a:bodyPr>
              <a:lstStyle/>
              <a:p>
                <a:pPr marL="0" lvl="0" indent="0">
                  <a:buNone/>
                </a:pPr>
                <a:r>
                  <a:rPr lang="en-US" dirty="0">
                    <a:solidFill>
                      <a:srgbClr val="000000"/>
                    </a:solidFill>
                    <a:cs typeface="Arial" panose="020B0604020202020204" pitchFamily="34" charset="0"/>
                  </a:rPr>
                  <a:t>The planning value </a:t>
                </a:r>
                <a14:m>
                  <m:oMath xmlns:m="http://schemas.openxmlformats.org/officeDocument/2006/math">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𝑝</m:t>
                        </m:r>
                      </m:e>
                      <m:sup>
                        <m:r>
                          <a:rPr lang="en-US" i="1">
                            <a:solidFill>
                              <a:prstClr val="black"/>
                            </a:solidFill>
                            <a:latin typeface="Cambria Math" panose="02040503050406030204" pitchFamily="18" charset="0"/>
                          </a:rPr>
                          <m:t>∗</m:t>
                        </m:r>
                      </m:sup>
                    </m:sSup>
                  </m:oMath>
                </a14:m>
                <a:r>
                  <a:rPr lang="en-US" dirty="0">
                    <a:solidFill>
                      <a:srgbClr val="000000"/>
                    </a:solidFill>
                    <a:cs typeface="Arial" panose="020B0604020202020204" pitchFamily="34" charset="0"/>
                  </a:rPr>
                  <a:t> can be chosen by:</a:t>
                </a:r>
              </a:p>
              <a:p>
                <a:pPr marL="457200" lvl="0" indent="-457200">
                  <a:buFont typeface="Arial" panose="020B0604020202020204" pitchFamily="34" charset="0"/>
                  <a:buAutoNum type="arabicPeriod"/>
                </a:pPr>
                <a:r>
                  <a:rPr lang="en-US" dirty="0">
                    <a:solidFill>
                      <a:srgbClr val="000000"/>
                    </a:solidFill>
                    <a:cs typeface="Arial" panose="020B0604020202020204" pitchFamily="34" charset="0"/>
                  </a:rPr>
                  <a:t>Using the sample proportion from a previous sample of the same or similar size.</a:t>
                </a:r>
              </a:p>
              <a:p>
                <a:pPr marL="457200" lvl="0" indent="-457200">
                  <a:buFont typeface="Arial" panose="020B0604020202020204" pitchFamily="34" charset="0"/>
                  <a:buAutoNum type="arabicPeriod"/>
                </a:pPr>
                <a:r>
                  <a:rPr lang="en-US" dirty="0">
                    <a:solidFill>
                      <a:srgbClr val="000000"/>
                    </a:solidFill>
                    <a:cs typeface="Arial" panose="020B0604020202020204" pitchFamily="34" charset="0"/>
                  </a:rPr>
                  <a:t>Selecting a preliminary sample and using the sample proportion from that sample.</a:t>
                </a:r>
              </a:p>
              <a:p>
                <a:pPr marL="457200" lvl="0" indent="-457200">
                  <a:buFont typeface="Arial" panose="020B0604020202020204" pitchFamily="34" charset="0"/>
                  <a:buAutoNum type="arabicPeriod"/>
                </a:pPr>
                <a:r>
                  <a:rPr lang="en-US" dirty="0">
                    <a:solidFill>
                      <a:srgbClr val="000000"/>
                    </a:solidFill>
                    <a:cs typeface="Arial" panose="020B0604020202020204" pitchFamily="34" charset="0"/>
                  </a:rPr>
                  <a:t>Using judgment or a “best guess” for the </a:t>
                </a:r>
                <a14:m>
                  <m:oMath xmlns:m="http://schemas.openxmlformats.org/officeDocument/2006/math">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𝑝</m:t>
                        </m:r>
                      </m:e>
                      <m:sup>
                        <m:r>
                          <a:rPr lang="en-US" i="1">
                            <a:solidFill>
                              <a:prstClr val="black"/>
                            </a:solidFill>
                            <a:latin typeface="Cambria Math" panose="02040503050406030204" pitchFamily="18" charset="0"/>
                          </a:rPr>
                          <m:t>∗</m:t>
                        </m:r>
                      </m:sup>
                    </m:sSup>
                  </m:oMath>
                </a14:m>
                <a:r>
                  <a:rPr lang="en-US" dirty="0">
                    <a:solidFill>
                      <a:srgbClr val="000000"/>
                    </a:solidFill>
                    <a:cs typeface="Arial" panose="020B0604020202020204" pitchFamily="34" charset="0"/>
                  </a:rPr>
                  <a:t> value.</a:t>
                </a:r>
              </a:p>
              <a:p>
                <a:pPr marL="457200" lvl="0" indent="-457200">
                  <a:buFont typeface="Arial" panose="020B0604020202020204" pitchFamily="34" charset="0"/>
                  <a:buAutoNum type="arabicPeriod"/>
                </a:pPr>
                <a:r>
                  <a:rPr lang="en-US" dirty="0">
                    <a:solidFill>
                      <a:srgbClr val="000000"/>
                    </a:solidFill>
                    <a:cs typeface="Arial" panose="020B0604020202020204" pitchFamily="34" charset="0"/>
                  </a:rPr>
                  <a:t>Otherwise, use </a:t>
                </a:r>
                <a14:m>
                  <m:oMath xmlns:m="http://schemas.openxmlformats.org/officeDocument/2006/math">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𝑝</m:t>
                        </m:r>
                      </m:e>
                      <m:sup>
                        <m:r>
                          <a:rPr lang="en-US" i="1">
                            <a:solidFill>
                              <a:prstClr val="black"/>
                            </a:solidFill>
                            <a:latin typeface="Cambria Math" panose="02040503050406030204" pitchFamily="18" charset="0"/>
                          </a:rPr>
                          <m:t>∗</m:t>
                        </m:r>
                      </m:sup>
                    </m:sSup>
                    <m:r>
                      <a:rPr lang="en-US" i="1">
                        <a:solidFill>
                          <a:prstClr val="black"/>
                        </a:solidFill>
                        <a:latin typeface="Cambria Math" panose="02040503050406030204" pitchFamily="18" charset="0"/>
                      </a:rPr>
                      <m:t>=0.5.</m:t>
                    </m:r>
                  </m:oMath>
                </a14:m>
                <a:endParaRPr lang="en-US" dirty="0"/>
              </a:p>
            </p:txBody>
          </p:sp>
        </mc:Choice>
        <mc:Fallback xmlns="">
          <p:sp>
            <p:nvSpPr>
              <p:cNvPr id="5" name="Content Placeholder 4">
                <a:extLst>
                  <a:ext uri="{FF2B5EF4-FFF2-40B4-BE49-F238E27FC236}">
                    <a16:creationId xmlns:a16="http://schemas.microsoft.com/office/drawing/2014/main" id="{8CBB1979-A4A7-4C87-8AC5-AFBC003F5CE9}"/>
                  </a:ext>
                </a:extLst>
              </p:cNvPr>
              <p:cNvSpPr>
                <a:spLocks noGrp="1" noRot="1" noChangeAspect="1" noMove="1" noResize="1" noEditPoints="1" noAdjustHandles="1" noChangeArrowheads="1" noChangeShapeType="1" noTextEdit="1"/>
              </p:cNvSpPr>
              <p:nvPr>
                <p:ph sz="quarter" idx="13"/>
              </p:nvPr>
            </p:nvSpPr>
            <p:spPr>
              <a:xfrm>
                <a:off x="210312" y="2796305"/>
                <a:ext cx="11115400" cy="1316252"/>
              </a:xfrm>
              <a:blipFill>
                <a:blip r:embed="rId7"/>
                <a:stretch>
                  <a:fillRect l="-1152" t="-7870" b="-162963"/>
                </a:stretch>
              </a:blipFill>
            </p:spPr>
            <p:txBody>
              <a:bodyPr/>
              <a:lstStyle/>
              <a:p>
                <a:r>
                  <a:rPr lang="en-US">
                    <a:noFill/>
                  </a:rPr>
                  <a:t> </a:t>
                </a:r>
              </a:p>
            </p:txBody>
          </p:sp>
        </mc:Fallback>
      </mc:AlternateContent>
      <p:sp>
        <p:nvSpPr>
          <p:cNvPr id="3" name="Slide Number Placeholder 2"/>
          <p:cNvSpPr>
            <a:spLocks noGrp="1"/>
          </p:cNvSpPr>
          <p:nvPr>
            <p:ph type="sldNum" sz="quarter" idx="12"/>
            <p:custDataLst>
              <p:tags r:id="rId2"/>
            </p:custDataLst>
          </p:nvPr>
        </p:nvSpPr>
        <p:spPr/>
        <p:txBody>
          <a:bodyPr/>
          <a:lstStyle/>
          <a:p>
            <a:fld id="{949EBC64-41CB-41B8-B6DF-9B1367312BD4}" type="slidenum">
              <a:rPr lang="en-US" smtClean="0"/>
              <a:t>35</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a:xfrm>
            <a:off x="130629" y="640081"/>
            <a:ext cx="11526286" cy="727075"/>
          </a:xfrm>
        </p:spPr>
        <p:txBody>
          <a:bodyPr>
            <a:noAutofit/>
          </a:bodyPr>
          <a:lstStyle/>
          <a:p>
            <a:pPr eaLnBrk="0" fontAlgn="base" hangingPunct="0"/>
            <a:r>
              <a:rPr lang="en-US" sz="3200" dirty="0">
                <a:solidFill>
                  <a:srgbClr val="000000"/>
                </a:solidFill>
                <a:latin typeface="Calibri" panose="020F0502020204030204" pitchFamily="34" charset="0"/>
                <a:ea typeface="+mn-ea"/>
                <a:cs typeface="+mn-cs"/>
              </a:rPr>
              <a:t>Sample Size for an Interval Estimate of a Population Proportion</a:t>
            </a:r>
            <a:r>
              <a:rPr lang="en-US" sz="1800" dirty="0">
                <a:solidFill>
                  <a:srgbClr val="000000"/>
                </a:solidFill>
                <a:latin typeface="Calibri" panose="020F0502020204030204" pitchFamily="34" charset="0"/>
                <a:cs typeface="Arial" panose="020B0604020202020204" pitchFamily="34" charset="0"/>
              </a:rPr>
              <a:t> (3 of 4)</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210189" y="1367156"/>
                <a:ext cx="11526286" cy="4350619"/>
              </a:xfrm>
            </p:spPr>
            <p:txBody>
              <a:bodyPr>
                <a:noAutofit/>
              </a:bodyPr>
              <a:lstStyle/>
              <a:p>
                <a:pPr marL="0" indent="0">
                  <a:buNone/>
                </a:pPr>
                <a:r>
                  <a:rPr lang="en-US" dirty="0">
                    <a:solidFill>
                      <a:srgbClr val="000000"/>
                    </a:solidFill>
                    <a:cs typeface="Arial" panose="020B0604020202020204" pitchFamily="34" charset="0"/>
                  </a:rPr>
                  <a:t>Example:  Political Science, Inc.</a:t>
                </a:r>
                <a:endParaRPr lang="en-US" dirty="0"/>
              </a:p>
              <a:p>
                <a:pPr marL="0" indent="0">
                  <a:buNone/>
                </a:pPr>
                <a:endParaRPr lang="en-US" dirty="0"/>
              </a:p>
              <a:p>
                <a:pPr marL="0" indent="0">
                  <a:buNone/>
                </a:pPr>
                <a:r>
                  <a:rPr lang="en-US" dirty="0"/>
                  <a:t>Suppose that PSI would like a 0.99 probability that the sample proportion is within </a:t>
                </a:r>
                <a14:m>
                  <m:oMath xmlns:m="http://schemas.openxmlformats.org/officeDocument/2006/math">
                    <m:r>
                      <a:rPr lang="en-US" sz="2000" i="1" dirty="0">
                        <a:latin typeface="Cambria Math" panose="02040503050406030204" pitchFamily="18" charset="0"/>
                        <a:ea typeface="Cambria Math" panose="02040503050406030204" pitchFamily="18" charset="0"/>
                      </a:rPr>
                      <m:t>±</m:t>
                    </m:r>
                  </m:oMath>
                </a14:m>
                <a:r>
                  <a:rPr lang="en-US" dirty="0"/>
                  <a:t> 0.03 of the population proportion.</a:t>
                </a:r>
              </a:p>
              <a:p>
                <a:pPr marL="0" indent="0">
                  <a:buNone/>
                </a:pPr>
                <a:endParaRPr lang="en-US" dirty="0"/>
              </a:p>
              <a:p>
                <a:pPr marL="0" indent="0">
                  <a:buNone/>
                </a:pPr>
                <a:r>
                  <a:rPr lang="en-US" dirty="0"/>
                  <a:t>How large a sample size is needed to meet the required precision?  (A previous sample of similar units yielded 0.44 for the sample proportion.)</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210189" y="1367156"/>
                <a:ext cx="11526286" cy="4350619"/>
              </a:xfrm>
              <a:blipFill>
                <a:blip r:embed="rId5"/>
                <a:stretch>
                  <a:fillRect l="-793" t="-1961" r="-1375"/>
                </a:stretch>
              </a:blipFill>
            </p:spPr>
            <p:txBody>
              <a:bodyPr/>
              <a:lstStyle/>
              <a:p>
                <a:r>
                  <a:rPr lang="en-US">
                    <a:noFill/>
                  </a:rPr>
                  <a:t> </a:t>
                </a:r>
              </a:p>
            </p:txBody>
          </p:sp>
        </mc:Fallback>
      </mc:AlternateContent>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36</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7160" y="502920"/>
            <a:ext cx="11486804" cy="727075"/>
          </a:xfrm>
        </p:spPr>
        <p:txBody>
          <a:bodyPr>
            <a:noAutofit/>
          </a:bodyPr>
          <a:lstStyle/>
          <a:p>
            <a:pPr eaLnBrk="0" fontAlgn="base" hangingPunct="0"/>
            <a:r>
              <a:rPr lang="en-US" dirty="0">
                <a:solidFill>
                  <a:srgbClr val="000000"/>
                </a:solidFill>
                <a:latin typeface="Calibri" panose="020F0502020204030204" pitchFamily="34" charset="0"/>
                <a:ea typeface="+mn-ea"/>
                <a:cs typeface="+mn-cs"/>
              </a:rPr>
              <a:t>Sample Size for an Interval Estimate of a Population Proportion</a:t>
            </a:r>
            <a:r>
              <a:rPr lang="en-US" dirty="0">
                <a:solidFill>
                  <a:srgbClr val="000000"/>
                </a:solidFill>
                <a:latin typeface="Calibri" panose="020F0502020204030204" pitchFamily="34" charset="0"/>
                <a:cs typeface="Arial" panose="020B0604020202020204" pitchFamily="34" charset="0"/>
              </a:rPr>
              <a:t> </a:t>
            </a:r>
            <a:r>
              <a:rPr lang="en-US" sz="1600" dirty="0">
                <a:solidFill>
                  <a:srgbClr val="000000"/>
                </a:solidFill>
                <a:latin typeface="Calibri" panose="020F0502020204030204" pitchFamily="34" charset="0"/>
                <a:cs typeface="Arial" panose="020B0604020202020204" pitchFamily="34" charset="0"/>
              </a:rPr>
              <a:t>(4 of 4)</a:t>
            </a:r>
            <a:endParaRPr lang="en-US" sz="2800" dirty="0"/>
          </a:p>
        </p:txBody>
      </p:sp>
      <p:pic>
        <p:nvPicPr>
          <p:cNvPr id="9" name="Content Placeholder 8" descr="E equals 0.03, p asterisk equals 0.44, and at 99 percent confidence, 𝑧 sub 0.005 baseline equals 2.576.&#10;">
            <a:extLst>
              <a:ext uri="{FF2B5EF4-FFF2-40B4-BE49-F238E27FC236}">
                <a16:creationId xmlns:a16="http://schemas.microsoft.com/office/drawing/2014/main" id="{B9A48577-6CDD-41D8-9A76-C444BC9B49FF}"/>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210317" y="1411427"/>
            <a:ext cx="8073853" cy="369577"/>
          </a:xfrm>
        </p:spPr>
      </p:pic>
      <p:pic>
        <p:nvPicPr>
          <p:cNvPr id="11" name="Content Placeholder 10" descr="A set of equations. Begin equation. n equals start fraction left parenthesis z subscript start fraction alpha over 2 end fraction baseline right parenthesis squared p asterisk left parenthesis 1 minus p asterisk right parenthesis over E squared end fraction. End equation. Begin equation. N equals start fraction left parenthesis 2.576 right parenthesis squared left parenthesis .44 right parenthesis left parenthesis .56 right parenthesis over left parenthesis .03 right parenthesis squared end fraction equals 1,817. End equation. ">
            <a:extLst>
              <a:ext uri="{FF2B5EF4-FFF2-40B4-BE49-F238E27FC236}">
                <a16:creationId xmlns:a16="http://schemas.microsoft.com/office/drawing/2014/main" id="{2034B6FB-9FDA-418C-9FBA-A01E8A0E8530}"/>
              </a:ext>
            </a:extLst>
          </p:cNvPr>
          <p:cNvPicPr>
            <a:picLocks noGrp="1" noChangeAspect="1"/>
          </p:cNvPicPr>
          <p:nvPr>
            <p:ph sz="half" idx="2"/>
          </p:nvPr>
        </p:nvPicPr>
        <p:blipFill>
          <a:blip r:embed="rId6">
            <a:extLst>
              <a:ext uri="{BEBA8EAE-BF5A-486C-A8C5-ECC9F3942E4B}">
                <a14:imgProps xmlns:a14="http://schemas.microsoft.com/office/drawing/2010/main">
                  <a14:imgLayer r:embed="rId7">
                    <a14:imgEffect>
                      <a14:sharpenSoften amount="25000"/>
                    </a14:imgEffect>
                  </a14:imgLayer>
                </a14:imgProps>
              </a:ext>
              <a:ext uri="{28A0092B-C50C-407E-A947-70E740481C1C}">
                <a14:useLocalDpi xmlns:a14="http://schemas.microsoft.com/office/drawing/2010/main" val="0"/>
              </a:ext>
            </a:extLst>
          </a:blip>
          <a:stretch>
            <a:fillRect/>
          </a:stretch>
        </p:blipFill>
        <p:spPr>
          <a:xfrm>
            <a:off x="3938061" y="1962436"/>
            <a:ext cx="4542915" cy="2041508"/>
          </a:xfrm>
        </p:spPr>
      </p:pic>
      <p:pic>
        <p:nvPicPr>
          <p:cNvPr id="13" name="Content Placeholder 12" descr="A sample size of 1,817 is needed to reach a desired precision of plus or minus 0.03 at 99% confidence.">
            <a:extLst>
              <a:ext uri="{FF2B5EF4-FFF2-40B4-BE49-F238E27FC236}">
                <a16:creationId xmlns:a16="http://schemas.microsoft.com/office/drawing/2014/main" id="{0882CE01-8974-4784-B5D6-B767D032B657}"/>
              </a:ext>
            </a:extLst>
          </p:cNvPr>
          <p:cNvPicPr>
            <a:picLocks noGrp="1" noChangeAspect="1"/>
          </p:cNvPicPr>
          <p:nvPr>
            <p:ph sz="half" idx="14"/>
          </p:nvPr>
        </p:nvPicPr>
        <p:blipFill>
          <a:blip r:embed="rId8">
            <a:extLst>
              <a:ext uri="{28A0092B-C50C-407E-A947-70E740481C1C}">
                <a14:useLocalDpi xmlns:a14="http://schemas.microsoft.com/office/drawing/2010/main" val="0"/>
              </a:ext>
            </a:extLst>
          </a:blip>
          <a:stretch>
            <a:fillRect/>
          </a:stretch>
        </p:blipFill>
        <p:spPr>
          <a:xfrm>
            <a:off x="316279" y="4144395"/>
            <a:ext cx="11635241" cy="445493"/>
          </a:xfrm>
        </p:spPr>
      </p:pic>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7FE3323D-908F-4CAA-9D2E-3C8CCDEBE28B}"/>
                  </a:ext>
                </a:extLst>
              </p:cNvPr>
              <p:cNvSpPr>
                <a:spLocks noGrp="1"/>
              </p:cNvSpPr>
              <p:nvPr>
                <p:ph sz="half" idx="15"/>
              </p:nvPr>
            </p:nvSpPr>
            <p:spPr>
              <a:xfrm>
                <a:off x="210317" y="4819399"/>
                <a:ext cx="11688222" cy="714706"/>
              </a:xfrm>
            </p:spPr>
            <p:txBody>
              <a:bodyPr>
                <a:noAutofit/>
              </a:bodyPr>
              <a:lstStyle/>
              <a:p>
                <a:pPr marL="0" lvl="0" indent="0">
                  <a:buNone/>
                </a:pPr>
                <a:r>
                  <a:rPr lang="en-US" sz="2600">
                    <a:solidFill>
                      <a:srgbClr val="000000"/>
                    </a:solidFill>
                    <a:cs typeface="Arial" panose="020B0604020202020204" pitchFamily="34" charset="0"/>
                  </a:rPr>
                  <a:t>Note: </a:t>
                </a:r>
                <a:r>
                  <a:rPr lang="en-US" sz="2600" dirty="0">
                    <a:solidFill>
                      <a:srgbClr val="000000"/>
                    </a:solidFill>
                    <a:cs typeface="Arial" panose="020B0604020202020204" pitchFamily="34" charset="0"/>
                  </a:rPr>
                  <a:t>We used 0.44 as the best estimate of </a:t>
                </a:r>
                <a:r>
                  <a:rPr lang="en-US" sz="2600" i="1" dirty="0">
                    <a:solidFill>
                      <a:srgbClr val="000000"/>
                    </a:solidFill>
                    <a:cs typeface="Arial" panose="020B0604020202020204" pitchFamily="34" charset="0"/>
                  </a:rPr>
                  <a:t>p</a:t>
                </a:r>
                <a:r>
                  <a:rPr lang="en-US" sz="2600" dirty="0">
                    <a:solidFill>
                      <a:srgbClr val="000000"/>
                    </a:solidFill>
                    <a:cs typeface="Arial" panose="020B0604020202020204" pitchFamily="34" charset="0"/>
                  </a:rPr>
                  <a:t>. If no information is available about </a:t>
                </a:r>
                <a:r>
                  <a:rPr lang="en-US" sz="2600" i="1" dirty="0">
                    <a:solidFill>
                      <a:srgbClr val="000000"/>
                    </a:solidFill>
                    <a:cs typeface="Arial" panose="020B0604020202020204" pitchFamily="34" charset="0"/>
                  </a:rPr>
                  <a:t>p</a:t>
                </a:r>
                <a:r>
                  <a:rPr lang="en-US" sz="2600" dirty="0">
                    <a:solidFill>
                      <a:srgbClr val="000000"/>
                    </a:solidFill>
                    <a:cs typeface="Arial" panose="020B0604020202020204" pitchFamily="34" charset="0"/>
                  </a:rPr>
                  <a:t>, then 0.5 is often used because it provides the greatest possible sample size. If we had used </a:t>
                </a:r>
                <a14:m>
                  <m:oMath xmlns:m="http://schemas.openxmlformats.org/officeDocument/2006/math">
                    <m:sSup>
                      <m:sSupPr>
                        <m:ctrlPr>
                          <a:rPr lang="en-US" sz="2600" i="1">
                            <a:solidFill>
                              <a:prstClr val="black"/>
                            </a:solidFill>
                            <a:latin typeface="Cambria Math" panose="02040503050406030204" pitchFamily="18" charset="0"/>
                          </a:rPr>
                        </m:ctrlPr>
                      </m:sSupPr>
                      <m:e>
                        <m:r>
                          <a:rPr lang="en-US" sz="2600" i="1">
                            <a:solidFill>
                              <a:prstClr val="black"/>
                            </a:solidFill>
                            <a:latin typeface="Cambria Math" panose="02040503050406030204" pitchFamily="18" charset="0"/>
                          </a:rPr>
                          <m:t>𝑝</m:t>
                        </m:r>
                      </m:e>
                      <m:sup>
                        <m:r>
                          <a:rPr lang="en-US" sz="2600" i="1">
                            <a:solidFill>
                              <a:prstClr val="black"/>
                            </a:solidFill>
                            <a:latin typeface="Cambria Math" panose="02040503050406030204" pitchFamily="18" charset="0"/>
                          </a:rPr>
                          <m:t>∗</m:t>
                        </m:r>
                      </m:sup>
                    </m:sSup>
                  </m:oMath>
                </a14:m>
                <a:r>
                  <a:rPr lang="en-US" sz="2600" dirty="0">
                    <a:solidFill>
                      <a:srgbClr val="000000"/>
                    </a:solidFill>
                    <a:cs typeface="Arial" panose="020B0604020202020204" pitchFamily="34" charset="0"/>
                  </a:rPr>
                  <a:t> = 0.5, the recommended </a:t>
                </a:r>
                <a:r>
                  <a:rPr lang="en-US" sz="2600" i="1" dirty="0">
                    <a:solidFill>
                      <a:srgbClr val="000000"/>
                    </a:solidFill>
                    <a:cs typeface="Arial" panose="020B0604020202020204" pitchFamily="34" charset="0"/>
                  </a:rPr>
                  <a:t>n</a:t>
                </a:r>
                <a:r>
                  <a:rPr lang="en-US" sz="2600" dirty="0">
                    <a:solidFill>
                      <a:srgbClr val="000000"/>
                    </a:solidFill>
                    <a:cs typeface="Arial" panose="020B0604020202020204" pitchFamily="34" charset="0"/>
                  </a:rPr>
                  <a:t> would have been 1843.</a:t>
                </a:r>
              </a:p>
              <a:p>
                <a:endParaRPr lang="en-US" dirty="0"/>
              </a:p>
            </p:txBody>
          </p:sp>
        </mc:Choice>
        <mc:Fallback>
          <p:sp>
            <p:nvSpPr>
              <p:cNvPr id="7" name="Content Placeholder 6">
                <a:extLst>
                  <a:ext uri="{FF2B5EF4-FFF2-40B4-BE49-F238E27FC236}">
                    <a16:creationId xmlns:a16="http://schemas.microsoft.com/office/drawing/2014/main" id="{7FE3323D-908F-4CAA-9D2E-3C8CCDEBE28B}"/>
                  </a:ext>
                </a:extLst>
              </p:cNvPr>
              <p:cNvSpPr>
                <a:spLocks noGrp="1" noRot="1" noChangeAspect="1" noMove="1" noResize="1" noEditPoints="1" noAdjustHandles="1" noChangeArrowheads="1" noChangeShapeType="1" noTextEdit="1"/>
              </p:cNvSpPr>
              <p:nvPr>
                <p:ph sz="half" idx="15"/>
              </p:nvPr>
            </p:nvSpPr>
            <p:spPr>
              <a:xfrm>
                <a:off x="210317" y="4819399"/>
                <a:ext cx="11688222" cy="714706"/>
              </a:xfrm>
              <a:blipFill>
                <a:blip r:embed="rId9"/>
                <a:stretch>
                  <a:fillRect l="-939" t="-13675" r="-730" b="-84615"/>
                </a:stretch>
              </a:blipFill>
            </p:spPr>
            <p:txBody>
              <a:bodyPr/>
              <a:lstStyle/>
              <a:p>
                <a:r>
                  <a:rPr lang="en-US">
                    <a:noFill/>
                  </a:rPr>
                  <a:t> </a:t>
                </a:r>
              </a:p>
            </p:txBody>
          </p:sp>
        </mc:Fallback>
      </mc:AlternateContent>
      <p:sp>
        <p:nvSpPr>
          <p:cNvPr id="2" name="Slide Number Placeholder 1"/>
          <p:cNvSpPr>
            <a:spLocks noGrp="1"/>
          </p:cNvSpPr>
          <p:nvPr>
            <p:ph type="sldNum" sz="quarter" idx="12"/>
            <p:custDataLst>
              <p:tags r:id="rId2"/>
            </p:custDataLst>
          </p:nvPr>
        </p:nvSpPr>
        <p:spPr/>
        <p:txBody>
          <a:bodyPr/>
          <a:lstStyle/>
          <a:p>
            <a:fld id="{949EBC64-41CB-41B8-B6DF-9B1367312BD4}" type="slidenum">
              <a:rPr lang="en-US" smtClean="0"/>
              <a:t>37</a:t>
            </a:fld>
            <a:endParaRPr 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End of Chapter 8</a:t>
            </a:r>
          </a:p>
        </p:txBody>
      </p:sp>
      <p:pic>
        <p:nvPicPr>
          <p:cNvPr id="8" name="Content Placeholder 7">
            <a:extLst>
              <a:ext uri="{FF2B5EF4-FFF2-40B4-BE49-F238E27FC236}">
                <a16:creationId xmlns:a16="http://schemas.microsoft.com/office/drawing/2014/main" id="{16EAE545-8129-4673-9427-90E61D3238E6}"/>
              </a:ext>
              <a:ext uri="{C183D7F6-B498-43B3-948B-1728B52AA6E4}">
                <adec:decorative xmlns:adec="http://schemas.microsoft.com/office/drawing/2017/decorative" val="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297680" y="1645920"/>
            <a:ext cx="3544738" cy="4123944"/>
          </a:xfrm>
        </p:spPr>
      </p:pic>
      <p:sp>
        <p:nvSpPr>
          <p:cNvPr id="4" name="Slide Number Placeholder 3"/>
          <p:cNvSpPr>
            <a:spLocks noGrp="1"/>
          </p:cNvSpPr>
          <p:nvPr>
            <p:ph type="sldNum" sz="quarter" idx="12"/>
          </p:nvPr>
        </p:nvSpPr>
        <p:spPr/>
        <p:txBody>
          <a:bodyPr/>
          <a:lstStyle/>
          <a:p>
            <a:pPr defTabSz="912114" eaLnBrk="1" fontAlgn="auto" hangingPunct="1">
              <a:spcBef>
                <a:spcPts val="0"/>
              </a:spcBef>
              <a:spcAft>
                <a:spcPts val="0"/>
              </a:spcAft>
            </a:pPr>
            <a:fld id="{949EBC64-41CB-41B8-B6DF-9B1367312BD4}" type="slidenum">
              <a:rPr lang="en-US">
                <a:solidFill>
                  <a:prstClr val="black">
                    <a:tint val="75000"/>
                  </a:prstClr>
                </a:solidFill>
                <a:effectLst/>
                <a:latin typeface="Calibri" panose="020F0502020204030204"/>
              </a:rPr>
              <a:pPr defTabSz="912114" eaLnBrk="1" fontAlgn="auto" hangingPunct="1">
                <a:spcBef>
                  <a:spcPts val="0"/>
                </a:spcBef>
                <a:spcAft>
                  <a:spcPts val="0"/>
                </a:spcAft>
              </a:pPr>
              <a:t>38</a:t>
            </a:fld>
            <a:endParaRPr lang="en-US">
              <a:solidFill>
                <a:prstClr val="black">
                  <a:tint val="75000"/>
                </a:prstClr>
              </a:solidFill>
              <a:effectLst/>
              <a:latin typeface="Calibri" panose="020F0502020204030204"/>
            </a:endParaRPr>
          </a:p>
        </p:txBody>
      </p:sp>
    </p:spTree>
    <p:extLst>
      <p:ext uri="{BB962C8B-B14F-4D97-AF65-F5344CB8AC3E}">
        <p14:creationId xmlns:p14="http://schemas.microsoft.com/office/powerpoint/2010/main" val="2296857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MPROD_UIPERSISTENCEDATA" val="MMPROD_UIPERSISTENCEDATA"/>
  <p:tag name="MMPROD_NEXTUNIQUEID" val="10009"/>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MMPROD_UIDATA" val="&lt;database version=&quot;11.0&quot;&gt;&lt;object type=&quot;1&quot; unique_id=&quot;10001&quot;&gt;&lt;property id=&quot;20141&quot; value=&quot;SBE13ch08&quot;/&gt;&lt;property id=&quot;20144&quot; value=&quot;0&quot;/&gt;&lt;property id=&quot;20146&quot; value=&quot;0&quot;/&gt;&lt;property id=&quot;20147&quot; value=&quot;0&quot;/&gt;&lt;property id=&quot;20148&quot; value=&quot;0&quot;/&gt;&lt;property id=&quot;20180&quot; value=&quot;2&quot;/&gt;&lt;property id=&quot;20181&quot; value=&quot;4&quot;/&gt;&lt;property id=&quot;20183&quot; value=&quot;1&quot;/&gt;&lt;property id=&quot;20184&quot; value=&quot;7&quot;/&gt;&lt;property id=&quot;20193&quot; value=&quot;-1&quot;/&gt;&lt;property id=&quot;20224&quot; value=&quot;C:\Users\bfoltz\Documents\My Adobe Presentations\SBE13ch08&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10002&quot;&gt;&lt;object type=&quot;3&quot; unique_id=&quot;10003&quot;&gt;&lt;property id=&quot;20148&quot; value=&quot;5&quot;/&gt;&lt;property id=&quot;20300&quot; value=&quot;Slide 1&quot;/&gt;&lt;property id=&quot;20307&quot; value=&quot;296&quot;/&gt;&lt;property id=&quot;20309&quot; value=&quot;-1&quot;/&gt;&lt;/object&gt;&lt;object type=&quot;3&quot; unique_id=&quot;10004&quot;&gt;&lt;property id=&quot;20148&quot; value=&quot;5&quot;/&gt;&lt;property id=&quot;20300&quot; value=&quot;Slide 2 - &amp;quot;Chapter 8 Interval Estimation&amp;quot;&quot;/&gt;&lt;property id=&quot;20307&quot; value=&quot;257&quot;/&gt;&lt;property id=&quot;20309&quot; value=&quot;-1&quot;/&gt;&lt;/object&gt;&lt;object type=&quot;3&quot; unique_id=&quot;10005&quot;&gt;&lt;property id=&quot;20148&quot; value=&quot;5&quot;/&gt;&lt;property id=&quot;20300&quot; value=&quot;Slide 3&quot;/&gt;&lt;property id=&quot;20307&quot; value=&quot;329&quot;/&gt;&lt;property id=&quot;20309&quot; value=&quot;-1&quot;/&gt;&lt;/object&gt;&lt;object type=&quot;3&quot; unique_id=&quot;10006&quot;&gt;&lt;property id=&quot;20148&quot; value=&quot;5&quot;/&gt;&lt;property id=&quot;20300&quot; value=&quot;Slide 4&quot;/&gt;&lt;property id=&quot;20307&quot; value=&quot;330&quot;/&gt;&lt;property id=&quot;20309&quot; value=&quot;-1&quot;/&gt;&lt;/object&gt;&lt;object type=&quot;3&quot; unique_id=&quot;10007&quot;&gt;&lt;property id=&quot;20148&quot; value=&quot;5&quot;/&gt;&lt;property id=&quot;20300&quot; value=&quot;Slide 5&quot;/&gt;&lt;property id=&quot;20307&quot; value=&quot;331&quot;/&gt;&lt;property id=&quot;20309&quot; value=&quot;-1&quot;/&gt;&lt;/object&gt;&lt;object type=&quot;3&quot; unique_id=&quot;10008&quot;&gt;&lt;property id=&quot;20148&quot; value=&quot;5&quot;/&gt;&lt;property id=&quot;20300&quot; value=&quot;Slide 6&quot;/&gt;&lt;property id=&quot;20307&quot; value=&quot;261&quot;/&gt;&lt;property id=&quot;20309&quot; value=&quot;-1&quot;/&gt;&lt;/object&gt;&lt;object type=&quot;3&quot; unique_id=&quot;10009&quot;&gt;&lt;property id=&quot;20148&quot; value=&quot;5&quot;/&gt;&lt;property id=&quot;20300&quot; value=&quot;Slide 7&quot;/&gt;&lt;property id=&quot;20307&quot; value=&quot;323&quot;/&gt;&lt;property id=&quot;20309&quot; value=&quot;-1&quot;/&gt;&lt;/object&gt;&lt;object type=&quot;3&quot; unique_id=&quot;10010&quot;&gt;&lt;property id=&quot;20148&quot; value=&quot;5&quot;/&gt;&lt;property id=&quot;20300&quot; value=&quot;Slide 8&quot;/&gt;&lt;property id=&quot;20307&quot; value=&quot;264&quot;/&gt;&lt;property id=&quot;20309&quot; value=&quot;-1&quot;/&gt;&lt;/object&gt;&lt;object type=&quot;3&quot; unique_id=&quot;10011&quot;&gt;&lt;property id=&quot;20148&quot; value=&quot;5&quot;/&gt;&lt;property id=&quot;20300&quot; value=&quot;Slide 9&quot;/&gt;&lt;property id=&quot;20307&quot; value=&quot;354&quot;/&gt;&lt;property id=&quot;20309&quot; value=&quot;-1&quot;/&gt;&lt;/object&gt;&lt;object type=&quot;3&quot; unique_id=&quot;10012&quot;&gt;&lt;property id=&quot;20148&quot; value=&quot;5&quot;/&gt;&lt;property id=&quot;20300&quot; value=&quot;Slide 10&quot;/&gt;&lt;property id=&quot;20307&quot; value=&quot;360&quot;/&gt;&lt;property id=&quot;20309&quot; value=&quot;-1&quot;/&gt;&lt;/object&gt;&lt;object type=&quot;3&quot; unique_id=&quot;10013&quot;&gt;&lt;property id=&quot;20148&quot; value=&quot;5&quot;/&gt;&lt;property id=&quot;20300&quot; value=&quot;Slide 11&quot;/&gt;&lt;property id=&quot;20307&quot; value=&quot;287&quot;/&gt;&lt;property id=&quot;20309&quot; value=&quot;-1&quot;/&gt;&lt;/object&gt;&lt;object type=&quot;3&quot; unique_id=&quot;10014&quot;&gt;&lt;property id=&quot;20148&quot; value=&quot;5&quot;/&gt;&lt;property id=&quot;20300&quot; value=&quot;Slide 12&quot;/&gt;&lt;property id=&quot;20307&quot; value=&quot;288&quot;/&gt;&lt;property id=&quot;20309&quot; value=&quot;-1&quot;/&gt;&lt;/object&gt;&lt;object type=&quot;3&quot; unique_id=&quot;10015&quot;&gt;&lt;property id=&quot;20148&quot; value=&quot;5&quot;/&gt;&lt;property id=&quot;20300&quot; value=&quot;Slide 13&quot;/&gt;&lt;property id=&quot;20307&quot; value=&quot;284&quot;/&gt;&lt;property id=&quot;20309&quot; value=&quot;-1&quot;/&gt;&lt;/object&gt;&lt;object type=&quot;3&quot; unique_id=&quot;10016&quot;&gt;&lt;property id=&quot;20148&quot; value=&quot;5&quot;/&gt;&lt;property id=&quot;20300&quot; value=&quot;Slide 14&quot;/&gt;&lt;property id=&quot;20307&quot; value=&quot;357&quot;/&gt;&lt;property id=&quot;20309&quot; value=&quot;-1&quot;/&gt;&lt;/object&gt;&lt;object type=&quot;3&quot; unique_id=&quot;10017&quot;&gt;&lt;property id=&quot;20148&quot; value=&quot;5&quot;/&gt;&lt;property id=&quot;20300&quot; value=&quot;Slide 15&quot;/&gt;&lt;property id=&quot;20307&quot; value=&quot;359&quot;/&gt;&lt;property id=&quot;20309&quot; value=&quot;-1&quot;/&gt;&lt;/object&gt;&lt;object type=&quot;3&quot; unique_id=&quot;10018&quot;&gt;&lt;property id=&quot;20148&quot; value=&quot;5&quot;/&gt;&lt;property id=&quot;20300&quot; value=&quot;Slide 16&quot;/&gt;&lt;property id=&quot;20307&quot; value=&quot;358&quot;/&gt;&lt;property id=&quot;20309&quot; value=&quot;-1&quot;/&gt;&lt;/object&gt;&lt;object type=&quot;3&quot; unique_id=&quot;10019&quot;&gt;&lt;property id=&quot;20148&quot; value=&quot;5&quot;/&gt;&lt;property id=&quot;20300&quot; value=&quot;Slide 17&quot;/&gt;&lt;property id=&quot;20307&quot; value=&quot;332&quot;/&gt;&lt;property id=&quot;20309&quot; value=&quot;-1&quot;/&gt;&lt;/object&gt;&lt;object type=&quot;3&quot; unique_id=&quot;10020&quot;&gt;&lt;property id=&quot;20148&quot; value=&quot;5&quot;/&gt;&lt;property id=&quot;20300&quot; value=&quot;Slide 18&quot;/&gt;&lt;property id=&quot;20307&quot; value=&quot;352&quot;/&gt;&lt;property id=&quot;20309&quot; value=&quot;-1&quot;/&gt;&lt;/object&gt;&lt;object type=&quot;3&quot; unique_id=&quot;10021&quot;&gt;&lt;property id=&quot;20148&quot; value=&quot;5&quot;/&gt;&lt;property id=&quot;20300&quot; value=&quot;Slide 19&quot;/&gt;&lt;property id=&quot;20307&quot; value=&quot;324&quot;/&gt;&lt;property id=&quot;20309&quot; value=&quot;-1&quot;/&gt;&lt;/object&gt;&lt;object type=&quot;3&quot; unique_id=&quot;10022&quot;&gt;&lt;property id=&quot;20148&quot; value=&quot;5&quot;/&gt;&lt;property id=&quot;20300&quot; value=&quot;Slide 20&quot;/&gt;&lt;property id=&quot;20307&quot; value=&quot;336&quot;/&gt;&lt;property id=&quot;20309&quot; value=&quot;-1&quot;/&gt;&lt;/object&gt;&lt;object type=&quot;3&quot; unique_id=&quot;10023&quot;&gt;&lt;property id=&quot;20148&quot; value=&quot;5&quot;/&gt;&lt;property id=&quot;20300&quot; value=&quot;Slide 21&quot;/&gt;&lt;property id=&quot;20307&quot; value=&quot;299&quot;/&gt;&lt;property id=&quot;20309&quot; value=&quot;-1&quot;/&gt;&lt;/object&gt;&lt;object type=&quot;3&quot; unique_id=&quot;10024&quot;&gt;&lt;property id=&quot;20148&quot; value=&quot;5&quot;/&gt;&lt;property id=&quot;20300&quot; value=&quot;Slide 22&quot;/&gt;&lt;property id=&quot;20307&quot; value=&quot;333&quot;/&gt;&lt;property id=&quot;20309&quot; value=&quot;-1&quot;/&gt;&lt;/object&gt;&lt;object type=&quot;3&quot; unique_id=&quot;10025&quot;&gt;&lt;property id=&quot;20148&quot; value=&quot;5&quot;/&gt;&lt;property id=&quot;20300&quot; value=&quot;Slide 23&quot;/&gt;&lt;property id=&quot;20307&quot; value=&quot;363&quot;/&gt;&lt;property id=&quot;20309&quot; value=&quot;-1&quot;/&gt;&lt;/object&gt;&lt;object type=&quot;3&quot; unique_id=&quot;10026&quot;&gt;&lt;property id=&quot;20148&quot; value=&quot;5&quot;/&gt;&lt;property id=&quot;20300&quot; value=&quot;Slide 24&quot;/&gt;&lt;property id=&quot;20307&quot; value=&quot;268&quot;/&gt;&lt;property id=&quot;20309&quot; value=&quot;-1&quot;/&gt;&lt;/object&gt;&lt;object type=&quot;3&quot; unique_id=&quot;10027&quot;&gt;&lt;property id=&quot;20148&quot; value=&quot;5&quot;/&gt;&lt;property id=&quot;20300&quot; value=&quot;Slide 25&quot;/&gt;&lt;property id=&quot;20307&quot; value=&quot;269&quot;/&gt;&lt;property id=&quot;20309&quot; value=&quot;-1&quot;/&gt;&lt;/object&gt;&lt;object type=&quot;3&quot; unique_id=&quot;10028&quot;&gt;&lt;property id=&quot;20148&quot; value=&quot;5&quot;/&gt;&lt;property id=&quot;20300&quot; value=&quot;Slide 26&quot;/&gt;&lt;property id=&quot;20307&quot; value=&quot;364&quot;/&gt;&lt;property id=&quot;20309&quot; value=&quot;-1&quot;/&gt;&lt;/object&gt;&lt;object type=&quot;3&quot; unique_id=&quot;10029&quot;&gt;&lt;property id=&quot;20148&quot; value=&quot;5&quot;/&gt;&lt;property id=&quot;20300&quot; value=&quot;Slide 27&quot;/&gt;&lt;property id=&quot;20307&quot; value=&quot;271&quot;/&gt;&lt;property id=&quot;20309&quot; value=&quot;-1&quot;/&gt;&lt;/object&gt;&lt;object type=&quot;3&quot; unique_id=&quot;10030&quot;&gt;&lt;property id=&quot;20148&quot; value=&quot;5&quot;/&gt;&lt;property id=&quot;20300&quot; value=&quot;Slide 28&quot;/&gt;&lt;property id=&quot;20307&quot; value=&quot;361&quot;/&gt;&lt;property id=&quot;20309&quot; value=&quot;-1&quot;/&gt;&lt;/object&gt;&lt;object type=&quot;3&quot; unique_id=&quot;10031&quot;&gt;&lt;property id=&quot;20148&quot; value=&quot;5&quot;/&gt;&lt;property id=&quot;20300&quot; value=&quot;Slide 29&quot;/&gt;&lt;property id=&quot;20307&quot; value=&quot;362&quot;/&gt;&lt;property id=&quot;20309&quot; value=&quot;-1&quot;/&gt;&lt;/object&gt;&lt;object type=&quot;3&quot; unique_id=&quot;10032&quot;&gt;&lt;property id=&quot;20148&quot; value=&quot;5&quot;/&gt;&lt;property id=&quot;20300&quot; value=&quot;Slide 30&quot;/&gt;&lt;property id=&quot;20307&quot; value=&quot;301&quot;/&gt;&lt;property id=&quot;20309&quot; value=&quot;-1&quot;/&gt;&lt;/object&gt;&lt;object type=&quot;3&quot; unique_id=&quot;10033&quot;&gt;&lt;property id=&quot;20148&quot; value=&quot;5&quot;/&gt;&lt;property id=&quot;20300&quot; value=&quot;Slide 31&quot;/&gt;&lt;property id=&quot;20307&quot; value=&quot;325&quot;/&gt;&lt;property id=&quot;20309&quot; value=&quot;-1&quot;/&gt;&lt;/object&gt;&lt;object type=&quot;3&quot; unique_id=&quot;10034&quot;&gt;&lt;property id=&quot;20148&quot; value=&quot;5&quot;/&gt;&lt;property id=&quot;20300&quot; value=&quot;Slide 32&quot;/&gt;&lt;property id=&quot;20307&quot; value=&quot;302&quot;/&gt;&lt;property id=&quot;20309&quot; value=&quot;-1&quot;/&gt;&lt;/object&gt;&lt;object type=&quot;3&quot; unique_id=&quot;10035&quot;&gt;&lt;property id=&quot;20148&quot; value=&quot;5&quot;/&gt;&lt;property id=&quot;20300&quot; value=&quot;Slide 33&quot;/&gt;&lt;property id=&quot;20307&quot; value=&quot;353&quot;/&gt;&lt;property id=&quot;20309&quot; value=&quot;-1&quot;/&gt;&lt;/object&gt;&lt;object type=&quot;3&quot; unique_id=&quot;10036&quot;&gt;&lt;property id=&quot;20148&quot; value=&quot;5&quot;/&gt;&lt;property id=&quot;20300&quot; value=&quot;Slide 34&quot;/&gt;&lt;property id=&quot;20307&quot; value=&quot;273&quot;/&gt;&lt;property id=&quot;20309&quot; value=&quot;-1&quot;/&gt;&lt;/object&gt;&lt;object type=&quot;3&quot; unique_id=&quot;10037&quot;&gt;&lt;property id=&quot;20148&quot; value=&quot;5&quot;/&gt;&lt;property id=&quot;20300&quot; value=&quot;Slide 35&quot;/&gt;&lt;property id=&quot;20307&quot; value=&quot;274&quot;/&gt;&lt;property id=&quot;20309&quot; value=&quot;-1&quot;/&gt;&lt;/object&gt;&lt;object type=&quot;3&quot; unique_id=&quot;10038&quot;&gt;&lt;property id=&quot;20148&quot; value=&quot;5&quot;/&gt;&lt;property id=&quot;20300&quot; value=&quot;Slide 36&quot;/&gt;&lt;property id=&quot;20307&quot; value=&quot;335&quot;/&gt;&lt;property id=&quot;20309&quot; value=&quot;-1&quot;/&gt;&lt;/object&gt;&lt;object type=&quot;3&quot; unique_id=&quot;10039&quot;&gt;&lt;property id=&quot;20148&quot; value=&quot;5&quot;/&gt;&lt;property id=&quot;20300&quot; value=&quot;Slide 37&quot;/&gt;&lt;property id=&quot;20307&quot; value=&quot;341&quot;/&gt;&lt;property id=&quot;20309&quot; value=&quot;-1&quot;/&gt;&lt;/object&gt;&lt;object type=&quot;3&quot; unique_id=&quot;10040&quot;&gt;&lt;property id=&quot;20148&quot; value=&quot;5&quot;/&gt;&lt;property id=&quot;20300&quot; value=&quot;Slide 38&quot;/&gt;&lt;property id=&quot;20307&quot; value=&quot;321&quot;/&gt;&lt;property id=&quot;20309&quot; value=&quot;-1&quot;/&gt;&lt;/object&gt;&lt;object type=&quot;3&quot; unique_id=&quot;10041&quot;&gt;&lt;property id=&quot;20148&quot; value=&quot;5&quot;/&gt;&lt;property id=&quot;20300&quot; value=&quot;Slide 39&quot;/&gt;&lt;property id=&quot;20307&quot; value=&quot;275&quot;/&gt;&lt;property id=&quot;20309&quot; value=&quot;-1&quot;/&gt;&lt;/object&gt;&lt;object type=&quot;3&quot; unique_id=&quot;10042&quot;&gt;&lt;property id=&quot;20148&quot; value=&quot;5&quot;/&gt;&lt;property id=&quot;20300&quot; value=&quot;Slide 40&quot;/&gt;&lt;property id=&quot;20307&quot; value=&quot;276&quot;/&gt;&lt;property id=&quot;20309&quot; value=&quot;-1&quot;/&gt;&lt;/object&gt;&lt;object type=&quot;3&quot; unique_id=&quot;10043&quot;&gt;&lt;property id=&quot;20148&quot; value=&quot;5&quot;/&gt;&lt;property id=&quot;20300&quot; value=&quot;Slide 41&quot;/&gt;&lt;property id=&quot;20307&quot; value=&quot;326&quot;/&gt;&lt;property id=&quot;20309&quot; value=&quot;-1&quot;/&gt;&lt;/object&gt;&lt;object type=&quot;3&quot; unique_id=&quot;10044&quot;&gt;&lt;property id=&quot;20148&quot; value=&quot;5&quot;/&gt;&lt;property id=&quot;20300&quot; value=&quot;Slide 42&quot;/&gt;&lt;property id=&quot;20307&quot; value=&quot;277&quot;/&gt;&lt;property id=&quot;20309&quot; value=&quot;-1&quot;/&gt;&lt;/object&gt;&lt;object type=&quot;3&quot; unique_id=&quot;10045&quot;&gt;&lt;property id=&quot;20148&quot; value=&quot;5&quot;/&gt;&lt;property id=&quot;20300&quot; value=&quot;Slide 43&quot;/&gt;&lt;property id=&quot;20307&quot; value=&quot;327&quot;/&gt;&lt;property id=&quot;20309&quot; value=&quot;-1&quot;/&gt;&lt;/object&gt;&lt;object type=&quot;3&quot; unique_id=&quot;10046&quot;&gt;&lt;property id=&quot;20148&quot; value=&quot;5&quot;/&gt;&lt;property id=&quot;20300&quot; value=&quot;Slide 44&quot;/&gt;&lt;property id=&quot;20307&quot; value=&quot;340&quot;/&gt;&lt;property id=&quot;20309&quot; value=&quot;-1&quot;/&gt;&lt;/object&gt;&lt;object type=&quot;3&quot; unique_id=&quot;10047&quot;&gt;&lt;property id=&quot;20148&quot; value=&quot;5&quot;/&gt;&lt;property id=&quot;20300&quot; value=&quot;Slide 45&quot;/&gt;&lt;property id=&quot;20307&quot; value=&quot;279&quot;/&gt;&lt;property id=&quot;20309&quot; value=&quot;-1&quot;/&gt;&lt;/object&gt;&lt;object type=&quot;3&quot; unique_id=&quot;10048&quot;&gt;&lt;property id=&quot;20148&quot; value=&quot;5&quot;/&gt;&lt;property id=&quot;20300&quot; value=&quot;Slide 46&quot;/&gt;&lt;property id=&quot;20307&quot; value=&quot;328&quot;/&gt;&lt;property id=&quot;20309&quot; value=&quot;-1&quot;/&gt;&lt;/object&gt;&lt;object type=&quot;3&quot; unique_id=&quot;10049&quot;&gt;&lt;property id=&quot;20148&quot; value=&quot;5&quot;/&gt;&lt;property id=&quot;20300&quot; value=&quot;Slide 47&quot;/&gt;&lt;property id=&quot;20307&quot; value=&quot;305&quot;/&gt;&lt;property id=&quot;20309&quot; value=&quot;-1&quot;/&gt;&lt;/object&gt;&lt;object type=&quot;3&quot; unique_id=&quot;10050&quot;&gt;&lt;property id=&quot;20148&quot; value=&quot;5&quot;/&gt;&lt;property id=&quot;20300&quot; value=&quot;Slide 48 - &amp;quot;End of Chapter 8&amp;quot;&quot;/&gt;&lt;property id=&quot;20307&quot; value=&quot;281&quot;/&gt;&lt;property id=&quot;20309&quot; value=&quot;-1&quot;/&gt;&lt;/object&gt;&lt;/object&gt;&lt;object type=&quot;8&quot; unique_id=&quot;10100&quot;&gt;&lt;/object&gt;&lt;object type=&quot;4&quot; unique_id=&quot;10151&quot;&gt;&lt;/object&gt;&lt;object type=&quot;10&quot; unique_id=&quot;10152&quot;&gt;&lt;object type=&quot;11&quot; unique_id=&quot;10153&quot;&gt;&lt;property id=&quot;20180&quot; value=&quot;2&quot;/&gt;&lt;property id=&quot;20181&quot; value=&quot;4&quot;/&gt;&lt;property id=&quot;20183&quot; value=&quot;1&quot;/&gt;&lt;/object&gt;&lt;object type=&quot;12&quot; unique_id=&quot;10154&quot;&gt;&lt;/objec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Lst>
</file>

<file path=ppt/tags/tag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4AC3EE5E-65AB-4693-AC8A-E2E45829A104}_2.png&quot;/&gt;&lt;left val=&quot;55&quot;/&gt;&lt;top val=&quot;42&quot;/&gt;&lt;width val=&quot;827&quot;/&gt;&lt;height val=&quot;102&quot;/&gt;&lt;hasText val=&quot;1&quot;/&gt;&lt;/Image&gt;&lt;/ThreeDShapeInfo&gt;"/>
  <p:tag name="PRESENTER_SHAPETEXTINFO" val="&lt;ShapeTextInfo&gt;&lt;TableIndex row=&quot;-1&quot; col=&quot;-1&quot;&gt;&lt;linesCount val=&quot;2&quot;/&gt;&lt;lineCharCount val=&quot;10&quot;/&gt;&lt;lineCharCount val=&quot;19&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91C87B73-7B04-4780-BC75-4FB8E7D71513}_2.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1&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Lst>
</file>

<file path=ppt/tags/tag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DF7E0562-242C-421D-9098-419F98EC8042}_3.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1&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Lst>
</file>

<file path=ppt/tags/tag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DBB09A2A-1D55-4569-A01A-26982D94F42C}_5.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1&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Lst>
</file>

<file path=ppt/tags/tag1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E437E737-D97A-4D7B-B5D2-2E677EBA8CDB}_6.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1&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HTML_SHAPEINFO" val="&lt;SlideThumbPath val=&quot;Slide8.PNG&quot;/&gt;"/>
</p:tagLst>
</file>

<file path=ppt/tags/tag1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10E9398D-0CDE-4581-89FC-A108BBE90464}_8.png&quot;/&gt;&lt;left val=&quot;68&quot;/&gt;&lt;top val=&quot;87&quot;/&gt;&lt;width val=&quot;835&quot;/&gt;&lt;height val=&quot;57&quot;/&gt;&lt;hasText val=&quot;1&quot;/&gt;&lt;/Image&gt;&lt;/ThreeDShapeInfo&gt;"/>
  <p:tag name="PRESENTER_SHAPETEXTINFO" val="&lt;ShapeTextInfo&gt;&lt;TableIndex row=&quot;-1&quot; col=&quot;-1&quot;&gt;&lt;linesCount val=&quot;1&quot;/&gt;&lt;lineCharCount val=&quot;2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FC364AB2-19E1-4386-B1D6-F5AD388E7938}_8.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Lst>
</file>

<file path=ppt/tags/tag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11A7455E-B92A-4DB3-B4C0-B202212342D9}_9.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1&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Lst>
</file>

<file path=ppt/tags/tag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FDC65011-565B-4AD6-A146-41DA327043FC}_10.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749E4958-A917-4BD6-95AF-8823F4D05FCA}_11.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12.PNG&quot;/&gt;"/>
</p:tagLst>
</file>

<file path=ppt/tags/tag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FDA7A1B3-6B49-40E8-ACCC-C9E49F730ABB}_12.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HTML_SHAPEINFO" val="&lt;SlideThumbPath val=&quot;Slide13.PNG&quot;/&gt;"/>
</p:tagLst>
</file>

<file path=ppt/tags/tag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808CD835-A4A2-400D-9453-41E51B5B053F}_13.png&quot;/&gt;&lt;left val=&quot;105&quot;/&gt;&lt;top val=&quot;128&quot;/&gt;&lt;width val=&quot;584&quot;/&gt;&lt;height val=&quot;52&quot;/&gt;&lt;hasText val=&quot;1&quot;/&gt;&lt;/Image&gt;&lt;/ThreeDShapeInfo&gt;"/>
  <p:tag name="PRESENTER_SHAPETEXTINFO" val="&lt;ShapeTextInfo&gt;&lt;TableIndex row=&quot;-1&quot; col=&quot;-1&quot;&gt;&lt;linesCount val=&quot;1&quot;/&gt;&lt;lineCharCount val=&quot;27&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7FED872D-26BD-4793-9102-4349E5A2BB26}_13.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HTML_SHAPEINFO" val="&lt;SlideThumbPath val=&quot;Slide14.PNG&quot;/&gt;"/>
</p:tagLst>
</file>

<file path=ppt/tags/tag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3C376051-DE79-4E2F-810A-3AC1629D66DF}_14.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HTML_SHAPEINFO" val="&lt;SlideThumbPath val=&quot;Slide15.PNG&quot;/&gt;"/>
</p:tagLst>
</file>

<file path=ppt/tags/tag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6C93E849-6E6C-4A19-B864-0B490B59B050}_15.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HTML_SHAPEINFO" val="&lt;SlideThumbPath val=&quot;Slide17.PNG&quot;/&gt;"/>
</p:tagLst>
</file>

<file path=ppt/tags/tag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E27639F7-E46C-447A-B2DF-705DAF190EE1}_17.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HTML_SHAPEINFO" val="&lt;SlideThumbPath val=&quot;Slide18.PNG&quot;/&gt;"/>
</p:tagLst>
</file>

<file path=ppt/tags/tag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BA6C6402-9435-48E6-B49B-63D94369D7A1}_18.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HTML_SHAPEINFO" val="&lt;SlideThumbPath val=&quot;Slide19.PNG&quot;/&gt;"/>
</p:tagLst>
</file>

<file path=ppt/tags/tag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6BA07A78-8048-4500-8D17-688E71BC95DD}_19.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Lst>
</file>

<file path=ppt/tags/tag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2C2894E1-A995-4E97-8C4A-F6187FE7AAFF}_21.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HTML_SHAPEINFO" val="&lt;SlideThumbPath val=&quot;Slide23.PNG&quot;/&gt;"/>
</p:tagLst>
</file>

<file path=ppt/tags/tag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332BC1AF-77BC-44B4-BF20-DFE81CED1C4B}_23.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HTML_SHAPEINFO" val="&lt;SlideThumbPath val=&quot;Slide24.PNG&quot;/&gt;"/>
</p:tagLst>
</file>

<file path=ppt/tags/tag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6FC53428-B44D-4627-A2A9-FC69B0429DCC}_24.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HTML_SHAPEINFO" val="&lt;SlideThumbPath val=&quot;Slide25.PNG&quot;/&gt;"/>
</p:tagLst>
</file>

<file path=ppt/tags/tag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5EF2DC10-A942-4D26-AF96-C34689A3C4FE}_25.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HTML_SHAPEINFO" val="&lt;SlideThumbPath val=&quot;Slide26.PNG&quot;/&gt;"/>
</p:tagLst>
</file>

<file path=ppt/tags/tag44.xml><?xml version="1.0" encoding="utf-8"?>
<p:tagLst xmlns:a="http://schemas.openxmlformats.org/drawingml/2006/main" xmlns:r="http://schemas.openxmlformats.org/officeDocument/2006/relationships" xmlns:p="http://schemas.openxmlformats.org/presentationml/2006/main">
  <p:tag name="HTML_SHAPEINFO" val="&lt;SlideThumbPath val=&quot;Slide27.PNG&quot;/&gt;"/>
</p:tagLst>
</file>

<file path=ppt/tags/tag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0A360B72-FE03-4ED8-B9AB-8713E8471D94}_27.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HTML_SHAPEINFO" val="&lt;SlideThumbPath val=&quot;Slide28.PNG&quot;/&gt;"/>
</p:tagLst>
</file>

<file path=ppt/tags/tag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4CD60613-4CDF-4505-98DF-1CBA5EE790C6}_28.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HTML_SHAPEINFO" val="&lt;SlideThumbPath val=&quot;Slide30.PNG&quot;/&gt;"/>
</p:tagLst>
</file>

<file path=ppt/tags/tag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017E7EDC-7050-46A3-8D89-E923CF5C3AC0}_30.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HTML_SHAPEINFO" val="&lt;SlideThumbPath val=&quot;Slide31.PNG&quot;/&gt;"/>
</p:tagLst>
</file>

<file path=ppt/tags/tag5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8506E8E8-8583-4FB9-893F-45FB7C08FFDE}_31.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HTML_SHAPEINFO" val="&lt;SlideThumbPath val=&quot;Slide33.PNG&quot;/&gt;"/>
</p:tagLst>
</file>

<file path=ppt/tags/tag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A0BA8D05-B2FF-4B8C-A6E9-63FDFD5B05EC}_33.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HTML_SHAPEINFO" val="&lt;SlideThumbPath val=&quot;Slide34.PNG&quot;/&gt;"/>
</p:tagLst>
</file>

<file path=ppt/tags/tag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1DD06876-6F46-4C7E-A356-51E5972771DF}_34.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HTML_SHAPEINFO" val="&lt;SlideThumbPath val=&quot;Slide35.PNG&quot;/&gt;"/>
</p:tagLst>
</file>

<file path=ppt/tags/tag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058E27C2-520F-4E66-BA7D-A8F4AF2E1C41}_35.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HTML_SHAPEINFO" val="&lt;SlideThumbPath val=&quot;Slide36.PNG&quot;/&gt;"/>
</p:tagLst>
</file>

<file path=ppt/tags/tag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851F0A07-BD85-46FA-A0AC-19F55AC644F9}_36.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HTML_SHAPEINFO" val="&lt;SlideThumbPath val=&quot;Slide38.PNG&quot;/&gt;"/>
</p:tagLst>
</file>

<file path=ppt/tags/tag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F2194C81-EC24-4B01-920A-845231EA6015}_38.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HTML_SHAPEINFO" val="&lt;SlideThumbPath val=&quot;Slide39.PNG&quot;/&gt;"/>
</p:tagLst>
</file>

<file path=ppt/tags/tag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8AEC6BD4-0F83-49E2-9C19-B518382FC729}_39.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HTML_SHAPEINFO" val="&lt;SlideThumbPath val=&quot;Slide40.PNG&quot;/&gt;"/>
</p:tagLst>
</file>

<file path=ppt/tags/tag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9E15104E-5FF6-4612-A0B8-02B324122C18}_40.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HTML_SHAPEINFO" val="&lt;SlideThumbPath val=&quot;Slide42.PNG&quot;/&gt;"/>
</p:tagLst>
</file>

<file path=ppt/tags/tag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FFF4FB7A-41CA-4EF7-B3CD-C65550A60738}_42.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HTML_SHAPEINFO" val="&lt;SlideThumbPath val=&quot;Slide43.PNG&quot;/&gt;"/>
</p:tagLst>
</file>

<file path=ppt/tags/tag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C95E1F35-CB1D-495C-9912-27065E5FFF0C}_43.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HTML_SHAPEINFO" val="&lt;SlideThumbPath val=&quot;Slide44.PNG&quot;/&gt;"/>
</p:tagLst>
</file>

<file path=ppt/tags/tag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833AA10C-4282-4A28-BC04-889F5785838E}_44.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HTML_SHAPEINFO" val="&lt;SlideThumbPath val=&quot;Slide45.PNG&quot;/&gt;"/>
</p:tagLst>
</file>

<file path=ppt/tags/tag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403E46C2-E7AF-4FD7-966D-1F3AB0B26995}_45.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HTML_SHAPEINFO" val="&lt;SlideThumbPath val=&quot;Slide46.PNG&quot;/&gt;"/>
</p:tagLst>
</file>

<file path=ppt/tags/tag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bfoltz\Documents\My Adobe Presentations\SBE13ch08\data\asimages\{9D4314EC-B00D-40F2-A356-4D821E551760}_46.png&quot;/&gt;&lt;left val=&quot;842&quot;/&gt;&lt;top val=&quot;507&quot;/&gt;&lt;width val=&quot;50&quot;/&gt;&lt;height val=&quot;26&quot;/&gt;&lt;hasText val=&quot;1&quot;/&gt;&lt;/Image&gt;&lt;/ThreeDShapeInfo&gt;"/>
  <p:tag name="PRESENTER_SHAPETEXTINFO" val="&lt;ShapeTextInfo&gt;&lt;TableIndex row=&quot;-1&quot; col=&quot;-1&quot;&gt;&lt;linesCount val=&quot;1&quot;/&gt;&lt;lineCharCount val=&quot;2&quot;/&gt;&lt;/TableIndex&gt;&lt;/ShapeTextInfo&gt;"/>
</p:tagLst>
</file>

<file path=ppt/theme/theme1.xml><?xml version="1.0" encoding="utf-8"?>
<a:theme xmlns:a="http://schemas.openxmlformats.org/drawingml/2006/main" name="SBE13ch01_New">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SBE13ch01_New</Template>
  <TotalTime>8170</TotalTime>
  <Pages>26</Pages>
  <Words>2097</Words>
  <Application>Microsoft Office PowerPoint</Application>
  <PresentationFormat>Custom</PresentationFormat>
  <Paragraphs>290</Paragraphs>
  <Slides>38</Slides>
  <Notes>30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38</vt:i4>
      </vt:variant>
    </vt:vector>
  </HeadingPairs>
  <TitlesOfParts>
    <vt:vector size="47" baseType="lpstr">
      <vt:lpstr>Arial</vt:lpstr>
      <vt:lpstr>Book Antiqua</vt:lpstr>
      <vt:lpstr>Calibri</vt:lpstr>
      <vt:lpstr>Calibri Light</vt:lpstr>
      <vt:lpstr>Cambria Math</vt:lpstr>
      <vt:lpstr>MS Reference Serif</vt:lpstr>
      <vt:lpstr>Symbol</vt:lpstr>
      <vt:lpstr>SBE13ch01_New</vt:lpstr>
      <vt:lpstr>1_Office Theme</vt:lpstr>
      <vt:lpstr>Statistics for  Business and Economics (14e)</vt:lpstr>
      <vt:lpstr>Chapter 8 - Interval Estimation</vt:lpstr>
      <vt:lpstr>Margin of error and the Interval Estimate</vt:lpstr>
      <vt:lpstr>Interval Estimate of a Population Mean: σ Known (1 of 4)</vt:lpstr>
      <vt:lpstr>Interval Estimate of a Population Mean: σ  Known (2 of 4)</vt:lpstr>
      <vt:lpstr>Interval Estimate of a Population Mean: σ  Known (3 of 4)</vt:lpstr>
      <vt:lpstr>Interval Estimate of a Population Mean: σ  Known (4 of 4)</vt:lpstr>
      <vt:lpstr>Meaning of C% Confidence</vt:lpstr>
      <vt:lpstr>Interval Estimate of a Population Mean:  σ Known (1 of 5)</vt:lpstr>
      <vt:lpstr>Interval Estimate of a Population Mean:  σ  Known (2 of 5)</vt:lpstr>
      <vt:lpstr>Interval Estimate of a Population Mean:  σ Known (3 of 5)</vt:lpstr>
      <vt:lpstr>Interval Estimate of a Population Mean:  σ  Known (4 of 5)</vt:lpstr>
      <vt:lpstr>Interval Estimate of a Population Mean:  σ Known (5 of 5)</vt:lpstr>
      <vt:lpstr>Interval Estimate of a Population Mean:  σ  unknown</vt:lpstr>
      <vt:lpstr>t  Distribution (1 of 4)</vt:lpstr>
      <vt:lpstr>t  Distribution (2 of 4)</vt:lpstr>
      <vt:lpstr>t  Distribution (3 of 4)</vt:lpstr>
      <vt:lpstr>t  Distribution (4 of 4)</vt:lpstr>
      <vt:lpstr>Interval Estimate of a Population Mean:  σ Unknown (1 of 5)</vt:lpstr>
      <vt:lpstr>Interval Estimate of a Population Mean:  σ Unknown (2 of 5)</vt:lpstr>
      <vt:lpstr>Interval Estimate of a Population Mean:  σ  Unknown (3 of 5)</vt:lpstr>
      <vt:lpstr>Interval Estimate of a Population Mean:  σ  Unknown (4 of 5)</vt:lpstr>
      <vt:lpstr>Interval Estimate of a Population Mean:  σ Unknown (5 of 5)</vt:lpstr>
      <vt:lpstr>Summary of Interval Estimation Procedures for a Population Mean</vt:lpstr>
      <vt:lpstr>Sample Size for an Interval Estimate of a Population Mean (1 of 4)</vt:lpstr>
      <vt:lpstr>Sample Size for an Interval Estimate of a Population Mean (2 of 4)</vt:lpstr>
      <vt:lpstr>Sample Size for an Interval Estimate of a Population Mean (3 of 4)</vt:lpstr>
      <vt:lpstr>Sample Size for an Interval Estimate of a Population Mean (4 of 4)</vt:lpstr>
      <vt:lpstr>Interval Estimate of a Population Proportion (1 of 5)</vt:lpstr>
      <vt:lpstr>Interval Estimate of a Population Proportion (2 of 5)</vt:lpstr>
      <vt:lpstr>Interval Estimate of a Population Proportion (3 of 5)</vt:lpstr>
      <vt:lpstr>Interval Estimate of a Population Proportion (4 of 5)</vt:lpstr>
      <vt:lpstr>Interval Estimate of a Population Proportion (5 of 5)</vt:lpstr>
      <vt:lpstr>Sample Size for an Interval Estimate of a Population Proportion (1 of 4)</vt:lpstr>
      <vt:lpstr>Sample Size for an Interval Estimate of a Population Proportion (2 of 4)</vt:lpstr>
      <vt:lpstr>Sample Size for an Interval Estimate of a Population Proportion (3 of 4)</vt:lpstr>
      <vt:lpstr>Sample Size for an Interval Estimate of a Population Proportion (4 of 4)</vt:lpstr>
      <vt:lpstr>End of Chapter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8 Interval Estimation</dc:title>
  <dc:creator>John IV</dc:creator>
  <cp:lastModifiedBy>Julie Angel</cp:lastModifiedBy>
  <cp:revision>453</cp:revision>
  <cp:lastPrinted>1601-01-01T00:00:00Z</cp:lastPrinted>
  <dcterms:created xsi:type="dcterms:W3CDTF">1996-08-26T14:52:34Z</dcterms:created>
  <dcterms:modified xsi:type="dcterms:W3CDTF">2020-07-14T20:16:11Z</dcterms:modified>
</cp:coreProperties>
</file>