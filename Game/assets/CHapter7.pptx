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71" r:id="rId1"/>
  </p:sldMasterIdLst>
  <p:notesMasterIdLst>
    <p:notesMasterId r:id="rId54"/>
  </p:notesMasterIdLst>
  <p:handoutMasterIdLst>
    <p:handoutMasterId r:id="rId55"/>
  </p:handoutMasterIdLst>
  <p:sldIdLst>
    <p:sldId id="438" r:id="rId2"/>
    <p:sldId id="442" r:id="rId3"/>
    <p:sldId id="441" r:id="rId4"/>
    <p:sldId id="338" r:id="rId5"/>
    <p:sldId id="259" r:id="rId6"/>
    <p:sldId id="444" r:id="rId7"/>
    <p:sldId id="429" r:id="rId8"/>
    <p:sldId id="446" r:id="rId9"/>
    <p:sldId id="447" r:id="rId10"/>
    <p:sldId id="448" r:id="rId11"/>
    <p:sldId id="449" r:id="rId12"/>
    <p:sldId id="472" r:id="rId13"/>
    <p:sldId id="471" r:id="rId14"/>
    <p:sldId id="353" r:id="rId15"/>
    <p:sldId id="425" r:id="rId16"/>
    <p:sldId id="451" r:id="rId17"/>
    <p:sldId id="469" r:id="rId18"/>
    <p:sldId id="470" r:id="rId19"/>
    <p:sldId id="473" r:id="rId20"/>
    <p:sldId id="427" r:id="rId21"/>
    <p:sldId id="430" r:id="rId22"/>
    <p:sldId id="452" r:id="rId23"/>
    <p:sldId id="453" r:id="rId24"/>
    <p:sldId id="363" r:id="rId25"/>
    <p:sldId id="454" r:id="rId26"/>
    <p:sldId id="455" r:id="rId27"/>
    <p:sldId id="458" r:id="rId28"/>
    <p:sldId id="460" r:id="rId29"/>
    <p:sldId id="461" r:id="rId30"/>
    <p:sldId id="462" r:id="rId31"/>
    <p:sldId id="463" r:id="rId32"/>
    <p:sldId id="464" r:id="rId33"/>
    <p:sldId id="465" r:id="rId34"/>
    <p:sldId id="480" r:id="rId35"/>
    <p:sldId id="468" r:id="rId36"/>
    <p:sldId id="466" r:id="rId37"/>
    <p:sldId id="383" r:id="rId38"/>
    <p:sldId id="475" r:id="rId39"/>
    <p:sldId id="476" r:id="rId40"/>
    <p:sldId id="479" r:id="rId41"/>
    <p:sldId id="390" r:id="rId42"/>
    <p:sldId id="392" r:id="rId43"/>
    <p:sldId id="393" r:id="rId44"/>
    <p:sldId id="394" r:id="rId45"/>
    <p:sldId id="395" r:id="rId46"/>
    <p:sldId id="396" r:id="rId47"/>
    <p:sldId id="397" r:id="rId48"/>
    <p:sldId id="398" r:id="rId49"/>
    <p:sldId id="399" r:id="rId50"/>
    <p:sldId id="401" r:id="rId51"/>
    <p:sldId id="435" r:id="rId52"/>
    <p:sldId id="439" r:id="rId53"/>
  </p:sldIdLst>
  <p:sldSz cx="12161838" cy="6858000"/>
  <p:notesSz cx="6858000" cy="9144000"/>
  <p:embeddedFontLst>
    <p:embeddedFont>
      <p:font typeface="Book Antiqua" panose="02040602050305030304" pitchFamily="18" charset="0"/>
      <p:regular r:id="rId56"/>
      <p:bold r:id="rId57"/>
      <p:italic r:id="rId58"/>
      <p:boldItalic r:id="rId59"/>
    </p:embeddedFont>
    <p:embeddedFont>
      <p:font typeface="Cambria Math" panose="02040503050406030204" pitchFamily="18" charset="0"/>
      <p:regular r:id="rId60"/>
    </p:embeddedFont>
    <p:embeddedFont>
      <p:font typeface="MS Reference Serif" panose="020B0604020202020204" charset="0"/>
      <p:regular r:id="rId61"/>
      <p:bold r:id="rId62"/>
      <p:italic r:id="rId63"/>
      <p:boldItalic r:id="rId64"/>
    </p:embeddedFont>
  </p:embeddedFontLst>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9pPr>
  </p:defaultTextStyle>
  <p:extLst>
    <p:ext uri="{EFAFB233-063F-42B5-8137-9DF3F51BA10A}">
      <p15:sldGuideLst xmlns:p15="http://schemas.microsoft.com/office/powerpoint/2012/main">
        <p15:guide id="1" orient="horz" pos="811">
          <p15:clr>
            <a:srgbClr val="A4A3A4"/>
          </p15:clr>
        </p15:guide>
        <p15:guide id="2" pos="6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bitha Kamath"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6E6"/>
    <a:srgbClr val="000000"/>
    <a:srgbClr val="666699"/>
    <a:srgbClr val="72AF2F"/>
    <a:srgbClr val="629430"/>
    <a:srgbClr val="660033"/>
    <a:srgbClr val="669A32"/>
    <a:srgbClr val="77C628"/>
    <a:srgbClr val="80D42C"/>
    <a:srgbClr val="AFDA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91" autoAdjust="0"/>
    <p:restoredTop sz="94886" autoAdjust="0"/>
  </p:normalViewPr>
  <p:slideViewPr>
    <p:cSldViewPr snapToGrid="0">
      <p:cViewPr varScale="1">
        <p:scale>
          <a:sx n="75" d="100"/>
          <a:sy n="75" d="100"/>
        </p:scale>
        <p:origin x="1114" y="48"/>
      </p:cViewPr>
      <p:guideLst>
        <p:guide orient="horz" pos="811"/>
        <p:guide pos="640"/>
      </p:guideLst>
    </p:cSldViewPr>
  </p:slideViewPr>
  <p:outlineViewPr>
    <p:cViewPr>
      <p:scale>
        <a:sx n="33" d="100"/>
        <a:sy n="33" d="100"/>
      </p:scale>
      <p:origin x="0" y="-40876"/>
    </p:cViewPr>
    <p:sldLst>
      <p:sld r:id="rId1" collapse="1"/>
    </p:sldLst>
  </p:outlineViewPr>
  <p:notesTextViewPr>
    <p:cViewPr>
      <p:scale>
        <a:sx n="100" d="100"/>
        <a:sy n="100" d="100"/>
      </p:scale>
      <p:origin x="0" y="0"/>
    </p:cViewPr>
  </p:notesTextViewPr>
  <p:sorterViewPr>
    <p:cViewPr>
      <p:scale>
        <a:sx n="66" d="100"/>
        <a:sy n="66" d="100"/>
      </p:scale>
      <p:origin x="0" y="388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81750" y="8750300"/>
            <a:ext cx="406400" cy="301625"/>
          </a:xfrm>
          <a:prstGeom prst="rect">
            <a:avLst/>
          </a:prstGeom>
          <a:noFill/>
          <a:ln w="12700">
            <a:noFill/>
            <a:miter lim="800000"/>
            <a:headEnd/>
            <a:tailEnd/>
          </a:ln>
          <a:effectLst/>
        </p:spPr>
        <p:txBody>
          <a:bodyPr wrap="none" lIns="90488" tIns="44450" rIns="90488" bIns="44450" anchor="ctr">
            <a:spAutoFit/>
          </a:bodyPr>
          <a:lstStyle/>
          <a:p>
            <a:pPr algn="r"/>
            <a:fld id="{79600975-B2B6-4870-88D3-E37BF21C3312}" type="slidenum">
              <a:rPr lang="en-US" sz="1400">
                <a:effectLst/>
                <a:latin typeface="Book Antiqua" pitchFamily="18" charset="0"/>
              </a:rPr>
              <a:pPr algn="r"/>
              <a:t>‹#›</a:t>
            </a:fld>
            <a:endParaRPr lang="en-US" sz="1400">
              <a:effectLst/>
              <a:latin typeface="Book Antiqua" pitchFamily="18" charset="0"/>
            </a:endParaRPr>
          </a:p>
        </p:txBody>
      </p:sp>
    </p:spTree>
    <p:extLst>
      <p:ext uri="{BB962C8B-B14F-4D97-AF65-F5344CB8AC3E}">
        <p14:creationId xmlns:p14="http://schemas.microsoft.com/office/powerpoint/2010/main" val="3840911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notes styles</a:t>
            </a:r>
          </a:p>
          <a:p>
            <a:pPr lvl="0"/>
            <a:r>
              <a:rPr lang="en-US"/>
              <a:t>Second Level</a:t>
            </a:r>
          </a:p>
          <a:p>
            <a:pPr lvl="0"/>
            <a:r>
              <a:rPr lang="en-US"/>
              <a:t>Third Level</a:t>
            </a:r>
          </a:p>
          <a:p>
            <a:pPr lvl="0"/>
            <a:r>
              <a:rPr lang="en-US"/>
              <a:t>Fourth Level</a:t>
            </a:r>
          </a:p>
          <a:p>
            <a:pPr lvl="0"/>
            <a:r>
              <a:rPr lang="en-US"/>
              <a:t>Fifth Level</a:t>
            </a:r>
          </a:p>
        </p:txBody>
      </p:sp>
      <p:sp>
        <p:nvSpPr>
          <p:cNvPr id="2051" name="Rectangle 3"/>
          <p:cNvSpPr>
            <a:spLocks noGrp="1" noRot="1" noChangeAspect="1" noChangeArrowheads="1" noTextEdit="1"/>
          </p:cNvSpPr>
          <p:nvPr>
            <p:ph type="sldImg" idx="2"/>
          </p:nvPr>
        </p:nvSpPr>
        <p:spPr bwMode="auto">
          <a:xfrm>
            <a:off x="400050" y="692150"/>
            <a:ext cx="6057900" cy="3416300"/>
          </a:xfrm>
          <a:prstGeom prst="rect">
            <a:avLst/>
          </a:prstGeom>
          <a:noFill/>
          <a:ln w="12700">
            <a:solidFill>
              <a:schemeClr val="tx1"/>
            </a:solidFill>
            <a:miter lim="800000"/>
            <a:headEnd/>
            <a:tailEnd/>
          </a:ln>
          <a:effectLst/>
        </p:spPr>
      </p:sp>
      <p:sp>
        <p:nvSpPr>
          <p:cNvPr id="2052" name="Rectangle 4"/>
          <p:cNvSpPr>
            <a:spLocks noChangeArrowheads="1"/>
          </p:cNvSpPr>
          <p:nvPr/>
        </p:nvSpPr>
        <p:spPr bwMode="auto">
          <a:xfrm>
            <a:off x="6381750" y="8750300"/>
            <a:ext cx="406400" cy="301625"/>
          </a:xfrm>
          <a:prstGeom prst="rect">
            <a:avLst/>
          </a:prstGeom>
          <a:noFill/>
          <a:ln w="12700">
            <a:noFill/>
            <a:miter lim="800000"/>
            <a:headEnd/>
            <a:tailEnd/>
          </a:ln>
          <a:effectLst/>
        </p:spPr>
        <p:txBody>
          <a:bodyPr wrap="none" lIns="90488" tIns="44450" rIns="90488" bIns="44450" anchor="ctr">
            <a:spAutoFit/>
          </a:bodyPr>
          <a:lstStyle/>
          <a:p>
            <a:pPr algn="r"/>
            <a:fld id="{1E96E9E9-E33B-4BB4-80A1-0D2E8EEA9FCC}" type="slidenum">
              <a:rPr lang="en-US" sz="1400">
                <a:effectLst/>
                <a:latin typeface="Book Antiqua" pitchFamily="18" charset="0"/>
              </a:rPr>
              <a:pPr algn="r"/>
              <a:t>‹#›</a:t>
            </a:fld>
            <a:endParaRPr lang="en-US" sz="1400">
              <a:effectLst/>
              <a:latin typeface="Book Antiqua" pitchFamily="18" charset="0"/>
            </a:endParaRPr>
          </a:p>
        </p:txBody>
      </p:sp>
    </p:spTree>
    <p:extLst>
      <p:ext uri="{BB962C8B-B14F-4D97-AF65-F5344CB8AC3E}">
        <p14:creationId xmlns:p14="http://schemas.microsoft.com/office/powerpoint/2010/main" val="14498205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8183C1DF-5E15-4B5F-BDE0-920118E0A9B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376840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400050" y="692150"/>
            <a:ext cx="6057900" cy="3416300"/>
          </a:xfrm>
          <a:ln/>
        </p:spPr>
      </p:sp>
      <p:sp>
        <p:nvSpPr>
          <p:cNvPr id="196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22784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400050" y="692150"/>
            <a:ext cx="6057900" cy="3416300"/>
          </a:xfrm>
          <a:ln/>
        </p:spPr>
      </p:sp>
      <p:sp>
        <p:nvSpPr>
          <p:cNvPr id="38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70886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29061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ChangeArrowheads="1" noTextEdit="1"/>
          </p:cNvSpPr>
          <p:nvPr>
            <p:ph type="sldImg"/>
          </p:nvPr>
        </p:nvSpPr>
        <p:spPr>
          <a:xfrm>
            <a:off x="400050" y="692150"/>
            <a:ext cx="6057900" cy="3416300"/>
          </a:xfrm>
          <a:ln/>
        </p:spPr>
      </p:sp>
      <p:sp>
        <p:nvSpPr>
          <p:cNvPr id="210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5239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Rot="1" noChangeAspect="1" noChangeArrowheads="1" noTextEdit="1"/>
          </p:cNvSpPr>
          <p:nvPr>
            <p:ph type="sldImg"/>
          </p:nvPr>
        </p:nvSpPr>
        <p:spPr>
          <a:xfrm>
            <a:off x="400050" y="692150"/>
            <a:ext cx="6057900" cy="3416300"/>
          </a:xfrm>
          <a:ln/>
        </p:spPr>
      </p:sp>
      <p:sp>
        <p:nvSpPr>
          <p:cNvPr id="4311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138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Rot="1" noChangeAspect="1" noChangeArrowheads="1" noTextEdit="1"/>
          </p:cNvSpPr>
          <p:nvPr>
            <p:ph type="sldImg"/>
          </p:nvPr>
        </p:nvSpPr>
        <p:spPr>
          <a:xfrm>
            <a:off x="400050" y="692150"/>
            <a:ext cx="6057900" cy="3416300"/>
          </a:xfrm>
          <a:ln/>
        </p:spPr>
      </p:sp>
      <p:sp>
        <p:nvSpPr>
          <p:cNvPr id="435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6146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spect="1" noChangeArrowheads="1" noTextEdit="1"/>
          </p:cNvSpPr>
          <p:nvPr>
            <p:ph type="sldImg"/>
          </p:nvPr>
        </p:nvSpPr>
        <p:spPr>
          <a:xfrm>
            <a:off x="400050" y="692150"/>
            <a:ext cx="6057900" cy="3416300"/>
          </a:xfrm>
          <a:ln/>
        </p:spPr>
      </p:sp>
      <p:sp>
        <p:nvSpPr>
          <p:cNvPr id="234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80686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2877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269942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4162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020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090726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Rot="1" noChangeAspect="1" noChangeArrowheads="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061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591083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082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821305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102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031353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123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306817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143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991656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164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358244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184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4155676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2051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608425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bwMode="auto">
          <a:xfrm>
            <a:off x="400050" y="692150"/>
            <a:ext cx="6057900" cy="3416300"/>
          </a:xfrm>
          <a:prstGeom prst="rect">
            <a:avLst/>
          </a:prstGeom>
          <a:solidFill>
            <a:srgbClr val="FFFFFF"/>
          </a:solidFill>
          <a:ln>
            <a:solidFill>
              <a:srgbClr val="000000"/>
            </a:solidFill>
            <a:miter lim="800000"/>
            <a:headEnd/>
            <a:tailEnd/>
          </a:ln>
        </p:spPr>
      </p:sp>
      <p:sp>
        <p:nvSpPr>
          <p:cNvPr id="3246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8550079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6127" y="2534653"/>
            <a:ext cx="5372812" cy="1186447"/>
          </a:xfrm>
        </p:spPr>
        <p:txBody>
          <a:bodyPr anchor="t">
            <a:noAutofit/>
          </a:bodyPr>
          <a:lstStyle>
            <a:lvl1pPr algn="l">
              <a:defRPr sz="3192"/>
            </a:lvl1pPr>
          </a:lstStyle>
          <a:p>
            <a:r>
              <a:rPr lang="en-US"/>
              <a:t>Click to edit Master title style</a:t>
            </a:r>
          </a:p>
        </p:txBody>
      </p:sp>
      <p:sp>
        <p:nvSpPr>
          <p:cNvPr id="3" name="Subtitle 2"/>
          <p:cNvSpPr>
            <a:spLocks noGrp="1"/>
          </p:cNvSpPr>
          <p:nvPr>
            <p:ph type="subTitle" idx="1"/>
          </p:nvPr>
        </p:nvSpPr>
        <p:spPr>
          <a:xfrm>
            <a:off x="836127" y="3962400"/>
            <a:ext cx="5372812" cy="737937"/>
          </a:xfrm>
        </p:spPr>
        <p:txBody>
          <a:bodyPr>
            <a:noAutofit/>
          </a:bodyPr>
          <a:lstStyle>
            <a:lvl1pPr marL="0" indent="0" algn="l">
              <a:buNone/>
              <a:defRPr sz="1596"/>
            </a:lvl1pPr>
            <a:lvl2pPr marL="456057" indent="0" algn="ctr">
              <a:buNone/>
              <a:defRPr sz="1995"/>
            </a:lvl2pPr>
            <a:lvl3pPr marL="912114" indent="0" algn="ctr">
              <a:buNone/>
              <a:defRPr sz="1795"/>
            </a:lvl3pPr>
            <a:lvl4pPr marL="1368171" indent="0" algn="ctr">
              <a:buNone/>
              <a:defRPr sz="1596"/>
            </a:lvl4pPr>
            <a:lvl5pPr marL="1824228" indent="0" algn="ctr">
              <a:buNone/>
              <a:defRPr sz="1596"/>
            </a:lvl5pPr>
            <a:lvl6pPr marL="2280285" indent="0" algn="ctr">
              <a:buNone/>
              <a:defRPr sz="1596"/>
            </a:lvl6pPr>
            <a:lvl7pPr marL="2736342" indent="0" algn="ctr">
              <a:buNone/>
              <a:defRPr sz="1596"/>
            </a:lvl7pPr>
            <a:lvl8pPr marL="3192399" indent="0" algn="ctr">
              <a:buNone/>
              <a:defRPr sz="1596"/>
            </a:lvl8pPr>
            <a:lvl9pPr marL="3648456" indent="0" algn="ctr">
              <a:buNone/>
              <a:defRPr sz="1596"/>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5" name="Text Placeholder 4">
            <a:extLst>
              <a:ext uri="{FF2B5EF4-FFF2-40B4-BE49-F238E27FC236}">
                <a16:creationId xmlns:a16="http://schemas.microsoft.com/office/drawing/2014/main" id="{5F39262F-EE24-423F-9BD8-0C9EC6062257}"/>
              </a:ext>
            </a:extLst>
          </p:cNvPr>
          <p:cNvSpPr>
            <a:spLocks noGrp="1"/>
          </p:cNvSpPr>
          <p:nvPr>
            <p:ph type="body" sz="quarter" idx="13"/>
          </p:nvPr>
        </p:nvSpPr>
        <p:spPr>
          <a:xfrm>
            <a:off x="836127" y="6448426"/>
            <a:ext cx="9485434" cy="409575"/>
          </a:xfrm>
        </p:spPr>
        <p:txBody>
          <a:bodyPr>
            <a:normAutofit/>
          </a:bodyPr>
          <a:lstStyle>
            <a:lvl1pPr marL="0" indent="0">
              <a:buNone/>
              <a:defRPr sz="798">
                <a:latin typeface="+mj-lt"/>
              </a:defRPr>
            </a:lvl1pPr>
          </a:lstStyle>
          <a:p>
            <a:pPr lvl="0"/>
            <a:r>
              <a:rPr lang="en-US"/>
              <a:t>Edit Master text styles</a:t>
            </a:r>
          </a:p>
        </p:txBody>
      </p:sp>
      <p:pic>
        <p:nvPicPr>
          <p:cNvPr id="7" name="Picture 6" descr="The cover of Statistics for Business and Economics features a busy highway headed into a big city filled with skyscrapers. It is dusk; lights and reflections are scattered across the image.">
            <a:extLst>
              <a:ext uri="{FF2B5EF4-FFF2-40B4-BE49-F238E27FC236}">
                <a16:creationId xmlns:a16="http://schemas.microsoft.com/office/drawing/2014/main" id="{6E8A0320-B4C5-4F1D-9324-E74C6C306A1F}"/>
              </a:ext>
            </a:extLst>
          </p:cNvPr>
          <p:cNvPicPr>
            <a:picLocks noChangeAspect="1"/>
          </p:cNvPicPr>
          <p:nvPr userDrawn="1"/>
        </p:nvPicPr>
        <p:blipFill>
          <a:blip r:embed="rId2"/>
          <a:stretch>
            <a:fillRect/>
          </a:stretch>
        </p:blipFill>
        <p:spPr>
          <a:xfrm>
            <a:off x="7129174" y="659095"/>
            <a:ext cx="4301053" cy="5376436"/>
          </a:xfrm>
          <a:prstGeom prst="rect">
            <a:avLst/>
          </a:prstGeom>
        </p:spPr>
      </p:pic>
    </p:spTree>
    <p:extLst>
      <p:ext uri="{BB962C8B-B14F-4D97-AF65-F5344CB8AC3E}">
        <p14:creationId xmlns:p14="http://schemas.microsoft.com/office/powerpoint/2010/main" val="3436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1"/>
          <p:cNvSpPr>
            <a:spLocks noGrp="1"/>
          </p:cNvSpPr>
          <p:nvPr>
            <p:ph sz="half" idx="1" hasCustomPrompt="1"/>
          </p:nvPr>
        </p:nvSpPr>
        <p:spPr>
          <a:xfrm>
            <a:off x="836126" y="1463040"/>
            <a:ext cx="5168781" cy="4572000"/>
          </a:xfrm>
        </p:spPr>
        <p:txBody>
          <a:bodyPr/>
          <a:lstStyle>
            <a:lvl1pPr>
              <a:defRPr/>
            </a:lvl1pPr>
          </a:lstStyle>
          <a:p>
            <a:pPr lvl="0"/>
            <a:r>
              <a:rPr lang="en-US"/>
              <a:t>Content Placeholder 1</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hasCustomPrompt="1"/>
          </p:nvPr>
        </p:nvSpPr>
        <p:spPr>
          <a:xfrm>
            <a:off x="6156931" y="1463040"/>
            <a:ext cx="5168781" cy="4572000"/>
          </a:xfrm>
        </p:spPr>
        <p:txBody>
          <a:bodyPr/>
          <a:lstStyle>
            <a:lvl1pPr>
              <a:defRPr/>
            </a:lvl1pPr>
          </a:lstStyle>
          <a:p>
            <a:pPr lvl="0"/>
            <a:r>
              <a:rPr lang="en-US"/>
              <a:t>Content Placeholder 2</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871474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1"/>
          <p:cNvSpPr>
            <a:spLocks noGrp="1"/>
          </p:cNvSpPr>
          <p:nvPr>
            <p:ph sz="half" idx="1" hasCustomPrompt="1"/>
          </p:nvPr>
        </p:nvSpPr>
        <p:spPr>
          <a:xfrm>
            <a:off x="836127" y="1547264"/>
            <a:ext cx="10489585" cy="1316252"/>
          </a:xfrm>
        </p:spPr>
        <p:txBody>
          <a:bodyPr/>
          <a:lstStyle>
            <a:lvl1pPr>
              <a:defRPr/>
            </a:lvl1pPr>
          </a:lstStyle>
          <a:p>
            <a:pPr lvl="0"/>
            <a:r>
              <a:rPr lang="en-US"/>
              <a:t>Content Placeholder 1</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hasCustomPrompt="1"/>
          </p:nvPr>
        </p:nvSpPr>
        <p:spPr>
          <a:xfrm>
            <a:off x="836127" y="2995499"/>
            <a:ext cx="10489585" cy="1420094"/>
          </a:xfrm>
        </p:spPr>
        <p:txBody>
          <a:bodyPr/>
          <a:lstStyle>
            <a:lvl1pPr>
              <a:defRPr/>
            </a:lvl1pPr>
          </a:lstStyle>
          <a:p>
            <a:pPr lvl="0"/>
            <a:r>
              <a:rPr lang="en-US"/>
              <a:t>Content Placeholder 2</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hasCustomPrompt="1"/>
          </p:nvPr>
        </p:nvSpPr>
        <p:spPr>
          <a:xfrm>
            <a:off x="836127" y="4551998"/>
            <a:ext cx="10489585" cy="1420094"/>
          </a:xfrm>
        </p:spPr>
        <p:txBody>
          <a:bodyPr/>
          <a:lstStyle>
            <a:lvl1pPr>
              <a:defRPr/>
            </a:lvl1pPr>
          </a:lstStyle>
          <a:p>
            <a:pPr lvl="0"/>
            <a:r>
              <a:rPr lang="en-US"/>
              <a:t>Content Placeholder 3</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160260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Fou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6126" y="1547264"/>
            <a:ext cx="5023368" cy="20535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36126" y="3919839"/>
            <a:ext cx="5023368" cy="2053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4">
            <a:extLst>
              <a:ext uri="{FF2B5EF4-FFF2-40B4-BE49-F238E27FC236}">
                <a16:creationId xmlns:a16="http://schemas.microsoft.com/office/drawing/2014/main" id="{1EA97922-68D1-4A28-85F3-CE1C535B35D2}"/>
              </a:ext>
            </a:extLst>
          </p:cNvPr>
          <p:cNvSpPr>
            <a:spLocks noGrp="1"/>
          </p:cNvSpPr>
          <p:nvPr>
            <p:ph sz="half" idx="14"/>
          </p:nvPr>
        </p:nvSpPr>
        <p:spPr>
          <a:xfrm>
            <a:off x="6302346" y="1547264"/>
            <a:ext cx="5023368" cy="20535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3CC27E8A-B85C-4DA8-8400-C5DD9CDACDE3}"/>
              </a:ext>
            </a:extLst>
          </p:cNvPr>
          <p:cNvSpPr>
            <a:spLocks noGrp="1"/>
          </p:cNvSpPr>
          <p:nvPr>
            <p:ph sz="half" idx="15"/>
          </p:nvPr>
        </p:nvSpPr>
        <p:spPr>
          <a:xfrm>
            <a:off x="6302346" y="3919839"/>
            <a:ext cx="5023368" cy="2053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471426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Six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1"/>
          <p:cNvSpPr>
            <a:spLocks noGrp="1"/>
          </p:cNvSpPr>
          <p:nvPr>
            <p:ph sz="half" idx="1"/>
          </p:nvPr>
        </p:nvSpPr>
        <p:spPr>
          <a:xfrm>
            <a:off x="836126" y="1547264"/>
            <a:ext cx="5023368"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836126" y="2995499"/>
            <a:ext cx="5023368"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836126" y="4551998"/>
            <a:ext cx="5023368"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4">
            <a:extLst>
              <a:ext uri="{FF2B5EF4-FFF2-40B4-BE49-F238E27FC236}">
                <a16:creationId xmlns:a16="http://schemas.microsoft.com/office/drawing/2014/main" id="{1EA97922-68D1-4A28-85F3-CE1C535B35D2}"/>
              </a:ext>
            </a:extLst>
          </p:cNvPr>
          <p:cNvSpPr>
            <a:spLocks noGrp="1"/>
          </p:cNvSpPr>
          <p:nvPr>
            <p:ph sz="half" idx="14"/>
          </p:nvPr>
        </p:nvSpPr>
        <p:spPr>
          <a:xfrm>
            <a:off x="6302346" y="1547264"/>
            <a:ext cx="5023368"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3CC27E8A-B85C-4DA8-8400-C5DD9CDACDE3}"/>
              </a:ext>
            </a:extLst>
          </p:cNvPr>
          <p:cNvSpPr>
            <a:spLocks noGrp="1"/>
          </p:cNvSpPr>
          <p:nvPr>
            <p:ph sz="half" idx="15"/>
          </p:nvPr>
        </p:nvSpPr>
        <p:spPr>
          <a:xfrm>
            <a:off x="6302346" y="2995499"/>
            <a:ext cx="5023368"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6">
            <a:extLst>
              <a:ext uri="{FF2B5EF4-FFF2-40B4-BE49-F238E27FC236}">
                <a16:creationId xmlns:a16="http://schemas.microsoft.com/office/drawing/2014/main" id="{521CB01A-58A0-425F-A930-A35E44F53630}"/>
              </a:ext>
            </a:extLst>
          </p:cNvPr>
          <p:cNvSpPr>
            <a:spLocks noGrp="1"/>
          </p:cNvSpPr>
          <p:nvPr>
            <p:ph sz="quarter" idx="16"/>
          </p:nvPr>
        </p:nvSpPr>
        <p:spPr>
          <a:xfrm>
            <a:off x="6302346" y="4551998"/>
            <a:ext cx="5023368"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861426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Nin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1"/>
          <p:cNvSpPr>
            <a:spLocks noGrp="1"/>
          </p:cNvSpPr>
          <p:nvPr>
            <p:ph sz="half" idx="1"/>
          </p:nvPr>
        </p:nvSpPr>
        <p:spPr>
          <a:xfrm>
            <a:off x="836126"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836126"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836126"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a:extLst>
              <a:ext uri="{FF2B5EF4-FFF2-40B4-BE49-F238E27FC236}">
                <a16:creationId xmlns:a16="http://schemas.microsoft.com/office/drawing/2014/main" id="{D12FFE69-8A81-407D-A4B6-C6F651E0EBB1}"/>
              </a:ext>
            </a:extLst>
          </p:cNvPr>
          <p:cNvSpPr>
            <a:spLocks noGrp="1"/>
          </p:cNvSpPr>
          <p:nvPr>
            <p:ph sz="half" idx="14"/>
          </p:nvPr>
        </p:nvSpPr>
        <p:spPr>
          <a:xfrm>
            <a:off x="4491288"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5">
            <a:extLst>
              <a:ext uri="{FF2B5EF4-FFF2-40B4-BE49-F238E27FC236}">
                <a16:creationId xmlns:a16="http://schemas.microsoft.com/office/drawing/2014/main" id="{939EBEFC-74FB-4864-A9C1-7F4A6C438D42}"/>
              </a:ext>
            </a:extLst>
          </p:cNvPr>
          <p:cNvSpPr>
            <a:spLocks noGrp="1"/>
          </p:cNvSpPr>
          <p:nvPr>
            <p:ph sz="half" idx="15"/>
          </p:nvPr>
        </p:nvSpPr>
        <p:spPr>
          <a:xfrm>
            <a:off x="4491288"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6">
            <a:extLst>
              <a:ext uri="{FF2B5EF4-FFF2-40B4-BE49-F238E27FC236}">
                <a16:creationId xmlns:a16="http://schemas.microsoft.com/office/drawing/2014/main" id="{09799651-BA94-4F79-8B8B-22BE40E35BE3}"/>
              </a:ext>
            </a:extLst>
          </p:cNvPr>
          <p:cNvSpPr>
            <a:spLocks noGrp="1"/>
          </p:cNvSpPr>
          <p:nvPr>
            <p:ph sz="quarter" idx="16"/>
          </p:nvPr>
        </p:nvSpPr>
        <p:spPr>
          <a:xfrm>
            <a:off x="4491288"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7">
            <a:extLst>
              <a:ext uri="{FF2B5EF4-FFF2-40B4-BE49-F238E27FC236}">
                <a16:creationId xmlns:a16="http://schemas.microsoft.com/office/drawing/2014/main" id="{03C49D1E-4578-469C-B11F-063464DCCEEA}"/>
              </a:ext>
            </a:extLst>
          </p:cNvPr>
          <p:cNvSpPr>
            <a:spLocks noGrp="1"/>
          </p:cNvSpPr>
          <p:nvPr>
            <p:ph sz="half" idx="17"/>
          </p:nvPr>
        </p:nvSpPr>
        <p:spPr>
          <a:xfrm>
            <a:off x="8146449"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F291FBCD-33AA-48C9-81C6-4C086525CBD8}"/>
              </a:ext>
            </a:extLst>
          </p:cNvPr>
          <p:cNvSpPr>
            <a:spLocks noGrp="1"/>
          </p:cNvSpPr>
          <p:nvPr>
            <p:ph sz="half" idx="18"/>
          </p:nvPr>
        </p:nvSpPr>
        <p:spPr>
          <a:xfrm>
            <a:off x="8146449"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9">
            <a:extLst>
              <a:ext uri="{FF2B5EF4-FFF2-40B4-BE49-F238E27FC236}">
                <a16:creationId xmlns:a16="http://schemas.microsoft.com/office/drawing/2014/main" id="{8389CB71-4AEB-432E-8E45-D9B850C56B7C}"/>
              </a:ext>
            </a:extLst>
          </p:cNvPr>
          <p:cNvSpPr>
            <a:spLocks noGrp="1"/>
          </p:cNvSpPr>
          <p:nvPr>
            <p:ph sz="quarter" idx="19"/>
          </p:nvPr>
        </p:nvSpPr>
        <p:spPr>
          <a:xfrm>
            <a:off x="8146449"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3017455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Eleve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1"/>
          <p:cNvSpPr>
            <a:spLocks noGrp="1"/>
          </p:cNvSpPr>
          <p:nvPr>
            <p:ph sz="half" idx="1"/>
          </p:nvPr>
        </p:nvSpPr>
        <p:spPr>
          <a:xfrm>
            <a:off x="836126"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836126"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836126"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a:extLst>
              <a:ext uri="{FF2B5EF4-FFF2-40B4-BE49-F238E27FC236}">
                <a16:creationId xmlns:a16="http://schemas.microsoft.com/office/drawing/2014/main" id="{D12FFE69-8A81-407D-A4B6-C6F651E0EBB1}"/>
              </a:ext>
            </a:extLst>
          </p:cNvPr>
          <p:cNvSpPr>
            <a:spLocks noGrp="1"/>
          </p:cNvSpPr>
          <p:nvPr>
            <p:ph sz="half" idx="14"/>
          </p:nvPr>
        </p:nvSpPr>
        <p:spPr>
          <a:xfrm>
            <a:off x="4491288"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5">
            <a:extLst>
              <a:ext uri="{FF2B5EF4-FFF2-40B4-BE49-F238E27FC236}">
                <a16:creationId xmlns:a16="http://schemas.microsoft.com/office/drawing/2014/main" id="{939EBEFC-74FB-4864-A9C1-7F4A6C438D42}"/>
              </a:ext>
            </a:extLst>
          </p:cNvPr>
          <p:cNvSpPr>
            <a:spLocks noGrp="1"/>
          </p:cNvSpPr>
          <p:nvPr>
            <p:ph sz="half" idx="15"/>
          </p:nvPr>
        </p:nvSpPr>
        <p:spPr>
          <a:xfrm>
            <a:off x="4491288"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6">
            <a:extLst>
              <a:ext uri="{FF2B5EF4-FFF2-40B4-BE49-F238E27FC236}">
                <a16:creationId xmlns:a16="http://schemas.microsoft.com/office/drawing/2014/main" id="{09799651-BA94-4F79-8B8B-22BE40E35BE3}"/>
              </a:ext>
            </a:extLst>
          </p:cNvPr>
          <p:cNvSpPr>
            <a:spLocks noGrp="1"/>
          </p:cNvSpPr>
          <p:nvPr>
            <p:ph sz="quarter" idx="16"/>
          </p:nvPr>
        </p:nvSpPr>
        <p:spPr>
          <a:xfrm>
            <a:off x="4491288"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7">
            <a:extLst>
              <a:ext uri="{FF2B5EF4-FFF2-40B4-BE49-F238E27FC236}">
                <a16:creationId xmlns:a16="http://schemas.microsoft.com/office/drawing/2014/main" id="{03C49D1E-4578-469C-B11F-063464DCCEEA}"/>
              </a:ext>
            </a:extLst>
          </p:cNvPr>
          <p:cNvSpPr>
            <a:spLocks noGrp="1"/>
          </p:cNvSpPr>
          <p:nvPr>
            <p:ph sz="half" idx="17"/>
          </p:nvPr>
        </p:nvSpPr>
        <p:spPr>
          <a:xfrm>
            <a:off x="8146449"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F291FBCD-33AA-48C9-81C6-4C086525CBD8}"/>
              </a:ext>
            </a:extLst>
          </p:cNvPr>
          <p:cNvSpPr>
            <a:spLocks noGrp="1"/>
          </p:cNvSpPr>
          <p:nvPr>
            <p:ph sz="half" idx="18"/>
          </p:nvPr>
        </p:nvSpPr>
        <p:spPr>
          <a:xfrm>
            <a:off x="8146449"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9">
            <a:extLst>
              <a:ext uri="{FF2B5EF4-FFF2-40B4-BE49-F238E27FC236}">
                <a16:creationId xmlns:a16="http://schemas.microsoft.com/office/drawing/2014/main" id="{8389CB71-4AEB-432E-8E45-D9B850C56B7C}"/>
              </a:ext>
            </a:extLst>
          </p:cNvPr>
          <p:cNvSpPr>
            <a:spLocks noGrp="1"/>
          </p:cNvSpPr>
          <p:nvPr>
            <p:ph sz="quarter" idx="19"/>
          </p:nvPr>
        </p:nvSpPr>
        <p:spPr>
          <a:xfrm>
            <a:off x="8146449"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
        <p:nvSpPr>
          <p:cNvPr id="9" name="Content Placeholder 8">
            <a:extLst>
              <a:ext uri="{FF2B5EF4-FFF2-40B4-BE49-F238E27FC236}">
                <a16:creationId xmlns:a16="http://schemas.microsoft.com/office/drawing/2014/main" id="{5F763171-653A-49C8-89A0-2C2548038224}"/>
              </a:ext>
            </a:extLst>
          </p:cNvPr>
          <p:cNvSpPr>
            <a:spLocks noGrp="1"/>
          </p:cNvSpPr>
          <p:nvPr>
            <p:ph sz="quarter" idx="20"/>
          </p:nvPr>
        </p:nvSpPr>
        <p:spPr>
          <a:xfrm>
            <a:off x="6637338" y="368300"/>
            <a:ext cx="2595562" cy="11795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3E34B6E7-970F-450F-A74F-579C81520E85}"/>
              </a:ext>
            </a:extLst>
          </p:cNvPr>
          <p:cNvSpPr>
            <a:spLocks noGrp="1"/>
          </p:cNvSpPr>
          <p:nvPr>
            <p:ph sz="quarter" idx="21"/>
          </p:nvPr>
        </p:nvSpPr>
        <p:spPr>
          <a:xfrm>
            <a:off x="9709150" y="368300"/>
            <a:ext cx="2452688" cy="11795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3731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Content Placeholder 4"/>
          <p:cNvSpPr>
            <a:spLocks noGrp="1"/>
          </p:cNvSpPr>
          <p:nvPr>
            <p:ph sz="quarter" idx="11"/>
          </p:nvPr>
        </p:nvSpPr>
        <p:spPr>
          <a:xfrm>
            <a:off x="836613" y="1490822"/>
            <a:ext cx="10488612" cy="6064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2"/>
          </p:nvPr>
        </p:nvSpPr>
        <p:spPr>
          <a:xfrm>
            <a:off x="836613" y="2324100"/>
            <a:ext cx="10555287" cy="8016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p:cNvSpPr>
            <a:spLocks noGrp="1"/>
          </p:cNvSpPr>
          <p:nvPr>
            <p:ph sz="quarter" idx="13"/>
          </p:nvPr>
        </p:nvSpPr>
        <p:spPr>
          <a:xfrm>
            <a:off x="836613" y="3433763"/>
            <a:ext cx="10555287" cy="10255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p:cNvSpPr>
            <a:spLocks noGrp="1"/>
          </p:cNvSpPr>
          <p:nvPr>
            <p:ph type="sldNum" sz="quarter" idx="10"/>
          </p:nvPr>
        </p:nvSpPr>
        <p:spPr/>
        <p:txBody>
          <a:bodyPr/>
          <a:lstStyle/>
          <a:p>
            <a:fld id="{949EBC64-41CB-41B8-B6DF-9B1367312BD4}" type="slidenum">
              <a:rPr lang="en-US" smtClean="0"/>
              <a:pPr/>
              <a:t>‹#›</a:t>
            </a:fld>
            <a:endParaRPr lang="en-US"/>
          </a:p>
        </p:txBody>
      </p:sp>
      <p:sp>
        <p:nvSpPr>
          <p:cNvPr id="11" name="Title 1"/>
          <p:cNvSpPr>
            <a:spLocks noGrp="1"/>
          </p:cNvSpPr>
          <p:nvPr>
            <p:ph type="title"/>
          </p:nvPr>
        </p:nvSpPr>
        <p:spPr>
          <a:xfrm>
            <a:off x="836127" y="640081"/>
            <a:ext cx="10489585" cy="727075"/>
          </a:xfrm>
        </p:spPr>
        <p:txBody>
          <a:bodyPr/>
          <a:lstStyle/>
          <a:p>
            <a:r>
              <a:rPr lang="en-US" dirty="0"/>
              <a:t>Click to edit Master title style</a:t>
            </a:r>
          </a:p>
        </p:txBody>
      </p:sp>
      <p:sp>
        <p:nvSpPr>
          <p:cNvPr id="8" name="Rectangle 7">
            <a:extLst>
              <a:ext uri="{FF2B5EF4-FFF2-40B4-BE49-F238E27FC236}">
                <a16:creationId xmlns:a16="http://schemas.microsoft.com/office/drawing/2014/main" id="{76EB328D-1843-4EA9-BB10-64E0DFA54971}"/>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1787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1" name="Title 1"/>
          <p:cNvSpPr>
            <a:spLocks noGrp="1"/>
          </p:cNvSpPr>
          <p:nvPr>
            <p:ph type="title"/>
          </p:nvPr>
        </p:nvSpPr>
        <p:spPr>
          <a:xfrm>
            <a:off x="836127" y="640081"/>
            <a:ext cx="10489585" cy="727075"/>
          </a:xfrm>
        </p:spPr>
        <p:txBody>
          <a:bodyPr/>
          <a:lstStyle/>
          <a:p>
            <a:r>
              <a:rPr lang="en-US" dirty="0"/>
              <a:t>Click to edit Master title style</a:t>
            </a:r>
          </a:p>
        </p:txBody>
      </p:sp>
      <p:sp>
        <p:nvSpPr>
          <p:cNvPr id="5" name="Content Placeholder 4"/>
          <p:cNvSpPr>
            <a:spLocks noGrp="1"/>
          </p:cNvSpPr>
          <p:nvPr>
            <p:ph sz="quarter" idx="11"/>
          </p:nvPr>
        </p:nvSpPr>
        <p:spPr>
          <a:xfrm>
            <a:off x="836613" y="1490822"/>
            <a:ext cx="10488612" cy="6064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2"/>
          </p:nvPr>
        </p:nvSpPr>
        <p:spPr>
          <a:xfrm>
            <a:off x="836613" y="2324100"/>
            <a:ext cx="10555287" cy="8016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p:cNvSpPr>
            <a:spLocks noGrp="1"/>
          </p:cNvSpPr>
          <p:nvPr>
            <p:ph sz="quarter" idx="13"/>
          </p:nvPr>
        </p:nvSpPr>
        <p:spPr>
          <a:xfrm>
            <a:off x="836613" y="3433763"/>
            <a:ext cx="10555287" cy="10255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14"/>
          </p:nvPr>
        </p:nvSpPr>
        <p:spPr>
          <a:xfrm>
            <a:off x="836613" y="4740275"/>
            <a:ext cx="10555287" cy="1125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p:cNvSpPr>
            <a:spLocks noGrp="1"/>
          </p:cNvSpPr>
          <p:nvPr>
            <p:ph type="sldNum" sz="quarter" idx="10"/>
          </p:nvPr>
        </p:nvSpPr>
        <p:spPr/>
        <p:txBody>
          <a:bodyPr/>
          <a:lstStyle/>
          <a:p>
            <a:fld id="{949EBC64-41CB-41B8-B6DF-9B1367312BD4}" type="slidenum">
              <a:rPr lang="en-US" smtClean="0"/>
              <a:pPr/>
              <a:t>‹#›</a:t>
            </a:fld>
            <a:endParaRPr lang="en-US"/>
          </a:p>
        </p:txBody>
      </p:sp>
      <p:sp>
        <p:nvSpPr>
          <p:cNvPr id="8" name="Rectangle 7">
            <a:extLst>
              <a:ext uri="{FF2B5EF4-FFF2-40B4-BE49-F238E27FC236}">
                <a16:creationId xmlns:a16="http://schemas.microsoft.com/office/drawing/2014/main" id="{E8F49A8B-9DFC-4EAB-B973-E6499EC214C6}"/>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1245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6613" y="1476103"/>
            <a:ext cx="10488612"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4792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49EBC64-41CB-41B8-B6DF-9B1367312BD4}" type="slidenum">
              <a:rPr lang="en-US" smtClean="0"/>
              <a:t>‹#›</a:t>
            </a:fld>
            <a:endParaRPr lang="en-US"/>
          </a:p>
        </p:txBody>
      </p:sp>
      <p:sp>
        <p:nvSpPr>
          <p:cNvPr id="3" name="Rectangle 2">
            <a:extLst>
              <a:ext uri="{FF2B5EF4-FFF2-40B4-BE49-F238E27FC236}">
                <a16:creationId xmlns:a16="http://schemas.microsoft.com/office/drawing/2014/main" id="{796A38F8-7E03-4BA4-B1EC-DE63CF1A19AE}"/>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1813993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userDrawn="1"/>
        </p:nvSpPr>
        <p:spPr>
          <a:xfrm>
            <a:off x="1" y="1"/>
            <a:ext cx="12191996" cy="464388"/>
          </a:xfrm>
          <a:prstGeom prst="rect">
            <a:avLst/>
          </a:prstGeom>
          <a:solidFill>
            <a:srgbClr val="BF2317">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6127" y="640081"/>
            <a:ext cx="10489585" cy="72707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36127" y="1463040"/>
            <a:ext cx="10489585" cy="4572000"/>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0699774" y="6448509"/>
            <a:ext cx="625938" cy="272967"/>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949EBC64-41CB-41B8-B6DF-9B1367312BD4}" type="slidenum">
              <a:rPr lang="en-US" smtClean="0"/>
              <a:pPr/>
              <a:t>‹#›</a:t>
            </a:fld>
            <a:endParaRPr lang="en-US"/>
          </a:p>
        </p:txBody>
      </p:sp>
      <p:pic>
        <p:nvPicPr>
          <p:cNvPr id="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 y="464389"/>
            <a:ext cx="12196108"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 y="6248402"/>
            <a:ext cx="12196106"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p:cNvSpPr/>
          <p:nvPr/>
        </p:nvSpPr>
        <p:spPr>
          <a:xfrm>
            <a:off x="5989834" y="48578"/>
            <a:ext cx="5335877" cy="369332"/>
          </a:xfrm>
          <a:prstGeom prst="rect">
            <a:avLst/>
          </a:prstGeom>
        </p:spPr>
        <p:txBody>
          <a:bodyPr wrap="square">
            <a:spAutoFit/>
          </a:bodyPr>
          <a:lstStyle/>
          <a:p>
            <a:pPr algn="r"/>
            <a:r>
              <a:rPr lang="en-US" sz="1800" dirty="0">
                <a:solidFill>
                  <a:schemeClr val="bg1"/>
                </a:solidFill>
                <a:effectLst/>
                <a:latin typeface="+mn-lt"/>
              </a:rPr>
              <a:t>Statistics for Business and Economics </a:t>
            </a:r>
            <a:r>
              <a:rPr lang="en-US" sz="1800">
                <a:solidFill>
                  <a:schemeClr val="bg1"/>
                </a:solidFill>
                <a:effectLst/>
                <a:latin typeface="+mn-lt"/>
              </a:rPr>
              <a:t>(14e</a:t>
            </a:r>
            <a:r>
              <a:rPr lang="en-US" sz="1800" dirty="0">
                <a:solidFill>
                  <a:schemeClr val="bg1"/>
                </a:solidFill>
                <a:effectLst/>
                <a:latin typeface="+mn-lt"/>
              </a:rPr>
              <a:t>)</a:t>
            </a:r>
          </a:p>
        </p:txBody>
      </p:sp>
      <p:sp>
        <p:nvSpPr>
          <p:cNvPr id="14" name="Rectangle 13"/>
          <p:cNvSpPr/>
          <p:nvPr userDrawn="1"/>
        </p:nvSpPr>
        <p:spPr>
          <a:xfrm flipV="1">
            <a:off x="0" y="6175652"/>
            <a:ext cx="12191997" cy="79652"/>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91378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09" r:id="rId8"/>
    <p:sldLayoutId id="2147483710" r:id="rId9"/>
    <p:sldLayoutId id="2147483673" r:id="rId10"/>
    <p:sldLayoutId id="2147483678" r:id="rId11"/>
  </p:sldLayoutIdLst>
  <p:hf hdr="0" ftr="0" dt="0"/>
  <p:txStyles>
    <p:titleStyle>
      <a:lvl1pPr algn="l" defTabSz="914400" rtl="0" eaLnBrk="1" latinLnBrk="0" hangingPunct="1">
        <a:lnSpc>
          <a:spcPct val="90000"/>
        </a:lnSpc>
        <a:spcBef>
          <a:spcPct val="0"/>
        </a:spcBef>
        <a:buNone/>
        <a:defRPr sz="32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42.png"/><Relationship Id="rId5" Type="http://schemas.microsoft.com/office/2007/relationships/hdphoto" Target="../media/hdphoto1.wdp"/><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480.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3.png"/><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5.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5.png"/></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slideLayout" Target="../slideLayouts/slideLayout3.xml"/><Relationship Id="rId5" Type="http://schemas.openxmlformats.org/officeDocument/2006/relationships/image" Target="../media/image73.png"/><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5.xml"/><Relationship Id="rId4" Type="http://schemas.openxmlformats.org/officeDocument/2006/relationships/image" Target="../media/image80.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87.png"/><Relationship Id="rId4" Type="http://schemas.openxmlformats.org/officeDocument/2006/relationships/image" Target="../media/image8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Autofit/>
          </a:bodyPr>
          <a:lstStyle/>
          <a:p>
            <a:r>
              <a:rPr lang="en-US" dirty="0"/>
              <a:t>Statistics for </a:t>
            </a:r>
            <a:br>
              <a:rPr lang="en-US" dirty="0"/>
            </a:br>
            <a:r>
              <a:rPr lang="en-US" dirty="0"/>
              <a:t>Business and Economics (14e)</a:t>
            </a:r>
          </a:p>
        </p:txBody>
      </p:sp>
      <p:sp>
        <p:nvSpPr>
          <p:cNvPr id="2" name="Subtitle 1">
            <a:extLst>
              <a:ext uri="{FF2B5EF4-FFF2-40B4-BE49-F238E27FC236}">
                <a16:creationId xmlns:a16="http://schemas.microsoft.com/office/drawing/2014/main" id="{09742094-1180-420A-B333-CF4D79625284}"/>
              </a:ext>
            </a:extLst>
          </p:cNvPr>
          <p:cNvSpPr>
            <a:spLocks noGrp="1"/>
          </p:cNvSpPr>
          <p:nvPr>
            <p:ph type="subTitle" idx="1"/>
          </p:nvPr>
        </p:nvSpPr>
        <p:spPr/>
        <p:txBody>
          <a:bodyPr/>
          <a:lstStyle/>
          <a:p>
            <a:r>
              <a:rPr lang="en-US" dirty="0"/>
              <a:t>Anderson, Sweeney, Williams, </a:t>
            </a:r>
            <a:r>
              <a:rPr lang="en-US" dirty="0" err="1"/>
              <a:t>Camm</a:t>
            </a:r>
            <a:r>
              <a:rPr lang="en-US" dirty="0"/>
              <a:t>, Cochran, Fry, </a:t>
            </a:r>
            <a:r>
              <a:rPr lang="en-US" dirty="0" err="1"/>
              <a:t>Ohlmann</a:t>
            </a:r>
            <a:endParaRPr lang="en-US" dirty="0"/>
          </a:p>
          <a:p>
            <a:r>
              <a:rPr lang="en-US" dirty="0"/>
              <a:t>© 2020 Cengage Learning</a:t>
            </a:r>
          </a:p>
          <a:p>
            <a:endParaRPr lang="en-US" dirty="0"/>
          </a:p>
        </p:txBody>
      </p:sp>
      <p:sp>
        <p:nvSpPr>
          <p:cNvPr id="6" name="Text Placeholder 5"/>
          <p:cNvSpPr>
            <a:spLocks noGrp="1"/>
          </p:cNvSpPr>
          <p:nvPr>
            <p:ph type="body" sz="quarter" idx="13"/>
          </p:nvPr>
        </p:nvSpPr>
        <p:spPr/>
        <p:txBody>
          <a:bodyPr>
            <a:noAutofit/>
          </a:bodyPr>
          <a:lstStyle/>
          <a:p>
            <a:r>
              <a:rPr lang="en-US" dirty="0">
                <a:solidFill>
                  <a:srgbClr val="000000"/>
                </a:solidFill>
                <a:cs typeface="Arial" panose="020B0604020202020204" pitchFamily="34" charset="0"/>
              </a:rPr>
              <a:t>© 2020  Cengage.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9" name="Slide Number Placeholder 8"/>
          <p:cNvSpPr>
            <a:spLocks noGrp="1"/>
          </p:cNvSpPr>
          <p:nvPr>
            <p:ph type="sldNum" sz="quarter" idx="12"/>
          </p:nvPr>
        </p:nvSpPr>
        <p:spPr/>
        <p:txBody>
          <a:bodyPr/>
          <a:lstStyle/>
          <a:p>
            <a:fld id="{949EBC64-41CB-41B8-B6DF-9B1367312BD4}" type="slidenum">
              <a:rPr lang="en-US" smtClean="0">
                <a:solidFill>
                  <a:prstClr val="black">
                    <a:tint val="75000"/>
                  </a:prstClr>
                </a:solidFill>
              </a:rPr>
              <a:pPr/>
              <a:t>1</a:t>
            </a:fld>
            <a:endParaRPr lang="en-US">
              <a:solidFill>
                <a:prstClr val="black">
                  <a:tint val="75000"/>
                </a:prstClr>
              </a:solidFill>
            </a:endParaRPr>
          </a:p>
        </p:txBody>
      </p:sp>
    </p:spTree>
    <p:extLst>
      <p:ext uri="{BB962C8B-B14F-4D97-AF65-F5344CB8AC3E}">
        <p14:creationId xmlns:p14="http://schemas.microsoft.com/office/powerpoint/2010/main" val="2157924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a:t>Chapter 7 - Sampling and Sampling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3"/>
              </p:nvPr>
            </p:nvSpPr>
            <p:spPr/>
            <p:txBody>
              <a:bodyPr>
                <a:noAutofit/>
              </a:bodyPr>
              <a:lstStyle/>
              <a:p>
                <a:pPr marL="0" lvl="0" indent="0">
                  <a:buNone/>
                </a:pPr>
                <a:r>
                  <a:rPr lang="en-US" sz="2400" dirty="0">
                    <a:solidFill>
                      <a:srgbClr val="000000"/>
                    </a:solidFill>
                    <a:cs typeface="Arial" panose="020B0604020202020204" pitchFamily="34" charset="0"/>
                  </a:rPr>
                  <a:t>7.1 – The Electronics Associates Sampling Problem</a:t>
                </a:r>
              </a:p>
              <a:p>
                <a:pPr marL="0" lvl="0" indent="0">
                  <a:buNone/>
                </a:pPr>
                <a:r>
                  <a:rPr lang="en-US" sz="2400" dirty="0">
                    <a:solidFill>
                      <a:srgbClr val="000000"/>
                    </a:solidFill>
                    <a:cs typeface="Arial" panose="020B0604020202020204" pitchFamily="34" charset="0"/>
                  </a:rPr>
                  <a:t>7.2 – Selecting a Sample</a:t>
                </a:r>
              </a:p>
              <a:p>
                <a:pPr marL="0" lvl="0" indent="0">
                  <a:buNone/>
                </a:pPr>
                <a:r>
                  <a:rPr lang="en-US" sz="2400" dirty="0">
                    <a:solidFill>
                      <a:srgbClr val="000000"/>
                    </a:solidFill>
                    <a:cs typeface="Arial" panose="020B0604020202020204" pitchFamily="34" charset="0"/>
                  </a:rPr>
                  <a:t>7.3 – Point Estimation</a:t>
                </a:r>
              </a:p>
              <a:p>
                <a:pPr marL="0" lvl="0" indent="0">
                  <a:buNone/>
                </a:pPr>
                <a:r>
                  <a:rPr lang="en-US" sz="2400" dirty="0">
                    <a:solidFill>
                      <a:srgbClr val="000000"/>
                    </a:solidFill>
                    <a:cs typeface="Arial" panose="020B0604020202020204" pitchFamily="34" charset="0"/>
                  </a:rPr>
                  <a:t>7.4 – Introduction to Sampling Distributions</a:t>
                </a:r>
              </a:p>
              <a:p>
                <a:pPr marL="0" lvl="0" indent="0">
                  <a:buNone/>
                </a:pPr>
                <a:r>
                  <a:rPr lang="en-US" sz="2400" dirty="0">
                    <a:solidFill>
                      <a:srgbClr val="000000"/>
                    </a:solidFill>
                    <a:cs typeface="Arial" panose="020B0604020202020204" pitchFamily="34" charset="0"/>
                  </a:rPr>
                  <a:t>7.5 –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endParaRPr lang="en-US" sz="2400" dirty="0">
                  <a:solidFill>
                    <a:srgbClr val="000000"/>
                  </a:solidFill>
                  <a:cs typeface="Arial" panose="020B0604020202020204" pitchFamily="34" charset="0"/>
                </a:endParaRPr>
              </a:p>
              <a:p>
                <a:pPr marL="0" lvl="0" indent="0">
                  <a:buNone/>
                </a:pPr>
                <a:r>
                  <a:rPr lang="en-US" sz="2400" dirty="0">
                    <a:solidFill>
                      <a:srgbClr val="000000"/>
                    </a:solidFill>
                    <a:cs typeface="Arial" panose="020B0604020202020204" pitchFamily="34" charset="0"/>
                  </a:rPr>
                  <a:t>7.6 –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𝑝</m:t>
                        </m:r>
                      </m:e>
                    </m:acc>
                  </m:oMath>
                </a14:m>
                <a:endParaRPr lang="en-US" sz="2400" dirty="0">
                  <a:solidFill>
                    <a:srgbClr val="000000"/>
                  </a:solidFill>
                </a:endParaRPr>
              </a:p>
              <a:p>
                <a:pPr marL="0" lvl="0" indent="0">
                  <a:buNone/>
                </a:pPr>
                <a:r>
                  <a:rPr lang="en-US" sz="2400" dirty="0">
                    <a:solidFill>
                      <a:srgbClr val="000000"/>
                    </a:solidFill>
                    <a:cs typeface="Arial" panose="020B0604020202020204" pitchFamily="34" charset="0"/>
                  </a:rPr>
                  <a:t>7.7 – Properties of Point Estimators</a:t>
                </a:r>
              </a:p>
              <a:p>
                <a:pPr marL="0" lvl="0" indent="0">
                  <a:buNone/>
                </a:pPr>
                <a:r>
                  <a:rPr lang="en-US" sz="2400" dirty="0">
                    <a:solidFill>
                      <a:srgbClr val="000000"/>
                    </a:solidFill>
                    <a:cs typeface="Arial" panose="020B0604020202020204" pitchFamily="34" charset="0"/>
                  </a:rPr>
                  <a:t>7.8 – Other Sampling Methods</a:t>
                </a:r>
              </a:p>
              <a:p>
                <a:pPr marL="0" lvl="0" indent="0">
                  <a:buNone/>
                </a:pPr>
                <a:r>
                  <a:rPr lang="en-US" sz="2400" dirty="0">
                    <a:solidFill>
                      <a:srgbClr val="000000"/>
                    </a:solidFill>
                    <a:cs typeface="Arial" panose="020B0604020202020204" pitchFamily="34" charset="0"/>
                  </a:rPr>
                  <a:t>7.9 – Big Data and Standard Errors of Sampling Distributions</a:t>
                </a:r>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blipFill>
                <a:blip r:embed="rId2"/>
                <a:stretch>
                  <a:fillRect l="-872" t="-192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949EBC64-41CB-41B8-B6DF-9B1367312BD4}" type="slidenum">
              <a:rPr lang="en-US" smtClean="0"/>
              <a:t>2</a:t>
            </a:fld>
            <a:endParaRPr lang="en-US"/>
          </a:p>
        </p:txBody>
      </p:sp>
    </p:spTree>
    <p:extLst>
      <p:ext uri="{BB962C8B-B14F-4D97-AF65-F5344CB8AC3E}">
        <p14:creationId xmlns:p14="http://schemas.microsoft.com/office/powerpoint/2010/main" val="370951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r>
              <a:rPr lang="en-US" sz="1600" dirty="0"/>
              <a:t>(1 of 2)</a:t>
            </a:r>
          </a:p>
        </p:txBody>
      </p:sp>
      <p:sp>
        <p:nvSpPr>
          <p:cNvPr id="3" name="Content Placeholder 2"/>
          <p:cNvSpPr>
            <a:spLocks noGrp="1"/>
          </p:cNvSpPr>
          <p:nvPr>
            <p:ph sz="quarter" idx="13"/>
          </p:nvPr>
        </p:nvSpPr>
        <p:spPr/>
        <p:txBody>
          <a:bodyPr>
            <a:noAutofit/>
          </a:bodyPr>
          <a:lstStyle/>
          <a:p>
            <a:pPr marL="342900" lvl="0" indent="-342900" eaLnBrk="0" fontAlgn="base" hangingPunct="0">
              <a:lnSpc>
                <a:spcPct val="100000"/>
              </a:lnSpc>
              <a:spcBef>
                <a:spcPct val="0"/>
              </a:spcBef>
              <a:spcAft>
                <a:spcPct val="0"/>
              </a:spcAft>
            </a:pPr>
            <a:r>
              <a:rPr lang="en-US" sz="2400" dirty="0">
                <a:solidFill>
                  <a:srgbClr val="000000"/>
                </a:solidFill>
                <a:cs typeface="Arial" panose="020B0604020202020204" pitchFamily="34" charset="0"/>
              </a:rPr>
              <a:t>An </a:t>
            </a:r>
            <a:r>
              <a:rPr lang="en-US" sz="2400" u="sng" dirty="0">
                <a:solidFill>
                  <a:srgbClr val="000000"/>
                </a:solidFill>
                <a:cs typeface="Arial" panose="020B0604020202020204" pitchFamily="34" charset="0"/>
              </a:rPr>
              <a:t>element</a:t>
            </a:r>
            <a:r>
              <a:rPr lang="en-US" sz="2400" dirty="0">
                <a:solidFill>
                  <a:srgbClr val="000000"/>
                </a:solidFill>
                <a:cs typeface="Arial" panose="020B0604020202020204" pitchFamily="34" charset="0"/>
              </a:rPr>
              <a:t> is the entity on which data are collected.</a:t>
            </a:r>
          </a:p>
          <a:p>
            <a:pPr marL="342900" lvl="0" indent="-342900" eaLnBrk="0" fontAlgn="base" hangingPunct="0">
              <a:lnSpc>
                <a:spcPct val="100000"/>
              </a:lnSpc>
              <a:spcBef>
                <a:spcPct val="0"/>
              </a:spcBef>
              <a:spcAft>
                <a:spcPct val="0"/>
              </a:spcAft>
            </a:pPr>
            <a:r>
              <a:rPr lang="en-US" sz="2400" dirty="0">
                <a:solidFill>
                  <a:srgbClr val="000000"/>
                </a:solidFill>
                <a:cs typeface="Arial" panose="020B0604020202020204" pitchFamily="34" charset="0"/>
              </a:rPr>
              <a:t>A </a:t>
            </a:r>
            <a:r>
              <a:rPr lang="en-US" sz="2400" u="sng" dirty="0">
                <a:solidFill>
                  <a:srgbClr val="000000"/>
                </a:solidFill>
                <a:cs typeface="Arial" panose="020B0604020202020204" pitchFamily="34" charset="0"/>
              </a:rPr>
              <a:t>population</a:t>
            </a:r>
            <a:r>
              <a:rPr lang="en-US" sz="2400" dirty="0">
                <a:solidFill>
                  <a:srgbClr val="000000"/>
                </a:solidFill>
                <a:cs typeface="Arial" panose="020B0604020202020204" pitchFamily="34" charset="0"/>
              </a:rPr>
              <a:t> is a collection of all the elements of interest.</a:t>
            </a:r>
          </a:p>
          <a:p>
            <a:pPr marL="342900" lvl="0" indent="-342900" eaLnBrk="0" fontAlgn="base" hangingPunct="0">
              <a:lnSpc>
                <a:spcPct val="100000"/>
              </a:lnSpc>
              <a:spcBef>
                <a:spcPct val="0"/>
              </a:spcBef>
              <a:spcAft>
                <a:spcPct val="0"/>
              </a:spcAft>
            </a:pPr>
            <a:r>
              <a:rPr lang="en-US" sz="2400" dirty="0">
                <a:solidFill>
                  <a:srgbClr val="000000"/>
                </a:solidFill>
                <a:cs typeface="Arial" panose="020B0604020202020204" pitchFamily="34" charset="0"/>
              </a:rPr>
              <a:t>A </a:t>
            </a:r>
            <a:r>
              <a:rPr lang="en-US" sz="2400" u="sng" dirty="0">
                <a:solidFill>
                  <a:srgbClr val="000000"/>
                </a:solidFill>
                <a:cs typeface="Arial" panose="020B0604020202020204" pitchFamily="34" charset="0"/>
              </a:rPr>
              <a:t>sample</a:t>
            </a:r>
            <a:r>
              <a:rPr lang="en-US" sz="2400" dirty="0">
                <a:solidFill>
                  <a:srgbClr val="000000"/>
                </a:solidFill>
                <a:cs typeface="Arial" panose="020B0604020202020204" pitchFamily="34" charset="0"/>
              </a:rPr>
              <a:t> is a subset of the population.</a:t>
            </a:r>
          </a:p>
          <a:p>
            <a:pPr marL="342900" lvl="0" indent="-342900" eaLnBrk="0" fontAlgn="base" hangingPunct="0">
              <a:lnSpc>
                <a:spcPct val="100000"/>
              </a:lnSpc>
              <a:spcBef>
                <a:spcPct val="0"/>
              </a:spcBef>
              <a:spcAft>
                <a:spcPct val="0"/>
              </a:spcAft>
            </a:pPr>
            <a:r>
              <a:rPr lang="en-US" sz="2400" dirty="0">
                <a:solidFill>
                  <a:srgbClr val="000000"/>
                </a:solidFill>
                <a:cs typeface="Arial" panose="020B0604020202020204" pitchFamily="34" charset="0"/>
              </a:rPr>
              <a:t>The </a:t>
            </a:r>
            <a:r>
              <a:rPr lang="en-US" sz="2400" u="sng" dirty="0">
                <a:solidFill>
                  <a:srgbClr val="000000"/>
                </a:solidFill>
                <a:cs typeface="Arial" panose="020B0604020202020204" pitchFamily="34" charset="0"/>
              </a:rPr>
              <a:t>sampled population</a:t>
            </a:r>
            <a:r>
              <a:rPr lang="en-US" sz="2400" dirty="0">
                <a:solidFill>
                  <a:srgbClr val="000000"/>
                </a:solidFill>
                <a:cs typeface="Arial" panose="020B0604020202020204" pitchFamily="34" charset="0"/>
              </a:rPr>
              <a:t> is the population from which the sample is drawn.</a:t>
            </a:r>
          </a:p>
          <a:p>
            <a:pPr marL="342900" lvl="0" indent="-342900" eaLnBrk="0" fontAlgn="base" hangingPunct="0">
              <a:lnSpc>
                <a:spcPct val="100000"/>
              </a:lnSpc>
              <a:spcBef>
                <a:spcPct val="0"/>
              </a:spcBef>
              <a:spcAft>
                <a:spcPct val="0"/>
              </a:spcAft>
            </a:pPr>
            <a:r>
              <a:rPr lang="en-US" sz="2400" dirty="0">
                <a:solidFill>
                  <a:srgbClr val="000000"/>
                </a:solidFill>
                <a:cs typeface="Arial" panose="020B0604020202020204" pitchFamily="34" charset="0"/>
              </a:rPr>
              <a:t>A </a:t>
            </a:r>
            <a:r>
              <a:rPr lang="en-US" sz="2400" u="sng" dirty="0">
                <a:solidFill>
                  <a:srgbClr val="000000"/>
                </a:solidFill>
                <a:cs typeface="Arial" panose="020B0604020202020204" pitchFamily="34" charset="0"/>
              </a:rPr>
              <a:t>frame</a:t>
            </a:r>
            <a:r>
              <a:rPr lang="en-US" sz="2400" dirty="0">
                <a:solidFill>
                  <a:srgbClr val="000000"/>
                </a:solidFill>
                <a:cs typeface="Arial" panose="020B0604020202020204" pitchFamily="34" charset="0"/>
              </a:rPr>
              <a:t> is a list of the elements that the sample will be selected from.</a:t>
            </a:r>
          </a:p>
        </p:txBody>
      </p:sp>
      <p:sp>
        <p:nvSpPr>
          <p:cNvPr id="4" name="Slide Number Placeholder 3"/>
          <p:cNvSpPr>
            <a:spLocks noGrp="1"/>
          </p:cNvSpPr>
          <p:nvPr>
            <p:ph type="sldNum" sz="quarter" idx="12"/>
          </p:nvPr>
        </p:nvSpPr>
        <p:spPr/>
        <p:txBody>
          <a:bodyPr/>
          <a:lstStyle/>
          <a:p>
            <a:fld id="{949EBC64-41CB-41B8-B6DF-9B1367312BD4}" type="slidenum">
              <a:rPr lang="en-US" smtClean="0"/>
              <a:t>3</a:t>
            </a:fld>
            <a:endParaRPr lang="en-US"/>
          </a:p>
        </p:txBody>
      </p:sp>
    </p:spTree>
    <p:extLst>
      <p:ext uri="{BB962C8B-B14F-4D97-AF65-F5344CB8AC3E}">
        <p14:creationId xmlns:p14="http://schemas.microsoft.com/office/powerpoint/2010/main" val="363026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Introduction </a:t>
            </a:r>
            <a:r>
              <a:rPr lang="en-US" sz="1600" dirty="0">
                <a:cs typeface="Arial" panose="020B0604020202020204" pitchFamily="34" charset="0"/>
              </a:rPr>
              <a:t>(2 of 2)</a:t>
            </a:r>
            <a:endParaRPr lang="en-US" sz="1600" dirty="0"/>
          </a:p>
        </p:txBody>
      </p:sp>
      <p:sp>
        <p:nvSpPr>
          <p:cNvPr id="4" name="Content Placeholder 3"/>
          <p:cNvSpPr>
            <a:spLocks noGrp="1"/>
          </p:cNvSpPr>
          <p:nvPr>
            <p:ph sz="quarter" idx="13"/>
          </p:nvPr>
        </p:nvSpPr>
        <p:spPr/>
        <p:txBody>
          <a:bodyPr>
            <a:noAutofit/>
          </a:bodyPr>
          <a:lstStyle/>
          <a:p>
            <a:r>
              <a:rPr lang="en-US" sz="2400" dirty="0">
                <a:solidFill>
                  <a:srgbClr val="000000"/>
                </a:solidFill>
                <a:cs typeface="Arial" panose="020B0604020202020204" pitchFamily="34" charset="0"/>
              </a:rPr>
              <a:t>The reason we select a sample is to collect data to answer a research question about a population.</a:t>
            </a:r>
          </a:p>
          <a:p>
            <a:r>
              <a:rPr lang="en-US" sz="2400" dirty="0">
                <a:solidFill>
                  <a:srgbClr val="000000"/>
                </a:solidFill>
                <a:cs typeface="Arial" panose="020B0604020202020204" pitchFamily="34" charset="0"/>
              </a:rPr>
              <a:t>The sample results provide only </a:t>
            </a:r>
            <a:r>
              <a:rPr lang="en-US" sz="2400" u="sng" dirty="0">
                <a:solidFill>
                  <a:srgbClr val="000000"/>
                </a:solidFill>
                <a:cs typeface="Arial" panose="020B0604020202020204" pitchFamily="34" charset="0"/>
              </a:rPr>
              <a:t>estimates</a:t>
            </a:r>
            <a:r>
              <a:rPr lang="en-US" sz="2400" dirty="0">
                <a:solidFill>
                  <a:srgbClr val="000000"/>
                </a:solidFill>
                <a:cs typeface="Arial" panose="020B0604020202020204" pitchFamily="34" charset="0"/>
              </a:rPr>
              <a:t> of the values of the population characteristics.</a:t>
            </a:r>
          </a:p>
          <a:p>
            <a:r>
              <a:rPr lang="en-US" sz="2400" dirty="0">
                <a:solidFill>
                  <a:srgbClr val="000000"/>
                </a:solidFill>
                <a:cs typeface="Arial" panose="020B0604020202020204" pitchFamily="34" charset="0"/>
              </a:rPr>
              <a:t>The reason is simply that the sample contains only a portion of the population.</a:t>
            </a:r>
          </a:p>
          <a:p>
            <a:r>
              <a:rPr lang="en-US" sz="2400" dirty="0">
                <a:solidFill>
                  <a:srgbClr val="000000"/>
                </a:solidFill>
                <a:cs typeface="Arial" panose="020B0604020202020204" pitchFamily="34" charset="0"/>
              </a:rPr>
              <a:t>With </a:t>
            </a:r>
            <a:r>
              <a:rPr lang="en-US" sz="2400" u="sng" dirty="0">
                <a:solidFill>
                  <a:srgbClr val="000000"/>
                </a:solidFill>
                <a:cs typeface="Arial" panose="020B0604020202020204" pitchFamily="34" charset="0"/>
              </a:rPr>
              <a:t>proper sampling methods</a:t>
            </a:r>
            <a:r>
              <a:rPr lang="en-US" sz="2400" dirty="0">
                <a:solidFill>
                  <a:srgbClr val="000000"/>
                </a:solidFill>
                <a:cs typeface="Arial" panose="020B0604020202020204" pitchFamily="34" charset="0"/>
              </a:rPr>
              <a:t>, the sample results can provide “good” estimates of the population characteristics.</a:t>
            </a:r>
          </a:p>
        </p:txBody>
      </p:sp>
      <p:sp>
        <p:nvSpPr>
          <p:cNvPr id="2" name="Slide Number Placeholder 1"/>
          <p:cNvSpPr>
            <a:spLocks noGrp="1"/>
          </p:cNvSpPr>
          <p:nvPr>
            <p:ph type="sldNum" sz="quarter" idx="12"/>
          </p:nvPr>
        </p:nvSpPr>
        <p:spPr/>
        <p:txBody>
          <a:bodyPr/>
          <a:lstStyle/>
          <a:p>
            <a:fld id="{949EBC64-41CB-41B8-B6DF-9B1367312BD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kern="0" dirty="0"/>
              <a:t>Sampling from a Finite Population </a:t>
            </a:r>
            <a:r>
              <a:rPr lang="en-US" sz="1600" kern="0" dirty="0"/>
              <a:t>(1 of 2)</a:t>
            </a:r>
            <a:endParaRPr lang="en-US" sz="1600" dirty="0"/>
          </a:p>
        </p:txBody>
      </p:sp>
      <p:sp>
        <p:nvSpPr>
          <p:cNvPr id="7171" name="Rectangle 3"/>
          <p:cNvSpPr>
            <a:spLocks noGrp="1" noChangeArrowheads="1"/>
          </p:cNvSpPr>
          <p:nvPr>
            <p:ph sz="quarter" idx="13"/>
          </p:nvPr>
        </p:nvSpPr>
        <p:spPr>
          <a:noFill/>
          <a:ln/>
        </p:spPr>
        <p:txBody>
          <a:bodyPr>
            <a:noAutofit/>
          </a:bodyPr>
          <a:lstStyle/>
          <a:p>
            <a:pPr marL="339725" indent="-339725">
              <a:lnSpc>
                <a:spcPct val="80000"/>
              </a:lnSpc>
            </a:pPr>
            <a:r>
              <a:rPr lang="en-US" sz="2400" u="sng" dirty="0"/>
              <a:t>Finite populations</a:t>
            </a:r>
            <a:r>
              <a:rPr lang="en-US" sz="2400" dirty="0"/>
              <a:t> are often defined by lists such as:</a:t>
            </a:r>
          </a:p>
          <a:p>
            <a:pPr marL="801688" lvl="1" indent="-344488">
              <a:lnSpc>
                <a:spcPct val="80000"/>
              </a:lnSpc>
            </a:pPr>
            <a:r>
              <a:rPr lang="en-US" dirty="0"/>
              <a:t>Organization membership roster</a:t>
            </a:r>
          </a:p>
          <a:p>
            <a:pPr marL="801688" lvl="1" indent="-344488">
              <a:lnSpc>
                <a:spcPct val="80000"/>
              </a:lnSpc>
            </a:pPr>
            <a:r>
              <a:rPr lang="en-US" dirty="0"/>
              <a:t>Credit card account numbers</a:t>
            </a:r>
          </a:p>
          <a:p>
            <a:pPr marL="801688" lvl="1" indent="-344488">
              <a:lnSpc>
                <a:spcPct val="80000"/>
              </a:lnSpc>
            </a:pPr>
            <a:r>
              <a:rPr lang="en-US" dirty="0"/>
              <a:t>Inventory product numbers</a:t>
            </a:r>
          </a:p>
          <a:p>
            <a:pPr marL="342900" lvl="0" indent="-342900" eaLnBrk="0" fontAlgn="base" hangingPunct="0">
              <a:lnSpc>
                <a:spcPct val="80000"/>
              </a:lnSpc>
              <a:spcBef>
                <a:spcPct val="20000"/>
              </a:spcBef>
              <a:spcAft>
                <a:spcPts val="600"/>
              </a:spcAft>
              <a:buSzPct val="100000"/>
            </a:pPr>
            <a:r>
              <a:rPr lang="en-US" sz="2400" dirty="0">
                <a:solidFill>
                  <a:srgbClr val="000000"/>
                </a:solidFill>
                <a:cs typeface="Arial" panose="020B0604020202020204" pitchFamily="34" charset="0"/>
              </a:rPr>
              <a:t>A </a:t>
            </a:r>
            <a:r>
              <a:rPr lang="en-US" sz="2400" u="sng" dirty="0">
                <a:solidFill>
                  <a:srgbClr val="000000"/>
                </a:solidFill>
                <a:cs typeface="Arial" panose="020B0604020202020204" pitchFamily="34" charset="0"/>
              </a:rPr>
              <a:t>simple random sample of size </a:t>
            </a:r>
            <a:r>
              <a:rPr lang="en-US" sz="2400" i="1" u="sng" dirty="0">
                <a:solidFill>
                  <a:srgbClr val="000000"/>
                </a:solidFill>
                <a:cs typeface="Arial" panose="020B0604020202020204" pitchFamily="34" charset="0"/>
              </a:rPr>
              <a:t>n</a:t>
            </a:r>
            <a:r>
              <a:rPr lang="en-US" sz="2400" u="sng" dirty="0">
                <a:solidFill>
                  <a:srgbClr val="000000"/>
                </a:solidFill>
                <a:cs typeface="Arial" panose="020B0604020202020204" pitchFamily="34" charset="0"/>
              </a:rPr>
              <a:t> from a finite population of size </a:t>
            </a:r>
            <a:r>
              <a:rPr lang="en-US" sz="2400" i="1" u="sng" dirty="0">
                <a:solidFill>
                  <a:srgbClr val="000000"/>
                </a:solidFill>
                <a:cs typeface="Arial" panose="020B0604020202020204" pitchFamily="34" charset="0"/>
              </a:rPr>
              <a:t>N</a:t>
            </a:r>
            <a:r>
              <a:rPr lang="en-US" sz="2400" dirty="0">
                <a:solidFill>
                  <a:srgbClr val="000000"/>
                </a:solidFill>
                <a:cs typeface="Arial" panose="020B0604020202020204" pitchFamily="34" charset="0"/>
              </a:rPr>
              <a:t> is a sample selected such that each possible sample of size </a:t>
            </a:r>
            <a:r>
              <a:rPr lang="en-US" sz="2400" i="1" dirty="0">
                <a:solidFill>
                  <a:srgbClr val="000000"/>
                </a:solidFill>
                <a:cs typeface="Arial" panose="020B0604020202020204" pitchFamily="34" charset="0"/>
              </a:rPr>
              <a:t>n</a:t>
            </a:r>
            <a:r>
              <a:rPr lang="en-US" sz="2400" dirty="0">
                <a:solidFill>
                  <a:srgbClr val="000000"/>
                </a:solidFill>
                <a:cs typeface="Arial" panose="020B0604020202020204" pitchFamily="34" charset="0"/>
              </a:rPr>
              <a:t> has the same probability of being selected.</a:t>
            </a:r>
          </a:p>
          <a:p>
            <a:pPr marL="342900" lvl="0" indent="-342900" eaLnBrk="0" fontAlgn="base" hangingPunct="0">
              <a:lnSpc>
                <a:spcPct val="80000"/>
              </a:lnSpc>
              <a:spcBef>
                <a:spcPct val="0"/>
              </a:spcBef>
              <a:spcAft>
                <a:spcPts val="600"/>
              </a:spcAft>
              <a:buSzPct val="90000"/>
            </a:pPr>
            <a:r>
              <a:rPr lang="en-US" sz="2400" dirty="0">
                <a:solidFill>
                  <a:srgbClr val="000000"/>
                </a:solidFill>
                <a:cs typeface="Arial" panose="020B0604020202020204" pitchFamily="34" charset="0"/>
              </a:rPr>
              <a:t>Replacing each sampled element before selecting subsequent elements is called </a:t>
            </a:r>
            <a:r>
              <a:rPr lang="en-US" sz="2400" u="sng" dirty="0">
                <a:solidFill>
                  <a:srgbClr val="000000"/>
                </a:solidFill>
                <a:cs typeface="Arial" panose="020B0604020202020204" pitchFamily="34" charset="0"/>
              </a:rPr>
              <a:t>sampling with replacement</a:t>
            </a:r>
            <a:r>
              <a:rPr lang="en-US" sz="2400" dirty="0">
                <a:solidFill>
                  <a:srgbClr val="000000"/>
                </a:solidFill>
                <a:cs typeface="Arial" panose="020B0604020202020204" pitchFamily="34" charset="0"/>
              </a:rPr>
              <a:t>. An element can appear in the sample more than once. </a:t>
            </a:r>
          </a:p>
          <a:p>
            <a:pPr marL="342900" lvl="0" indent="-342900" eaLnBrk="0" fontAlgn="base" hangingPunct="0">
              <a:lnSpc>
                <a:spcPct val="80000"/>
              </a:lnSpc>
              <a:spcBef>
                <a:spcPct val="0"/>
              </a:spcBef>
              <a:spcAft>
                <a:spcPct val="0"/>
              </a:spcAft>
              <a:buSzPct val="90000"/>
            </a:pPr>
            <a:r>
              <a:rPr lang="en-US" sz="2400" u="sng" dirty="0">
                <a:solidFill>
                  <a:srgbClr val="000000"/>
                </a:solidFill>
                <a:cs typeface="Arial" panose="020B0604020202020204" pitchFamily="34" charset="0"/>
              </a:rPr>
              <a:t>Sampling without replacement</a:t>
            </a:r>
            <a:r>
              <a:rPr lang="en-US" sz="2400" dirty="0">
                <a:solidFill>
                  <a:srgbClr val="000000"/>
                </a:solidFill>
                <a:cs typeface="Arial" panose="020B0604020202020204" pitchFamily="34" charset="0"/>
              </a:rPr>
              <a:t> is the procedure used most often.</a:t>
            </a:r>
          </a:p>
          <a:p>
            <a:pPr marL="342900" lvl="0" indent="-342900" eaLnBrk="0" fontAlgn="base" hangingPunct="0">
              <a:lnSpc>
                <a:spcPct val="80000"/>
              </a:lnSpc>
              <a:spcBef>
                <a:spcPct val="0"/>
              </a:spcBef>
              <a:spcAft>
                <a:spcPct val="0"/>
              </a:spcAft>
              <a:buSzPct val="90000"/>
            </a:pPr>
            <a:r>
              <a:rPr lang="en-US" sz="2400" dirty="0">
                <a:solidFill>
                  <a:srgbClr val="000000"/>
                </a:solidFill>
                <a:cs typeface="Arial" panose="020B0604020202020204" pitchFamily="34" charset="0"/>
              </a:rPr>
              <a:t>In large sampling projects, computer-generated </a:t>
            </a:r>
            <a:r>
              <a:rPr lang="en-US" sz="2400" u="sng" dirty="0">
                <a:solidFill>
                  <a:srgbClr val="000000"/>
                </a:solidFill>
                <a:cs typeface="Arial" panose="020B0604020202020204" pitchFamily="34" charset="0"/>
              </a:rPr>
              <a:t>random numbers</a:t>
            </a:r>
            <a:r>
              <a:rPr lang="en-US" sz="2400" dirty="0">
                <a:solidFill>
                  <a:srgbClr val="000000"/>
                </a:solidFill>
                <a:cs typeface="Arial" panose="020B0604020202020204" pitchFamily="34" charset="0"/>
              </a:rPr>
              <a:t> are often used to automate the sample selection process.</a:t>
            </a:r>
          </a:p>
        </p:txBody>
      </p:sp>
      <p:sp>
        <p:nvSpPr>
          <p:cNvPr id="2" name="Slide Number Placeholder 1"/>
          <p:cNvSpPr>
            <a:spLocks noGrp="1"/>
          </p:cNvSpPr>
          <p:nvPr>
            <p:ph type="sldNum" sz="quarter" idx="12"/>
          </p:nvPr>
        </p:nvSpPr>
        <p:spPr/>
        <p:txBody>
          <a:bodyPr/>
          <a:lstStyle/>
          <a:p>
            <a:fld id="{949EBC64-41CB-41B8-B6DF-9B1367312BD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0" dirty="0"/>
              <a:t>Sampling from a Finite Population </a:t>
            </a:r>
            <a:r>
              <a:rPr lang="en-US" sz="1600" kern="0" dirty="0"/>
              <a:t>(2 of 2)</a:t>
            </a:r>
            <a:endParaRPr lang="en-US" sz="1600" dirty="0"/>
          </a:p>
        </p:txBody>
      </p:sp>
      <p:sp>
        <p:nvSpPr>
          <p:cNvPr id="3" name="Content Placeholder 2"/>
          <p:cNvSpPr>
            <a:spLocks noGrp="1"/>
          </p:cNvSpPr>
          <p:nvPr>
            <p:ph sz="quarter" idx="13"/>
          </p:nvPr>
        </p:nvSpPr>
        <p:spPr/>
        <p:txBody>
          <a:bodyPr>
            <a:noAutofit/>
          </a:bodyPr>
          <a:lstStyle/>
          <a:p>
            <a:pPr marL="0" lvl="0" indent="0" eaLnBrk="0" fontAlgn="base" hangingPunct="0">
              <a:lnSpc>
                <a:spcPct val="100000"/>
              </a:lnSpc>
              <a:spcBef>
                <a:spcPct val="20000"/>
              </a:spcBef>
              <a:spcAft>
                <a:spcPts val="1200"/>
              </a:spcAft>
              <a:buSzPct val="75000"/>
              <a:buNone/>
            </a:pPr>
            <a:r>
              <a:rPr lang="en-US" sz="2400" dirty="0">
                <a:solidFill>
                  <a:srgbClr val="000000"/>
                </a:solidFill>
                <a:cs typeface="Arial" panose="020B0604020202020204" pitchFamily="34" charset="0"/>
              </a:rPr>
              <a:t>St. Andrew’s College received 900 applications for admission in the upcoming year from prospective students. The applicants were numbered, from 1 to 900, as their applications arrived. The Director of Admissions would like to select a simple random sample of 30 applicants.</a:t>
            </a:r>
          </a:p>
          <a:p>
            <a:pPr marL="974725" indent="-974725" eaLnBrk="0" fontAlgn="base" hangingPunct="0">
              <a:lnSpc>
                <a:spcPct val="100000"/>
              </a:lnSpc>
              <a:spcBef>
                <a:spcPct val="0"/>
              </a:spcBef>
              <a:spcAft>
                <a:spcPct val="0"/>
              </a:spcAft>
              <a:buNone/>
            </a:pPr>
            <a:r>
              <a:rPr lang="en-US" sz="2400" dirty="0">
                <a:solidFill>
                  <a:srgbClr val="000000"/>
                </a:solidFill>
                <a:cs typeface="Arial" panose="020B0604020202020204" pitchFamily="34" charset="0"/>
              </a:rPr>
              <a:t>Step 1:	Assign a random number to each of the 900 applicants.</a:t>
            </a:r>
          </a:p>
          <a:p>
            <a:pPr marL="974725" indent="-974725" eaLnBrk="0" fontAlgn="base" hangingPunct="0">
              <a:lnSpc>
                <a:spcPct val="100000"/>
              </a:lnSpc>
              <a:spcBef>
                <a:spcPct val="0"/>
              </a:spcBef>
              <a:spcAft>
                <a:spcPct val="0"/>
              </a:spcAft>
              <a:buNone/>
            </a:pPr>
            <a:r>
              <a:rPr lang="en-US" sz="2400" dirty="0">
                <a:solidFill>
                  <a:srgbClr val="000000"/>
                </a:solidFill>
                <a:cs typeface="Arial" panose="020B0604020202020204" pitchFamily="34" charset="0"/>
              </a:rPr>
              <a:t>	The random numbers generated by Excel’s  </a:t>
            </a:r>
            <a:r>
              <a:rPr lang="en-US" sz="2400" i="1" dirty="0">
                <a:solidFill>
                  <a:srgbClr val="000000"/>
                </a:solidFill>
                <a:cs typeface="Arial" panose="020B0604020202020204" pitchFamily="34" charset="0"/>
              </a:rPr>
              <a:t>RAND</a:t>
            </a:r>
            <a:r>
              <a:rPr lang="en-US" sz="2400" dirty="0">
                <a:solidFill>
                  <a:srgbClr val="000000"/>
                </a:solidFill>
                <a:cs typeface="Arial" panose="020B0604020202020204" pitchFamily="34" charset="0"/>
              </a:rPr>
              <a:t> function follow a uniform probability distribution between 0 and 1.</a:t>
            </a:r>
          </a:p>
          <a:p>
            <a:pPr marL="974725" indent="-974725" eaLnBrk="0" fontAlgn="base" hangingPunct="0">
              <a:lnSpc>
                <a:spcPct val="100000"/>
              </a:lnSpc>
              <a:spcBef>
                <a:spcPts val="1200"/>
              </a:spcBef>
              <a:spcAft>
                <a:spcPct val="0"/>
              </a:spcAft>
              <a:buNone/>
            </a:pPr>
            <a:r>
              <a:rPr lang="en-US" sz="2400" dirty="0">
                <a:solidFill>
                  <a:srgbClr val="000000"/>
                </a:solidFill>
                <a:cs typeface="Arial" panose="020B0604020202020204" pitchFamily="34" charset="0"/>
              </a:rPr>
              <a:t>Step 2:	Select the 30 applicants corresponding to the 30 smallest random numbers.</a:t>
            </a:r>
            <a:endParaRPr lang="en-US" sz="2400" dirty="0"/>
          </a:p>
          <a:p>
            <a:pPr marL="0" lvl="0" indent="0" eaLnBrk="0" fontAlgn="base" hangingPunct="0">
              <a:lnSpc>
                <a:spcPct val="100000"/>
              </a:lnSpc>
              <a:spcBef>
                <a:spcPct val="20000"/>
              </a:spcBef>
              <a:spcAft>
                <a:spcPct val="0"/>
              </a:spcAft>
              <a:buSzPct val="75000"/>
              <a:buNone/>
            </a:pPr>
            <a:endParaRPr lang="en-US" sz="2400" dirty="0">
              <a:solidFill>
                <a:srgbClr val="000000"/>
              </a:solidFill>
              <a:cs typeface="Arial" panose="020B0604020202020204" pitchFamily="34" charset="0"/>
            </a:endParaRPr>
          </a:p>
        </p:txBody>
      </p:sp>
      <p:sp>
        <p:nvSpPr>
          <p:cNvPr id="4" name="Slide Number Placeholder 3"/>
          <p:cNvSpPr>
            <a:spLocks noGrp="1"/>
          </p:cNvSpPr>
          <p:nvPr>
            <p:ph type="sldNum" sz="quarter" idx="12"/>
          </p:nvPr>
        </p:nvSpPr>
        <p:spPr/>
        <p:txBody>
          <a:bodyPr/>
          <a:lstStyle/>
          <a:p>
            <a:fld id="{949EBC64-41CB-41B8-B6DF-9B1367312BD4}" type="slidenum">
              <a:rPr lang="en-US" smtClean="0"/>
              <a:t>6</a:t>
            </a:fld>
            <a:endParaRPr lang="en-US"/>
          </a:p>
        </p:txBody>
      </p:sp>
    </p:spTree>
    <p:extLst>
      <p:ext uri="{BB962C8B-B14F-4D97-AF65-F5344CB8AC3E}">
        <p14:creationId xmlns:p14="http://schemas.microsoft.com/office/powerpoint/2010/main" val="335819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cs typeface="Arial" panose="020B0604020202020204" pitchFamily="34" charset="0"/>
              </a:rPr>
              <a:t>Sampling from an Infinite Population </a:t>
            </a:r>
            <a:r>
              <a:rPr lang="en-US" sz="1600" dirty="0">
                <a:cs typeface="Arial" panose="020B0604020202020204" pitchFamily="34" charset="0"/>
              </a:rPr>
              <a:t>(1 of 3)</a:t>
            </a:r>
            <a:endParaRPr lang="en-US" sz="1600" dirty="0"/>
          </a:p>
        </p:txBody>
      </p:sp>
      <p:sp>
        <p:nvSpPr>
          <p:cNvPr id="7" name="Content Placeholder 6"/>
          <p:cNvSpPr>
            <a:spLocks noGrp="1"/>
          </p:cNvSpPr>
          <p:nvPr>
            <p:ph sz="quarter" idx="13"/>
          </p:nvPr>
        </p:nvSpPr>
        <p:spPr/>
        <p:txBody>
          <a:bodyPr>
            <a:noAutofit/>
          </a:bodyPr>
          <a:lstStyle/>
          <a:p>
            <a:pPr marL="342900" indent="-342900">
              <a:buSzPct val="90000"/>
            </a:pPr>
            <a:r>
              <a:rPr lang="en-US" sz="2400" dirty="0">
                <a:solidFill>
                  <a:srgbClr val="000000"/>
                </a:solidFill>
                <a:cs typeface="Arial" panose="020B0604020202020204" pitchFamily="34" charset="0"/>
              </a:rPr>
              <a:t>Sometimes we want to select a sample, but find that it is not possible to obtain a list of all elements in the population.</a:t>
            </a:r>
          </a:p>
          <a:p>
            <a:pPr marL="342900" lvl="0" indent="-342900">
              <a:buSzPct val="90000"/>
            </a:pPr>
            <a:r>
              <a:rPr lang="en-US" sz="2400" dirty="0">
                <a:solidFill>
                  <a:srgbClr val="000000"/>
                </a:solidFill>
                <a:cs typeface="Arial" panose="020B0604020202020204" pitchFamily="34" charset="0"/>
              </a:rPr>
              <a:t>As a result, we cannot construct a frame for the population.</a:t>
            </a:r>
          </a:p>
          <a:p>
            <a:pPr marL="342900" lvl="0" indent="-342900">
              <a:buSzPct val="90000"/>
            </a:pPr>
            <a:r>
              <a:rPr lang="en-US" sz="2400" dirty="0">
                <a:solidFill>
                  <a:srgbClr val="000000"/>
                </a:solidFill>
                <a:cs typeface="Arial" panose="020B0604020202020204" pitchFamily="34" charset="0"/>
              </a:rPr>
              <a:t>Hence we cannot use the random number selection procedure.</a:t>
            </a:r>
          </a:p>
          <a:p>
            <a:pPr marL="342900" lvl="0" indent="-342900">
              <a:buSzPct val="90000"/>
            </a:pPr>
            <a:r>
              <a:rPr lang="en-US" sz="2400" dirty="0">
                <a:solidFill>
                  <a:srgbClr val="000000"/>
                </a:solidFill>
                <a:cs typeface="Arial" panose="020B0604020202020204" pitchFamily="34" charset="0"/>
              </a:rPr>
              <a:t>Most often this situation occurs in the case of </a:t>
            </a:r>
            <a:r>
              <a:rPr lang="en-US" sz="2400" u="sng" dirty="0">
                <a:solidFill>
                  <a:srgbClr val="000000"/>
                </a:solidFill>
                <a:cs typeface="Arial" panose="020B0604020202020204" pitchFamily="34" charset="0"/>
              </a:rPr>
              <a:t>infinite population</a:t>
            </a:r>
            <a:r>
              <a:rPr lang="en-US" sz="2400" dirty="0">
                <a:solidFill>
                  <a:srgbClr val="000000"/>
                </a:solidFill>
                <a:cs typeface="Arial" panose="020B0604020202020204" pitchFamily="34" charset="0"/>
              </a:rPr>
              <a:t>.</a:t>
            </a:r>
          </a:p>
        </p:txBody>
      </p:sp>
      <p:sp>
        <p:nvSpPr>
          <p:cNvPr id="3" name="Slide Number Placeholder 2"/>
          <p:cNvSpPr>
            <a:spLocks noGrp="1"/>
          </p:cNvSpPr>
          <p:nvPr>
            <p:ph type="sldNum" sz="quarter" idx="12"/>
          </p:nvPr>
        </p:nvSpPr>
        <p:spPr/>
        <p:txBody>
          <a:bodyPr/>
          <a:lstStyle/>
          <a:p>
            <a:fld id="{949EBC64-41CB-41B8-B6DF-9B1367312BD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anose="020B0604020202020204" pitchFamily="34" charset="0"/>
              </a:rPr>
              <a:t>Sampling from an Infinite Population </a:t>
            </a:r>
            <a:r>
              <a:rPr lang="en-US" sz="1600" dirty="0">
                <a:cs typeface="Arial" panose="020B0604020202020204" pitchFamily="34" charset="0"/>
              </a:rPr>
              <a:t>(2 of 3)</a:t>
            </a:r>
            <a:endParaRPr lang="en-US" sz="1600" dirty="0"/>
          </a:p>
        </p:txBody>
      </p:sp>
      <p:sp>
        <p:nvSpPr>
          <p:cNvPr id="3" name="Content Placeholder 2"/>
          <p:cNvSpPr>
            <a:spLocks noGrp="1"/>
          </p:cNvSpPr>
          <p:nvPr>
            <p:ph sz="quarter" idx="13"/>
          </p:nvPr>
        </p:nvSpPr>
        <p:spPr/>
        <p:txBody>
          <a:bodyPr/>
          <a:lstStyle/>
          <a:p>
            <a:pPr marL="342900" indent="-342900">
              <a:spcBef>
                <a:spcPct val="20000"/>
              </a:spcBef>
              <a:buSzPct val="100000"/>
            </a:pPr>
            <a:r>
              <a:rPr lang="en-US" sz="2400" dirty="0">
                <a:solidFill>
                  <a:srgbClr val="000000"/>
                </a:solidFill>
                <a:cs typeface="Arial" panose="020B0604020202020204" pitchFamily="34" charset="0"/>
              </a:rPr>
              <a:t>Populations are often generated by an </a:t>
            </a:r>
            <a:r>
              <a:rPr lang="en-US" sz="2400" u="sng" dirty="0">
                <a:solidFill>
                  <a:srgbClr val="000000"/>
                </a:solidFill>
                <a:cs typeface="Arial" panose="020B0604020202020204" pitchFamily="34" charset="0"/>
              </a:rPr>
              <a:t>ongoing process</a:t>
            </a:r>
            <a:r>
              <a:rPr lang="en-US" sz="2400" dirty="0">
                <a:solidFill>
                  <a:srgbClr val="000000"/>
                </a:solidFill>
                <a:cs typeface="Arial" panose="020B0604020202020204" pitchFamily="34" charset="0"/>
              </a:rPr>
              <a:t> where there is no upper limit on the number of units that can be generated.</a:t>
            </a:r>
          </a:p>
          <a:p>
            <a:pPr marL="342900" lvl="0" indent="-342900">
              <a:buSzPct val="100000"/>
            </a:pPr>
            <a:r>
              <a:rPr lang="en-US" sz="2400" dirty="0">
                <a:solidFill>
                  <a:srgbClr val="000000"/>
                </a:solidFill>
                <a:cs typeface="Arial" panose="020B0604020202020204" pitchFamily="34" charset="0"/>
              </a:rPr>
              <a:t>Some examples of on-going processes with infinite populations are:</a:t>
            </a:r>
          </a:p>
          <a:p>
            <a:pPr marL="800100" lvl="1" indent="-342900">
              <a:buSzPct val="100000"/>
            </a:pPr>
            <a:r>
              <a:rPr lang="en-US" dirty="0">
                <a:solidFill>
                  <a:srgbClr val="000000"/>
                </a:solidFill>
                <a:cs typeface="Arial" panose="020B0604020202020204" pitchFamily="34" charset="0"/>
              </a:rPr>
              <a:t>parts being manufactured on a production line</a:t>
            </a:r>
          </a:p>
          <a:p>
            <a:pPr marL="800100" lvl="1" indent="-342900">
              <a:buSzPct val="100000"/>
            </a:pPr>
            <a:r>
              <a:rPr lang="en-US" dirty="0">
                <a:solidFill>
                  <a:srgbClr val="000000"/>
                </a:solidFill>
                <a:cs typeface="Arial" panose="020B0604020202020204" pitchFamily="34" charset="0"/>
              </a:rPr>
              <a:t>transactions occurring at a bank</a:t>
            </a:r>
          </a:p>
          <a:p>
            <a:pPr marL="800100" lvl="1" indent="-342900">
              <a:buSzPct val="100000"/>
            </a:pPr>
            <a:r>
              <a:rPr lang="en-US" dirty="0">
                <a:solidFill>
                  <a:srgbClr val="000000"/>
                </a:solidFill>
                <a:cs typeface="Arial" panose="020B0604020202020204" pitchFamily="34" charset="0"/>
              </a:rPr>
              <a:t>telephone calls arriving at a technical help desk</a:t>
            </a:r>
          </a:p>
          <a:p>
            <a:pPr marL="800100" lvl="1" indent="-342900">
              <a:buSzPct val="100000"/>
            </a:pPr>
            <a:r>
              <a:rPr lang="en-US" dirty="0">
                <a:solidFill>
                  <a:srgbClr val="000000"/>
                </a:solidFill>
                <a:cs typeface="Arial" panose="020B0604020202020204" pitchFamily="34" charset="0"/>
              </a:rPr>
              <a:t>customers entering a store</a:t>
            </a:r>
          </a:p>
        </p:txBody>
      </p:sp>
      <p:sp>
        <p:nvSpPr>
          <p:cNvPr id="4" name="Slide Number Placeholder 3"/>
          <p:cNvSpPr>
            <a:spLocks noGrp="1"/>
          </p:cNvSpPr>
          <p:nvPr>
            <p:ph type="sldNum" sz="quarter" idx="12"/>
          </p:nvPr>
        </p:nvSpPr>
        <p:spPr/>
        <p:txBody>
          <a:bodyPr/>
          <a:lstStyle/>
          <a:p>
            <a:fld id="{949EBC64-41CB-41B8-B6DF-9B1367312BD4}" type="slidenum">
              <a:rPr lang="en-US" smtClean="0"/>
              <a:t>8</a:t>
            </a:fld>
            <a:endParaRPr lang="en-US"/>
          </a:p>
        </p:txBody>
      </p:sp>
    </p:spTree>
    <p:extLst>
      <p:ext uri="{BB962C8B-B14F-4D97-AF65-F5344CB8AC3E}">
        <p14:creationId xmlns:p14="http://schemas.microsoft.com/office/powerpoint/2010/main" val="1718140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cs typeface="Arial" panose="020B0604020202020204" pitchFamily="34" charset="0"/>
              </a:rPr>
              <a:t>Sampling from an Infinite Population </a:t>
            </a:r>
            <a:r>
              <a:rPr lang="en-US" sz="1600" dirty="0">
                <a:cs typeface="Arial" panose="020B0604020202020204" pitchFamily="34" charset="0"/>
              </a:rPr>
              <a:t>(3 of 3)</a:t>
            </a:r>
            <a:endParaRPr lang="en-US" sz="1600" dirty="0"/>
          </a:p>
        </p:txBody>
      </p:sp>
      <p:sp>
        <p:nvSpPr>
          <p:cNvPr id="3" name="Content Placeholder 2"/>
          <p:cNvSpPr>
            <a:spLocks noGrp="1"/>
          </p:cNvSpPr>
          <p:nvPr>
            <p:ph sz="quarter" idx="13"/>
          </p:nvPr>
        </p:nvSpPr>
        <p:spPr/>
        <p:txBody>
          <a:bodyPr/>
          <a:lstStyle/>
          <a:p>
            <a:pPr marL="342900" indent="-342900">
              <a:buSzPct val="100000"/>
            </a:pPr>
            <a:r>
              <a:rPr lang="en-US" sz="2400" dirty="0">
                <a:solidFill>
                  <a:srgbClr val="000000"/>
                </a:solidFill>
                <a:cs typeface="Arial" panose="020B0604020202020204" pitchFamily="34" charset="0"/>
              </a:rPr>
              <a:t>In the case of an infinite population, we must select a </a:t>
            </a:r>
            <a:r>
              <a:rPr lang="en-US" sz="2400" u="sng" dirty="0">
                <a:solidFill>
                  <a:srgbClr val="000000"/>
                </a:solidFill>
                <a:cs typeface="Arial" panose="020B0604020202020204" pitchFamily="34" charset="0"/>
              </a:rPr>
              <a:t>random sample</a:t>
            </a:r>
            <a:r>
              <a:rPr lang="en-US" sz="2400" dirty="0">
                <a:solidFill>
                  <a:srgbClr val="000000"/>
                </a:solidFill>
                <a:cs typeface="Arial" panose="020B0604020202020204" pitchFamily="34" charset="0"/>
              </a:rPr>
              <a:t> in order to make valid statistical inferences about the population from which the sample is taken.</a:t>
            </a:r>
          </a:p>
          <a:p>
            <a:pPr marL="342900" lvl="0" indent="-342900">
              <a:spcBef>
                <a:spcPct val="20000"/>
              </a:spcBef>
              <a:buSzPct val="100000"/>
            </a:pPr>
            <a:r>
              <a:rPr lang="en-US" sz="2400" dirty="0">
                <a:solidFill>
                  <a:srgbClr val="000000"/>
                </a:solidFill>
                <a:cs typeface="Arial" panose="020B0604020202020204" pitchFamily="34" charset="0"/>
              </a:rPr>
              <a:t>A </a:t>
            </a:r>
            <a:r>
              <a:rPr lang="en-US" sz="2400" u="sng" dirty="0">
                <a:solidFill>
                  <a:srgbClr val="000000"/>
                </a:solidFill>
                <a:cs typeface="Arial" panose="020B0604020202020204" pitchFamily="34" charset="0"/>
              </a:rPr>
              <a:t>random sample from an infinite population</a:t>
            </a:r>
            <a:r>
              <a:rPr lang="en-US" sz="2400" dirty="0">
                <a:solidFill>
                  <a:srgbClr val="000000"/>
                </a:solidFill>
                <a:cs typeface="Arial" panose="020B0604020202020204" pitchFamily="34" charset="0"/>
              </a:rPr>
              <a:t> is a sample selected such that the following conditions are satisfied.</a:t>
            </a:r>
          </a:p>
          <a:p>
            <a:pPr marL="800100" lvl="1" indent="-342900">
              <a:spcBef>
                <a:spcPct val="20000"/>
              </a:spcBef>
              <a:buSzPct val="100000"/>
            </a:pPr>
            <a:r>
              <a:rPr lang="en-US" dirty="0">
                <a:solidFill>
                  <a:srgbClr val="000000"/>
                </a:solidFill>
                <a:cs typeface="Arial" panose="020B0604020202020204" pitchFamily="34" charset="0"/>
              </a:rPr>
              <a:t>Each element selected comes from the population of interest.</a:t>
            </a:r>
          </a:p>
          <a:p>
            <a:pPr marL="800100" lvl="1" indent="-342900">
              <a:spcBef>
                <a:spcPct val="20000"/>
              </a:spcBef>
              <a:buSzPct val="100000"/>
            </a:pPr>
            <a:r>
              <a:rPr lang="en-US" dirty="0">
                <a:solidFill>
                  <a:srgbClr val="000000"/>
                </a:solidFill>
                <a:cs typeface="Arial" panose="020B0604020202020204" pitchFamily="34" charset="0"/>
              </a:rPr>
              <a:t>Each element is selected independently.</a:t>
            </a:r>
          </a:p>
        </p:txBody>
      </p:sp>
      <p:sp>
        <p:nvSpPr>
          <p:cNvPr id="4" name="Slide Number Placeholder 3"/>
          <p:cNvSpPr>
            <a:spLocks noGrp="1"/>
          </p:cNvSpPr>
          <p:nvPr>
            <p:ph type="sldNum" sz="quarter" idx="12"/>
          </p:nvPr>
        </p:nvSpPr>
        <p:spPr/>
        <p:txBody>
          <a:bodyPr/>
          <a:lstStyle/>
          <a:p>
            <a:fld id="{949EBC64-41CB-41B8-B6DF-9B1367312BD4}" type="slidenum">
              <a:rPr lang="en-US" smtClean="0"/>
              <a:t>9</a:t>
            </a:fld>
            <a:endParaRPr lang="en-US"/>
          </a:p>
        </p:txBody>
      </p:sp>
    </p:spTree>
    <p:extLst>
      <p:ext uri="{BB962C8B-B14F-4D97-AF65-F5344CB8AC3E}">
        <p14:creationId xmlns:p14="http://schemas.microsoft.com/office/powerpoint/2010/main" val="2664452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cs typeface="Arial" panose="020B0604020202020204" pitchFamily="34" charset="0"/>
              </a:rPr>
              <a:t>Point Estimation </a:t>
            </a:r>
            <a:r>
              <a:rPr lang="en-US" sz="1600" dirty="0">
                <a:cs typeface="Arial" panose="020B0604020202020204" pitchFamily="34" charset="0"/>
              </a:rPr>
              <a:t>(1 of 4)</a:t>
            </a:r>
            <a:endParaRPr lang="en-US" sz="1600" dirty="0"/>
          </a:p>
        </p:txBody>
      </p:sp>
      <p:sp>
        <p:nvSpPr>
          <p:cNvPr id="3" name="Content Placeholder 2"/>
          <p:cNvSpPr>
            <a:spLocks noGrp="1"/>
          </p:cNvSpPr>
          <p:nvPr>
            <p:ph sz="half" idx="1"/>
          </p:nvPr>
        </p:nvSpPr>
        <p:spPr/>
        <p:txBody>
          <a:bodyPr>
            <a:noAutofit/>
          </a:bodyPr>
          <a:lstStyle/>
          <a:p>
            <a:pPr marL="342900" indent="-342900"/>
            <a:r>
              <a:rPr lang="en-US" sz="2500" u="sng" dirty="0">
                <a:solidFill>
                  <a:srgbClr val="000000"/>
                </a:solidFill>
                <a:cs typeface="Arial" panose="020B0604020202020204" pitchFamily="34" charset="0"/>
              </a:rPr>
              <a:t>Point estimation</a:t>
            </a:r>
            <a:r>
              <a:rPr lang="en-US" sz="2500" dirty="0">
                <a:solidFill>
                  <a:srgbClr val="000000"/>
                </a:solidFill>
                <a:cs typeface="Arial" panose="020B0604020202020204" pitchFamily="34" charset="0"/>
              </a:rPr>
              <a:t> is a form of statistical inference.</a:t>
            </a:r>
          </a:p>
          <a:p>
            <a:pPr marL="342900" lvl="0" indent="-342900"/>
            <a:r>
              <a:rPr lang="en-US" sz="2500" dirty="0">
                <a:solidFill>
                  <a:srgbClr val="000000"/>
                </a:solidFill>
                <a:cs typeface="Arial" panose="020B0604020202020204" pitchFamily="34" charset="0"/>
              </a:rPr>
              <a:t>In </a:t>
            </a:r>
            <a:r>
              <a:rPr lang="en-US" sz="2500" u="sng" dirty="0">
                <a:solidFill>
                  <a:srgbClr val="000000"/>
                </a:solidFill>
                <a:cs typeface="Arial" panose="020B0604020202020204" pitchFamily="34" charset="0"/>
              </a:rPr>
              <a:t>point estimation</a:t>
            </a:r>
            <a:r>
              <a:rPr lang="en-US" sz="2500" dirty="0">
                <a:solidFill>
                  <a:srgbClr val="000000"/>
                </a:solidFill>
                <a:cs typeface="Arial" panose="020B0604020202020204" pitchFamily="34" charset="0"/>
              </a:rPr>
              <a:t> we use the data from the sample to compute a value of a sample statistic that serves as an estimate of a population parameter.</a:t>
            </a:r>
          </a:p>
        </p:txBody>
      </p:sp>
      <p:pic>
        <p:nvPicPr>
          <p:cNvPr id="11" name="Content Placeholder 10" descr="We refer to x overbar as the point estimator of the population mean mu. S is the point estimator of the population standard deviation sigma. P overbar is the point estimator of the population proportion p. ">
            <a:extLst>
              <a:ext uri="{FF2B5EF4-FFF2-40B4-BE49-F238E27FC236}">
                <a16:creationId xmlns:a16="http://schemas.microsoft.com/office/drawing/2014/main" id="{ECDF31B8-2D12-4404-93CF-2F0930906287}"/>
              </a:ext>
            </a:extLst>
          </p:cNvPr>
          <p:cNvPicPr>
            <a:picLocks noGrp="1" noChangeAspect="1"/>
          </p:cNvPicPr>
          <p:nvPr>
            <p:ph sz="quarter" idx="13"/>
          </p:nvPr>
        </p:nvPicPr>
        <p:blipFill>
          <a:blip r:embed="rId2"/>
          <a:stretch>
            <a:fillRect/>
          </a:stretch>
        </p:blipFill>
        <p:spPr>
          <a:xfrm>
            <a:off x="884894" y="2875708"/>
            <a:ext cx="8954050" cy="1343108"/>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10</a:t>
            </a:fld>
            <a:endParaRPr lang="en-US"/>
          </a:p>
        </p:txBody>
      </p:sp>
    </p:spTree>
    <p:extLst>
      <p:ext uri="{BB962C8B-B14F-4D97-AF65-F5344CB8AC3E}">
        <p14:creationId xmlns:p14="http://schemas.microsoft.com/office/powerpoint/2010/main" val="3293750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cs typeface="Arial" panose="020B0604020202020204" pitchFamily="34" charset="0"/>
              </a:rPr>
              <a:t>Point Estimation </a:t>
            </a:r>
            <a:r>
              <a:rPr lang="en-US" sz="1600" dirty="0">
                <a:cs typeface="Arial" panose="020B0604020202020204" pitchFamily="34" charset="0"/>
              </a:rPr>
              <a:t>(2 of 4)</a:t>
            </a:r>
            <a:endParaRPr lang="en-US" sz="1600" dirty="0"/>
          </a:p>
        </p:txBody>
      </p:sp>
      <p:sp>
        <p:nvSpPr>
          <p:cNvPr id="3" name="Content Placeholder 2"/>
          <p:cNvSpPr>
            <a:spLocks noGrp="1"/>
          </p:cNvSpPr>
          <p:nvPr>
            <p:ph sz="quarter" idx="13"/>
          </p:nvPr>
        </p:nvSpPr>
        <p:spPr/>
        <p:txBody>
          <a:bodyPr>
            <a:noAutofit/>
          </a:bodyPr>
          <a:lstStyle/>
          <a:p>
            <a:pPr lvl="0" indent="0">
              <a:spcBef>
                <a:spcPts val="600"/>
              </a:spcBef>
              <a:spcAft>
                <a:spcPts val="1200"/>
              </a:spcAft>
              <a:buSzPct val="75000"/>
              <a:buNone/>
            </a:pPr>
            <a:r>
              <a:rPr lang="en-US" sz="2400" dirty="0">
                <a:solidFill>
                  <a:srgbClr val="000000"/>
                </a:solidFill>
                <a:cs typeface="Arial" panose="020B0604020202020204" pitchFamily="34" charset="0"/>
              </a:rPr>
              <a:t>St. Andrew’s College received 900 applications from prospective students.  The application form contains a variety of information including the individual’s Scholastic Aptitude Test (SAT) score and whether or not the individual desires on-campus housing.</a:t>
            </a:r>
          </a:p>
          <a:p>
            <a:pPr lvl="0" indent="0">
              <a:spcBef>
                <a:spcPts val="600"/>
              </a:spcBef>
              <a:spcAft>
                <a:spcPts val="1200"/>
              </a:spcAft>
              <a:buSzPct val="75000"/>
              <a:buNone/>
            </a:pPr>
            <a:r>
              <a:rPr lang="en-US" sz="2400" dirty="0">
                <a:solidFill>
                  <a:srgbClr val="000000"/>
                </a:solidFill>
                <a:cs typeface="Arial" panose="020B0604020202020204" pitchFamily="34" charset="0"/>
              </a:rPr>
              <a:t>At a meeting in a few hours, the Director of Admissions would like to announce the average SAT score and the proportion of applicants that want to live on campus, for the population of 900 applicants.</a:t>
            </a:r>
          </a:p>
          <a:p>
            <a:pPr indent="0">
              <a:spcBef>
                <a:spcPct val="20000"/>
              </a:spcBef>
              <a:buSzPct val="75000"/>
              <a:buNone/>
            </a:pPr>
            <a:r>
              <a:rPr lang="en-US" sz="2400" dirty="0">
                <a:solidFill>
                  <a:srgbClr val="000000"/>
                </a:solidFill>
                <a:cs typeface="Arial" panose="020B0604020202020204" pitchFamily="34" charset="0"/>
              </a:rPr>
              <a:t>The data on the applicants have not yet been entered in the college’s database.  So the Director decides to estimate the values of the population parameters of interest based on sample statistics.  A sample of 30 applicants is selected using computer-generated random numbers.</a:t>
            </a:r>
          </a:p>
        </p:txBody>
      </p:sp>
      <p:sp>
        <p:nvSpPr>
          <p:cNvPr id="4" name="Slide Number Placeholder 3"/>
          <p:cNvSpPr>
            <a:spLocks noGrp="1"/>
          </p:cNvSpPr>
          <p:nvPr>
            <p:ph type="sldNum" sz="quarter" idx="12"/>
          </p:nvPr>
        </p:nvSpPr>
        <p:spPr/>
        <p:txBody>
          <a:bodyPr/>
          <a:lstStyle/>
          <a:p>
            <a:fld id="{949EBC64-41CB-41B8-B6DF-9B1367312BD4}" type="slidenum">
              <a:rPr lang="en-US" smtClean="0"/>
              <a:t>11</a:t>
            </a:fld>
            <a:endParaRPr lang="en-US"/>
          </a:p>
        </p:txBody>
      </p:sp>
    </p:spTree>
    <p:extLst>
      <p:ext uri="{BB962C8B-B14F-4D97-AF65-F5344CB8AC3E}">
        <p14:creationId xmlns:p14="http://schemas.microsoft.com/office/powerpoint/2010/main" val="2697682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cs typeface="Arial" panose="020B0604020202020204" pitchFamily="34" charset="0"/>
              </a:rPr>
              <a:t>Point Estimation </a:t>
            </a:r>
            <a:r>
              <a:rPr lang="en-US" sz="1600" dirty="0">
                <a:cs typeface="Arial" panose="020B0604020202020204" pitchFamily="34" charset="0"/>
              </a:rPr>
              <a:t>(3 of 4)</a:t>
            </a:r>
            <a:endParaRPr lang="en-US" sz="1600"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F8C4959C-B77C-4211-A27C-6EBC31DC8CD3}"/>
                  </a:ext>
                </a:extLst>
              </p:cNvPr>
              <p:cNvSpPr>
                <a:spLocks noGrp="1"/>
              </p:cNvSpPr>
              <p:nvPr>
                <p:ph sz="half" idx="17"/>
              </p:nvPr>
            </p:nvSpPr>
            <p:spPr>
              <a:xfrm>
                <a:off x="836123" y="1547264"/>
                <a:ext cx="10489589" cy="586852"/>
              </a:xfrm>
            </p:spPr>
            <p:txBody>
              <a:bodyPr>
                <a:noAutofit/>
              </a:bodyPr>
              <a:lstStyle/>
              <a:p>
                <a14:m>
                  <m:oMath xmlns:m="http://schemas.openxmlformats.org/officeDocument/2006/math">
                    <m:acc>
                      <m:accPr>
                        <m:chr m:val="̅"/>
                        <m:ctrlPr>
                          <a:rPr lang="en-US" sz="2400" i="1">
                            <a:solidFill>
                              <a:srgbClr val="000000"/>
                            </a:solidFill>
                            <a:latin typeface="Cambria Math" panose="02040503050406030204" pitchFamily="18" charset="0"/>
                            <a:cs typeface="Arial" panose="020B0604020202020204" pitchFamily="34" charset="0"/>
                          </a:rPr>
                        </m:ctrlPr>
                      </m:accPr>
                      <m:e>
                        <m:r>
                          <a:rPr lang="en-US" sz="2400" i="1">
                            <a:solidFill>
                              <a:srgbClr val="000000"/>
                            </a:solidFill>
                            <a:latin typeface="Cambria Math" panose="02040503050406030204" pitchFamily="18" charset="0"/>
                            <a:cs typeface="Arial" panose="020B0604020202020204" pitchFamily="34" charset="0"/>
                          </a:rPr>
                          <m:t>𝑥</m:t>
                        </m:r>
                      </m:e>
                    </m:acc>
                  </m:oMath>
                </a14:m>
                <a:r>
                  <a:rPr lang="en-US" sz="2400" dirty="0">
                    <a:solidFill>
                      <a:srgbClr val="000000"/>
                    </a:solidFill>
                    <a:cs typeface="Arial" panose="020B0604020202020204" pitchFamily="34" charset="0"/>
                  </a:rPr>
                  <a:t> is the point estimator of the population mean, </a:t>
                </a:r>
                <a14:m>
                  <m:oMath xmlns:m="http://schemas.openxmlformats.org/officeDocument/2006/math">
                    <m:r>
                      <a:rPr lang="en-US" sz="2400" i="1">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oMath>
                </a14:m>
                <a:endParaRPr lang="en-US" sz="2400" dirty="0"/>
              </a:p>
            </p:txBody>
          </p:sp>
        </mc:Choice>
        <mc:Fallback xmlns="">
          <p:sp>
            <p:nvSpPr>
              <p:cNvPr id="15" name="Content Placeholder 14">
                <a:extLst>
                  <a:ext uri="{FF2B5EF4-FFF2-40B4-BE49-F238E27FC236}">
                    <a16:creationId xmlns:a16="http://schemas.microsoft.com/office/drawing/2014/main" id="{F8C4959C-B77C-4211-A27C-6EBC31DC8CD3}"/>
                  </a:ext>
                </a:extLst>
              </p:cNvPr>
              <p:cNvSpPr>
                <a:spLocks noGrp="1" noRot="1" noChangeAspect="1" noMove="1" noResize="1" noEditPoints="1" noAdjustHandles="1" noChangeArrowheads="1" noChangeShapeType="1" noTextEdit="1"/>
              </p:cNvSpPr>
              <p:nvPr>
                <p:ph sz="half" idx="17"/>
              </p:nvPr>
            </p:nvSpPr>
            <p:spPr>
              <a:xfrm>
                <a:off x="836123" y="1547264"/>
                <a:ext cx="10489589" cy="586852"/>
              </a:xfrm>
              <a:blipFill>
                <a:blip r:embed="rId3"/>
                <a:stretch>
                  <a:fillRect l="-755" t="-14583"/>
                </a:stretch>
              </a:blipFill>
            </p:spPr>
            <p:txBody>
              <a:bodyPr/>
              <a:lstStyle/>
              <a:p>
                <a:r>
                  <a:rPr lang="en-US">
                    <a:noFill/>
                  </a:rPr>
                  <a:t> </a:t>
                </a:r>
              </a:p>
            </p:txBody>
          </p:sp>
        </mc:Fallback>
      </mc:AlternateContent>
      <p:pic>
        <p:nvPicPr>
          <p:cNvPr id="18" name="Content Placeholder 17" descr="An equation. Begin equation. X overbar equals start fraction upper sigma x subscript i baseline over n end fraction equals start fraction 50,520 over 30 end fraction equals 1684. End equation.">
            <a:extLst>
              <a:ext uri="{FF2B5EF4-FFF2-40B4-BE49-F238E27FC236}">
                <a16:creationId xmlns:a16="http://schemas.microsoft.com/office/drawing/2014/main" id="{770B4224-0DA3-4FB5-A6BF-93B7377DE65B}"/>
              </a:ext>
            </a:extLst>
          </p:cNvPr>
          <p:cNvPicPr>
            <a:picLocks noGrp="1" noChangeAspect="1"/>
          </p:cNvPicPr>
          <p:nvPr>
            <p:ph sz="half" idx="14"/>
          </p:nvPr>
        </p:nvPicPr>
        <p:blipFill>
          <a:blip r:embed="rId4"/>
          <a:stretch>
            <a:fillRect/>
          </a:stretch>
        </p:blipFill>
        <p:spPr>
          <a:xfrm>
            <a:off x="4535447" y="2027627"/>
            <a:ext cx="3090940" cy="701101"/>
          </a:xfrm>
          <a:prstGeom prst="rect">
            <a:avLst/>
          </a:prstGeom>
        </p:spPr>
      </p:pic>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AC1B34C6-7AA6-4D42-BD5D-5CA2C1C339A7}"/>
                  </a:ext>
                </a:extLst>
              </p:cNvPr>
              <p:cNvSpPr>
                <a:spLocks noGrp="1"/>
              </p:cNvSpPr>
              <p:nvPr>
                <p:ph sz="quarter" idx="13"/>
              </p:nvPr>
            </p:nvSpPr>
            <p:spPr>
              <a:xfrm>
                <a:off x="836126" y="2926849"/>
                <a:ext cx="10489586" cy="458209"/>
              </a:xfrm>
            </p:spPr>
            <p:txBody>
              <a:bodyPr>
                <a:noAutofit/>
              </a:bodyPr>
              <a:lstStyle/>
              <a:p>
                <a:pPr>
                  <a:buSzPct val="100000"/>
                </a:pPr>
                <a:r>
                  <a:rPr lang="en-US" sz="2400" i="1" dirty="0">
                    <a:solidFill>
                      <a:srgbClr val="000000"/>
                    </a:solidFill>
                    <a:cs typeface="Arial" panose="020B0604020202020204" pitchFamily="34" charset="0"/>
                  </a:rPr>
                  <a:t>s</a:t>
                </a:r>
                <a:r>
                  <a:rPr lang="en-US" sz="2400" dirty="0">
                    <a:solidFill>
                      <a:srgbClr val="000000"/>
                    </a:solidFill>
                    <a:cs typeface="Arial" panose="020B0604020202020204" pitchFamily="34" charset="0"/>
                  </a:rPr>
                  <a:t> is the point estimator of the population standard deviation, </a:t>
                </a:r>
                <a14:m>
                  <m:oMath xmlns:m="http://schemas.openxmlformats.org/officeDocument/2006/math">
                    <m:r>
                      <a:rPr lang="en-US" sz="2400" i="1">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oMath>
                </a14:m>
                <a:endParaRPr lang="en-US" sz="2400" dirty="0">
                  <a:solidFill>
                    <a:srgbClr val="000000"/>
                  </a:solidFill>
                  <a:latin typeface="Symbol" panose="05050102010706020507" pitchFamily="18" charset="2"/>
                  <a:cs typeface="Arial" panose="020B0604020202020204" pitchFamily="34" charset="0"/>
                </a:endParaRPr>
              </a:p>
            </p:txBody>
          </p:sp>
        </mc:Choice>
        <mc:Fallback xmlns="">
          <p:sp>
            <p:nvSpPr>
              <p:cNvPr id="11" name="Content Placeholder 10">
                <a:extLst>
                  <a:ext uri="{FF2B5EF4-FFF2-40B4-BE49-F238E27FC236}">
                    <a16:creationId xmlns:a16="http://schemas.microsoft.com/office/drawing/2014/main" id="{AC1B34C6-7AA6-4D42-BD5D-5CA2C1C339A7}"/>
                  </a:ext>
                </a:extLst>
              </p:cNvPr>
              <p:cNvSpPr>
                <a:spLocks noGrp="1" noRot="1" noChangeAspect="1" noMove="1" noResize="1" noEditPoints="1" noAdjustHandles="1" noChangeArrowheads="1" noChangeShapeType="1" noTextEdit="1"/>
              </p:cNvSpPr>
              <p:nvPr>
                <p:ph sz="quarter" idx="13"/>
              </p:nvPr>
            </p:nvSpPr>
            <p:spPr>
              <a:xfrm>
                <a:off x="836126" y="2926849"/>
                <a:ext cx="10489586" cy="458209"/>
              </a:xfrm>
              <a:blipFill>
                <a:blip r:embed="rId5"/>
                <a:stretch>
                  <a:fillRect l="-755" t="-18667" b="-22667"/>
                </a:stretch>
              </a:blipFill>
            </p:spPr>
            <p:txBody>
              <a:bodyPr/>
              <a:lstStyle/>
              <a:p>
                <a:r>
                  <a:rPr lang="en-US">
                    <a:noFill/>
                  </a:rPr>
                  <a:t> </a:t>
                </a:r>
              </a:p>
            </p:txBody>
          </p:sp>
        </mc:Fallback>
      </mc:AlternateContent>
      <p:pic>
        <p:nvPicPr>
          <p:cNvPr id="19" name="Content Placeholder 18" descr="An equation. Begin equation. S equals start root start fraction upper sigma left paren x subscript i baseline minus x overbar right paren squared over n minus 1 end fraction, end root equals start root start fraction 2470.8 over 29 end fraction end root, equals 85.2. End equation.">
            <a:extLst>
              <a:ext uri="{FF2B5EF4-FFF2-40B4-BE49-F238E27FC236}">
                <a16:creationId xmlns:a16="http://schemas.microsoft.com/office/drawing/2014/main" id="{4CF7BA3E-3ECB-4A4A-959B-5152ACD8A77B}"/>
              </a:ext>
            </a:extLst>
          </p:cNvPr>
          <p:cNvPicPr>
            <a:picLocks noGrp="1" noChangeAspect="1"/>
          </p:cNvPicPr>
          <p:nvPr>
            <p:ph sz="half" idx="15"/>
          </p:nvPr>
        </p:nvPicPr>
        <p:blipFill>
          <a:blip r:embed="rId6"/>
          <a:stretch>
            <a:fillRect/>
          </a:stretch>
        </p:blipFill>
        <p:spPr>
          <a:xfrm>
            <a:off x="4074424" y="3323342"/>
            <a:ext cx="4012986" cy="963903"/>
          </a:xfrm>
          <a:prstGeom prst="rect">
            <a:avLst/>
          </a:prstGeom>
        </p:spPr>
      </p:pic>
      <mc:AlternateContent xmlns:mc="http://schemas.openxmlformats.org/markup-compatibility/2006" xmlns:a14="http://schemas.microsoft.com/office/drawing/2010/main">
        <mc:Choice Requires="a14">
          <p:sp>
            <p:nvSpPr>
              <p:cNvPr id="22" name="Content Placeholder 21">
                <a:extLst>
                  <a:ext uri="{FF2B5EF4-FFF2-40B4-BE49-F238E27FC236}">
                    <a16:creationId xmlns:a16="http://schemas.microsoft.com/office/drawing/2014/main" id="{B3EA313D-C19E-44B0-93EE-1A123B8FFA73}"/>
                  </a:ext>
                </a:extLst>
              </p:cNvPr>
              <p:cNvSpPr>
                <a:spLocks noGrp="1"/>
              </p:cNvSpPr>
              <p:nvPr>
                <p:ph sz="half" idx="18"/>
              </p:nvPr>
            </p:nvSpPr>
            <p:spPr>
              <a:xfrm>
                <a:off x="879900" y="4287245"/>
                <a:ext cx="10489589" cy="525962"/>
              </a:xfrm>
            </p:spPr>
            <p:txBody>
              <a:bodyPr>
                <a:noAutofit/>
              </a:bodyPr>
              <a:lstStyle/>
              <a:p>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𝑝</m:t>
                        </m:r>
                      </m:e>
                    </m:acc>
                  </m:oMath>
                </a14:m>
                <a:r>
                  <a:rPr lang="en-US" sz="2400" i="1" dirty="0">
                    <a:solidFill>
                      <a:srgbClr val="000000"/>
                    </a:solidFill>
                    <a:latin typeface="Cambria Math" panose="02040503050406030204" pitchFamily="18" charset="0"/>
                    <a:cs typeface="Arial" panose="020B0604020202020204" pitchFamily="34" charset="0"/>
                  </a:rPr>
                  <a:t> </a:t>
                </a:r>
                <a:r>
                  <a:rPr lang="en-US" sz="2400" dirty="0">
                    <a:solidFill>
                      <a:srgbClr val="000000"/>
                    </a:solidFill>
                    <a:cs typeface="Arial" panose="020B0604020202020204" pitchFamily="34" charset="0"/>
                  </a:rPr>
                  <a:t>is the point estimator of the population proportion, </a:t>
                </a:r>
                <a:r>
                  <a:rPr lang="en-US" sz="2400" i="1" dirty="0">
                    <a:solidFill>
                      <a:srgbClr val="000000"/>
                    </a:solidFill>
                    <a:latin typeface="Cambria Math" panose="02040503050406030204" pitchFamily="18" charset="0"/>
                    <a:cs typeface="Arial" panose="020B0604020202020204" pitchFamily="34" charset="0"/>
                  </a:rPr>
                  <a:t>p.</a:t>
                </a:r>
              </a:p>
              <a:p>
                <a:endParaRPr lang="en-US" sz="2400" dirty="0"/>
              </a:p>
            </p:txBody>
          </p:sp>
        </mc:Choice>
        <mc:Fallback xmlns="">
          <p:sp>
            <p:nvSpPr>
              <p:cNvPr id="22" name="Content Placeholder 21">
                <a:extLst>
                  <a:ext uri="{FF2B5EF4-FFF2-40B4-BE49-F238E27FC236}">
                    <a16:creationId xmlns:a16="http://schemas.microsoft.com/office/drawing/2014/main" id="{B3EA313D-C19E-44B0-93EE-1A123B8FFA73}"/>
                  </a:ext>
                </a:extLst>
              </p:cNvPr>
              <p:cNvSpPr>
                <a:spLocks noGrp="1" noRot="1" noChangeAspect="1" noMove="1" noResize="1" noEditPoints="1" noAdjustHandles="1" noChangeArrowheads="1" noChangeShapeType="1" noTextEdit="1"/>
              </p:cNvSpPr>
              <p:nvPr>
                <p:ph sz="half" idx="18"/>
              </p:nvPr>
            </p:nvSpPr>
            <p:spPr>
              <a:xfrm>
                <a:off x="879900" y="4287245"/>
                <a:ext cx="10489589" cy="525962"/>
              </a:xfrm>
              <a:blipFill>
                <a:blip r:embed="rId7"/>
                <a:stretch>
                  <a:fillRect l="-755" t="-18391" b="-5747"/>
                </a:stretch>
              </a:blipFill>
            </p:spPr>
            <p:txBody>
              <a:bodyPr/>
              <a:lstStyle/>
              <a:p>
                <a:r>
                  <a:rPr lang="en-US">
                    <a:noFill/>
                  </a:rPr>
                  <a:t> </a:t>
                </a:r>
              </a:p>
            </p:txBody>
          </p:sp>
        </mc:Fallback>
      </mc:AlternateContent>
      <p:pic>
        <p:nvPicPr>
          <p:cNvPr id="20" name="Content Placeholder 19" descr="An equation. Begin equation. P overbar equals start fraction 20 over 30 end fraction equals .67. End equation.">
            <a:extLst>
              <a:ext uri="{FF2B5EF4-FFF2-40B4-BE49-F238E27FC236}">
                <a16:creationId xmlns:a16="http://schemas.microsoft.com/office/drawing/2014/main" id="{6A681E4E-5B21-4ABC-A76A-22CC6278BF9F}"/>
              </a:ext>
            </a:extLst>
          </p:cNvPr>
          <p:cNvPicPr>
            <a:picLocks noGrp="1" noChangeAspect="1"/>
          </p:cNvPicPr>
          <p:nvPr>
            <p:ph sz="quarter" idx="16"/>
          </p:nvPr>
        </p:nvPicPr>
        <p:blipFill rotWithShape="1">
          <a:blip r:embed="rId8"/>
          <a:srcRect t="29580" b="30545"/>
          <a:stretch/>
        </p:blipFill>
        <p:spPr>
          <a:xfrm>
            <a:off x="5085873" y="4760828"/>
            <a:ext cx="1990091" cy="700447"/>
          </a:xfrm>
          <a:prstGeom prst="rect">
            <a:avLst/>
          </a:prstGeom>
        </p:spPr>
      </p:pic>
      <p:sp>
        <p:nvSpPr>
          <p:cNvPr id="10" name="Content Placeholder 9"/>
          <p:cNvSpPr>
            <a:spLocks noGrp="1"/>
          </p:cNvSpPr>
          <p:nvPr>
            <p:ph sz="half" idx="2"/>
          </p:nvPr>
        </p:nvSpPr>
        <p:spPr>
          <a:xfrm>
            <a:off x="836126" y="5382428"/>
            <a:ext cx="10489586" cy="763766"/>
          </a:xfrm>
        </p:spPr>
        <p:txBody>
          <a:bodyPr>
            <a:noAutofit/>
          </a:bodyPr>
          <a:lstStyle/>
          <a:p>
            <a:pPr marL="0" indent="0">
              <a:buNone/>
            </a:pPr>
            <a:r>
              <a:rPr lang="en-US" sz="2400" dirty="0"/>
              <a:t>Note: Different random numbers would have identified a different sample which would have resulted in different point estimates.</a:t>
            </a:r>
          </a:p>
        </p:txBody>
      </p:sp>
      <p:sp>
        <p:nvSpPr>
          <p:cNvPr id="5" name="Slide Number Placeholder 4"/>
          <p:cNvSpPr>
            <a:spLocks noGrp="1"/>
          </p:cNvSpPr>
          <p:nvPr>
            <p:ph type="sldNum" sz="quarter" idx="12"/>
          </p:nvPr>
        </p:nvSpPr>
        <p:spPr/>
        <p:txBody>
          <a:bodyPr/>
          <a:lstStyle/>
          <a:p>
            <a:fld id="{949EBC64-41CB-41B8-B6DF-9B1367312BD4}" type="slidenum">
              <a:rPr lang="en-US" smtClean="0"/>
              <a:pPr/>
              <a:t>12</a:t>
            </a:fld>
            <a:endParaRPr lang="en-US"/>
          </a:p>
        </p:txBody>
      </p:sp>
    </p:spTree>
    <p:extLst>
      <p:ext uri="{BB962C8B-B14F-4D97-AF65-F5344CB8AC3E}">
        <p14:creationId xmlns:p14="http://schemas.microsoft.com/office/powerpoint/2010/main" val="3785540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6127" y="640081"/>
            <a:ext cx="10489585" cy="727075"/>
          </a:xfrm>
        </p:spPr>
        <p:txBody>
          <a:bodyPr>
            <a:noAutofit/>
          </a:bodyPr>
          <a:lstStyle/>
          <a:p>
            <a:r>
              <a:rPr lang="en-US" dirty="0">
                <a:cs typeface="Arial" panose="020B0604020202020204" pitchFamily="34" charset="0"/>
              </a:rPr>
              <a:t>Point Estimation </a:t>
            </a:r>
            <a:r>
              <a:rPr lang="en-US" sz="1600" dirty="0">
                <a:cs typeface="Arial" panose="020B0604020202020204" pitchFamily="34" charset="0"/>
              </a:rPr>
              <a:t>(4 of 4)</a:t>
            </a:r>
            <a:endParaRPr lang="en-US" sz="1600" dirty="0"/>
          </a:p>
        </p:txBody>
      </p:sp>
      <p:sp>
        <p:nvSpPr>
          <p:cNvPr id="2" name="Content Placeholder 1"/>
          <p:cNvSpPr>
            <a:spLocks noGrp="1"/>
          </p:cNvSpPr>
          <p:nvPr>
            <p:ph sz="half" idx="1"/>
          </p:nvPr>
        </p:nvSpPr>
        <p:spPr>
          <a:xfrm>
            <a:off x="836126" y="1547264"/>
            <a:ext cx="10294936" cy="355099"/>
          </a:xfrm>
        </p:spPr>
        <p:txBody>
          <a:bodyPr>
            <a:noAutofit/>
          </a:bodyPr>
          <a:lstStyle/>
          <a:p>
            <a:pPr marL="0" indent="0">
              <a:spcBef>
                <a:spcPts val="1800"/>
              </a:spcBef>
              <a:buNone/>
            </a:pPr>
            <a:r>
              <a:rPr lang="en-US" sz="2400" dirty="0">
                <a:solidFill>
                  <a:srgbClr val="000000"/>
                </a:solidFill>
                <a:cs typeface="Arial" panose="020B0604020202020204" pitchFamily="34" charset="0"/>
              </a:rPr>
              <a:t>Once all the data for the 900 applicants were entered in the database of the college, the values of the population parameters of interest were calculated.</a:t>
            </a:r>
          </a:p>
          <a:p>
            <a:pPr lvl="1">
              <a:spcBef>
                <a:spcPts val="3000"/>
              </a:spcBef>
            </a:pPr>
            <a:r>
              <a:rPr lang="en-US" sz="2200" dirty="0">
                <a:solidFill>
                  <a:srgbClr val="000000"/>
                </a:solidFill>
                <a:cs typeface="Arial" panose="020B0604020202020204" pitchFamily="34" charset="0"/>
              </a:rPr>
              <a:t>Population Mean SAT Score:</a:t>
            </a:r>
          </a:p>
        </p:txBody>
      </p:sp>
      <p:sp>
        <p:nvSpPr>
          <p:cNvPr id="3" name="Content Placeholder 2"/>
          <p:cNvSpPr>
            <a:spLocks noGrp="1"/>
          </p:cNvSpPr>
          <p:nvPr>
            <p:ph sz="half" idx="2"/>
          </p:nvPr>
        </p:nvSpPr>
        <p:spPr>
          <a:xfrm>
            <a:off x="836126" y="3643884"/>
            <a:ext cx="3819001" cy="954787"/>
          </a:xfrm>
        </p:spPr>
        <p:txBody>
          <a:bodyPr>
            <a:noAutofit/>
          </a:bodyPr>
          <a:lstStyle/>
          <a:p>
            <a:pPr lvl="1"/>
            <a:r>
              <a:rPr lang="en-US" sz="2200" dirty="0">
                <a:solidFill>
                  <a:srgbClr val="000000"/>
                </a:solidFill>
                <a:cs typeface="Arial" panose="020B0604020202020204" pitchFamily="34" charset="0"/>
              </a:rPr>
              <a:t>Population Standard Deviation for SAT Score:</a:t>
            </a:r>
            <a:endParaRPr lang="en-US" sz="2200" dirty="0"/>
          </a:p>
        </p:txBody>
      </p:sp>
      <p:sp>
        <p:nvSpPr>
          <p:cNvPr id="4" name="Content Placeholder 3"/>
          <p:cNvSpPr>
            <a:spLocks noGrp="1"/>
          </p:cNvSpPr>
          <p:nvPr>
            <p:ph sz="quarter" idx="13"/>
          </p:nvPr>
        </p:nvSpPr>
        <p:spPr>
          <a:xfrm>
            <a:off x="836126" y="4934378"/>
            <a:ext cx="4799903" cy="722261"/>
          </a:xfrm>
        </p:spPr>
        <p:txBody>
          <a:bodyPr>
            <a:noAutofit/>
          </a:bodyPr>
          <a:lstStyle/>
          <a:p>
            <a:pPr lvl="1"/>
            <a:r>
              <a:rPr lang="en-US" sz="2200" dirty="0">
                <a:solidFill>
                  <a:srgbClr val="000000"/>
                </a:solidFill>
                <a:cs typeface="Arial" panose="020B0604020202020204" pitchFamily="34" charset="0"/>
              </a:rPr>
              <a:t>Population proportion wanting On-Campus Housing:</a:t>
            </a:r>
          </a:p>
        </p:txBody>
      </p:sp>
      <p:pic>
        <p:nvPicPr>
          <p:cNvPr id="16" name="Content Placeholder 15" descr="An equation. Begin equation. Mu equals start fraction upper sigma x subscript i baseline over 900 end fraction equals 1697. End equation.">
            <a:extLst>
              <a:ext uri="{FF2B5EF4-FFF2-40B4-BE49-F238E27FC236}">
                <a16:creationId xmlns:a16="http://schemas.microsoft.com/office/drawing/2014/main" id="{76AC966C-6C3F-41A4-A634-87D8D34D535D}"/>
              </a:ext>
            </a:extLst>
          </p:cNvPr>
          <p:cNvPicPr>
            <a:picLocks noGrp="1" noChangeAspect="1"/>
          </p:cNvPicPr>
          <p:nvPr>
            <p:ph sz="half" idx="14"/>
          </p:nvPr>
        </p:nvPicPr>
        <p:blipFill>
          <a:blip r:embed="rId2"/>
          <a:stretch>
            <a:fillRect/>
          </a:stretch>
        </p:blipFill>
        <p:spPr>
          <a:xfrm>
            <a:off x="6539136" y="2352421"/>
            <a:ext cx="2456901" cy="804742"/>
          </a:xfrm>
          <a:prstGeom prst="rect">
            <a:avLst/>
          </a:prstGeom>
        </p:spPr>
      </p:pic>
      <p:pic>
        <p:nvPicPr>
          <p:cNvPr id="17" name="Content Placeholder 16" descr="An equation. Begin equation. Sigma equals start root start fraction upper sigma left paren x subscript i baseline minus mu right paren squared over 900 end fraction end root equals 87.4. End equation.">
            <a:extLst>
              <a:ext uri="{FF2B5EF4-FFF2-40B4-BE49-F238E27FC236}">
                <a16:creationId xmlns:a16="http://schemas.microsoft.com/office/drawing/2014/main" id="{8A717D27-47A3-4A6B-941A-00F634EB7A22}"/>
              </a:ext>
            </a:extLst>
          </p:cNvPr>
          <p:cNvPicPr>
            <a:picLocks noGrp="1" noChangeAspect="1"/>
          </p:cNvPicPr>
          <p:nvPr>
            <p:ph sz="half" idx="15"/>
          </p:nvPr>
        </p:nvPicPr>
        <p:blipFill>
          <a:blip r:embed="rId3"/>
          <a:stretch>
            <a:fillRect/>
          </a:stretch>
        </p:blipFill>
        <p:spPr>
          <a:xfrm>
            <a:off x="6556570" y="3491462"/>
            <a:ext cx="3179762" cy="1123632"/>
          </a:xfrm>
          <a:prstGeom prst="rect">
            <a:avLst/>
          </a:prstGeom>
        </p:spPr>
      </p:pic>
      <p:pic>
        <p:nvPicPr>
          <p:cNvPr id="18" name="Content Placeholder 17" descr="Begin equation. P equals start fraction 648 over 900 end fraction equals 0.72. End equation.">
            <a:extLst>
              <a:ext uri="{FF2B5EF4-FFF2-40B4-BE49-F238E27FC236}">
                <a16:creationId xmlns:a16="http://schemas.microsoft.com/office/drawing/2014/main" id="{5535DA0F-3F82-418A-B374-AD6C657EED0D}"/>
              </a:ext>
            </a:extLst>
          </p:cNvPr>
          <p:cNvPicPr>
            <a:picLocks noGrp="1" noChangeAspect="1"/>
          </p:cNvPicPr>
          <p:nvPr>
            <p:ph sz="quarter" idx="16"/>
          </p:nvPr>
        </p:nvPicPr>
        <p:blipFill>
          <a:blip r:embed="rId4"/>
          <a:stretch>
            <a:fillRect/>
          </a:stretch>
        </p:blipFill>
        <p:spPr>
          <a:xfrm>
            <a:off x="6558384" y="5132832"/>
            <a:ext cx="2400958" cy="529623"/>
          </a:xfrm>
          <a:prstGeom prst="rect">
            <a:avLst/>
          </a:prstGeom>
        </p:spPr>
      </p:pic>
      <p:sp>
        <p:nvSpPr>
          <p:cNvPr id="5" name="Slide Number Placeholder 4"/>
          <p:cNvSpPr>
            <a:spLocks noGrp="1"/>
          </p:cNvSpPr>
          <p:nvPr>
            <p:ph type="sldNum" sz="quarter" idx="12"/>
          </p:nvPr>
        </p:nvSpPr>
        <p:spPr/>
        <p:txBody>
          <a:bodyPr/>
          <a:lstStyle/>
          <a:p>
            <a:fld id="{949EBC64-41CB-41B8-B6DF-9B1367312BD4}" type="slidenum">
              <a:rPr lang="en-US" smtClean="0"/>
              <a:pPr/>
              <a:t>13</a:t>
            </a:fld>
            <a:endParaRPr lang="en-US"/>
          </a:p>
        </p:txBody>
      </p:sp>
    </p:spTree>
    <p:extLst>
      <p:ext uri="{BB962C8B-B14F-4D97-AF65-F5344CB8AC3E}">
        <p14:creationId xmlns:p14="http://schemas.microsoft.com/office/powerpoint/2010/main" val="1707519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t" anchorCtr="0">
            <a:noAutofit/>
          </a:bodyPr>
          <a:lstStyle/>
          <a:p>
            <a:r>
              <a:rPr lang="en-US" dirty="0">
                <a:cs typeface="Arial" panose="020B0604020202020204" pitchFamily="34" charset="0"/>
              </a:rPr>
              <a:t>Summary of Point Estimates Obtained from a Simple Random Sample</a:t>
            </a:r>
            <a:endParaRPr lang="en-US" dirty="0"/>
          </a:p>
        </p:txBody>
      </p:sp>
      <mc:AlternateContent xmlns:mc="http://schemas.openxmlformats.org/markup-compatibility/2006" xmlns:a14="http://schemas.microsoft.com/office/drawing/2010/main">
        <mc:Choice Requires="a14">
          <p:graphicFrame>
            <p:nvGraphicFramePr>
              <p:cNvPr id="6" name="Content Placeholder 5" descr="A table with 4 columns and 4 rows. The column headers are: Population Parameter, Parameter Value, Point Estimator, and Point Estimate.">
                <a:extLst>
                  <a:ext uri="{FF2B5EF4-FFF2-40B4-BE49-F238E27FC236}">
                    <a16:creationId xmlns:a16="http://schemas.microsoft.com/office/drawing/2014/main" id="{43BA208B-24CE-4E91-A2B1-51C502337515}"/>
                  </a:ext>
                </a:extLst>
              </p:cNvPr>
              <p:cNvGraphicFramePr>
                <a:graphicFrameLocks noGrp="1"/>
              </p:cNvGraphicFramePr>
              <p:nvPr>
                <p:ph sz="quarter" idx="13"/>
                <p:extLst>
                  <p:ext uri="{D42A27DB-BD31-4B8C-83A1-F6EECF244321}">
                    <p14:modId xmlns:p14="http://schemas.microsoft.com/office/powerpoint/2010/main" val="1615917780"/>
                  </p:ext>
                </p:extLst>
              </p:nvPr>
            </p:nvGraphicFramePr>
            <p:xfrm>
              <a:off x="1368459" y="2055539"/>
              <a:ext cx="9644284" cy="3883025"/>
            </p:xfrm>
            <a:graphic>
              <a:graphicData uri="http://schemas.openxmlformats.org/drawingml/2006/table">
                <a:tbl>
                  <a:tblPr firstRow="1" firstCol="1" bandRow="1"/>
                  <a:tblGrid>
                    <a:gridCol w="2410555">
                      <a:extLst>
                        <a:ext uri="{9D8B030D-6E8A-4147-A177-3AD203B41FA5}">
                          <a16:colId xmlns:a16="http://schemas.microsoft.com/office/drawing/2014/main" val="20000"/>
                        </a:ext>
                      </a:extLst>
                    </a:gridCol>
                    <a:gridCol w="2410555">
                      <a:extLst>
                        <a:ext uri="{9D8B030D-6E8A-4147-A177-3AD203B41FA5}">
                          <a16:colId xmlns:a16="http://schemas.microsoft.com/office/drawing/2014/main" val="20001"/>
                        </a:ext>
                      </a:extLst>
                    </a:gridCol>
                    <a:gridCol w="2411587">
                      <a:extLst>
                        <a:ext uri="{9D8B030D-6E8A-4147-A177-3AD203B41FA5}">
                          <a16:colId xmlns:a16="http://schemas.microsoft.com/office/drawing/2014/main" val="20002"/>
                        </a:ext>
                      </a:extLst>
                    </a:gridCol>
                    <a:gridCol w="2411587">
                      <a:extLst>
                        <a:ext uri="{9D8B030D-6E8A-4147-A177-3AD203B41FA5}">
                          <a16:colId xmlns:a16="http://schemas.microsoft.com/office/drawing/2014/main" val="20003"/>
                        </a:ext>
                      </a:extLst>
                    </a:gridCol>
                  </a:tblGrid>
                  <a:tr h="298920">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Population </a:t>
                          </a:r>
                          <a:r>
                            <a:rPr lang="en-US" sz="2200" u="sng" dirty="0">
                              <a:effectLst/>
                              <a:latin typeface="+mn-lt"/>
                              <a:ea typeface="Calibri" panose="020F0502020204030204" pitchFamily="34" charset="0"/>
                              <a:cs typeface="Times New Roman" panose="02020603050405020304" pitchFamily="18" charset="0"/>
                            </a:rPr>
                            <a:t>Parameter</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Parameter </a:t>
                          </a:r>
                          <a:r>
                            <a:rPr lang="en-US" sz="2200" u="sng" dirty="0">
                              <a:effectLst/>
                              <a:latin typeface="+mn-lt"/>
                              <a:ea typeface="Calibri" panose="020F0502020204030204" pitchFamily="34" charset="0"/>
                              <a:cs typeface="Times New Roman" panose="02020603050405020304" pitchFamily="18" charset="0"/>
                            </a:rPr>
                            <a:t>Value</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Point </a:t>
                          </a:r>
                          <a:r>
                            <a:rPr lang="en-US" sz="2200" u="sng" dirty="0">
                              <a:effectLst/>
                              <a:latin typeface="+mn-lt"/>
                              <a:ea typeface="Calibri" panose="020F0502020204030204" pitchFamily="34" charset="0"/>
                              <a:cs typeface="Times New Roman" panose="02020603050405020304" pitchFamily="18" charset="0"/>
                            </a:rPr>
                            <a:t>Estimator</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Point </a:t>
                          </a:r>
                          <a:r>
                            <a:rPr lang="en-US" sz="2200" u="sng" dirty="0">
                              <a:effectLst/>
                              <a:latin typeface="+mn-lt"/>
                              <a:ea typeface="Calibri" panose="020F0502020204030204" pitchFamily="34" charset="0"/>
                              <a:cs typeface="Times New Roman" panose="02020603050405020304" pitchFamily="18" charset="0"/>
                            </a:rPr>
                            <a:t>Estimate</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0"/>
                      </a:ext>
                    </a:extLst>
                  </a:tr>
                  <a:tr h="597838">
                    <a:tc>
                      <a:txBody>
                        <a:bodyPr/>
                        <a:lstStyle/>
                        <a:p>
                          <a:pPr marL="0" marR="0">
                            <a:lnSpc>
                              <a:spcPct val="107000"/>
                            </a:lnSpc>
                            <a:spcBef>
                              <a:spcPts val="0"/>
                            </a:spcBef>
                            <a:spcAft>
                              <a:spcPts val="0"/>
                            </a:spcAft>
                          </a:pPr>
                          <a:r>
                            <a:rPr lang="en-US" sz="2200" i="1" dirty="0">
                              <a:effectLst/>
                              <a:latin typeface="+mn-lt"/>
                              <a:ea typeface="Calibri" panose="020F0502020204030204" pitchFamily="34" charset="0"/>
                              <a:cs typeface="Times New Roman" panose="02020603050405020304" pitchFamily="18" charset="0"/>
                            </a:rPr>
                            <a:t>μ</a:t>
                          </a:r>
                          <a:r>
                            <a:rPr lang="en-US" sz="2200" dirty="0">
                              <a:effectLst/>
                              <a:latin typeface="+mn-lt"/>
                              <a:ea typeface="Calibri" panose="020F0502020204030204" pitchFamily="34" charset="0"/>
                              <a:cs typeface="Times New Roman" panose="02020603050405020304" pitchFamily="18" charset="0"/>
                            </a:rPr>
                            <a:t> = Population mean SAT score</a:t>
                          </a:r>
                        </a:p>
                      </a:txBody>
                      <a:tcPr marL="27432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1697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nSpc>
                              <a:spcPct val="107000"/>
                            </a:lnSpc>
                            <a:spcBef>
                              <a:spcPts val="0"/>
                            </a:spcBef>
                            <a:spcAft>
                              <a:spcPts val="0"/>
                            </a:spcAft>
                          </a:pPr>
                          <a14:m>
                            <m:oMath xmlns:m="http://schemas.openxmlformats.org/officeDocument/2006/math">
                              <m:acc>
                                <m:accPr>
                                  <m:chr m:val="̅"/>
                                  <m:ctrlPr>
                                    <a:rPr lang="en-US" sz="2200" i="1" smtClean="0">
                                      <a:solidFill>
                                        <a:srgbClr val="000000"/>
                                      </a:solidFill>
                                      <a:latin typeface="Cambria Math" panose="02040503050406030204" pitchFamily="18" charset="0"/>
                                    </a:rPr>
                                  </m:ctrlPr>
                                </m:accPr>
                                <m:e>
                                  <m:r>
                                    <a:rPr lang="en-US" sz="2200" i="1">
                                      <a:solidFill>
                                        <a:srgbClr val="000000"/>
                                      </a:solidFill>
                                      <a:latin typeface="Cambria Math" panose="02040503050406030204" pitchFamily="18" charset="0"/>
                                    </a:rPr>
                                    <m:t>𝑥</m:t>
                                  </m:r>
                                </m:e>
                              </m:acc>
                              <m:r>
                                <a:rPr lang="en-US" sz="2200" i="1">
                                  <a:solidFill>
                                    <a:srgbClr val="000000"/>
                                  </a:solidFill>
                                  <a:latin typeface="Cambria Math" panose="02040503050406030204" pitchFamily="18" charset="0"/>
                                </a:rPr>
                                <m:t> </m:t>
                              </m:r>
                            </m:oMath>
                          </a14:m>
                          <a:r>
                            <a:rPr lang="en-US" sz="2200" dirty="0">
                              <a:effectLst/>
                              <a:latin typeface="+mn-lt"/>
                              <a:ea typeface="Calibri" panose="020F0502020204030204" pitchFamily="34" charset="0"/>
                              <a:cs typeface="Times New Roman" panose="02020603050405020304" pitchFamily="18" charset="0"/>
                            </a:rPr>
                            <a:t>= Sample mean SAT score</a:t>
                          </a:r>
                        </a:p>
                      </a:txBody>
                      <a:tcPr marL="27432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1684</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1"/>
                      </a:ext>
                    </a:extLst>
                  </a:tr>
                  <a:tr h="597838">
                    <a:tc>
                      <a:txBody>
                        <a:bodyPr/>
                        <a:lstStyle/>
                        <a:p>
                          <a:pPr marL="0" marR="0">
                            <a:lnSpc>
                              <a:spcPct val="107000"/>
                            </a:lnSpc>
                            <a:spcBef>
                              <a:spcPts val="0"/>
                            </a:spcBef>
                            <a:spcAft>
                              <a:spcPts val="0"/>
                            </a:spcAft>
                          </a:pPr>
                          <a:r>
                            <a:rPr lang="en-US" sz="2200" dirty="0">
                              <a:effectLst/>
                              <a:latin typeface="+mn-lt"/>
                              <a:ea typeface="Calibri" panose="020F0502020204030204" pitchFamily="34" charset="0"/>
                              <a:cs typeface="Calibri" panose="020F0502020204030204" pitchFamily="34" charset="0"/>
                            </a:rPr>
                            <a:t>σ</a:t>
                          </a:r>
                          <a:r>
                            <a:rPr lang="en-US" sz="2200" dirty="0">
                              <a:effectLst/>
                              <a:latin typeface="+mn-lt"/>
                              <a:ea typeface="Calibri" panose="020F0502020204030204" pitchFamily="34" charset="0"/>
                              <a:cs typeface="Times New Roman" panose="02020603050405020304" pitchFamily="18" charset="0"/>
                            </a:rPr>
                            <a:t> = Population std. deviation for SAT score</a:t>
                          </a:r>
                        </a:p>
                      </a:txBody>
                      <a:tcPr marL="27432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87.4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s = Sample std. deviation for SAT score</a:t>
                          </a:r>
                        </a:p>
                      </a:txBody>
                      <a:tcPr marL="27432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85.2</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2"/>
                      </a:ext>
                    </a:extLst>
                  </a:tr>
                  <a:tr h="896758">
                    <a:tc>
                      <a:txBody>
                        <a:bodyPr/>
                        <a:lstStyle/>
                        <a:p>
                          <a:pPr marL="0" marR="0">
                            <a:lnSpc>
                              <a:spcPct val="107000"/>
                            </a:lnSpc>
                            <a:spcBef>
                              <a:spcPts val="0"/>
                            </a:spcBef>
                            <a:spcAft>
                              <a:spcPts val="0"/>
                            </a:spcAft>
                          </a:pPr>
                          <a:r>
                            <a:rPr lang="en-US" sz="2200" i="1" dirty="0">
                              <a:effectLst/>
                              <a:latin typeface="+mn-lt"/>
                              <a:ea typeface="Calibri" panose="020F0502020204030204" pitchFamily="34" charset="0"/>
                              <a:cs typeface="Times New Roman" panose="02020603050405020304" pitchFamily="18" charset="0"/>
                            </a:rPr>
                            <a:t>p</a:t>
                          </a:r>
                          <a:r>
                            <a:rPr lang="en-US" sz="2200" dirty="0">
                              <a:effectLst/>
                              <a:latin typeface="+mn-lt"/>
                              <a:ea typeface="Calibri" panose="020F0502020204030204" pitchFamily="34" charset="0"/>
                              <a:cs typeface="Times New Roman" panose="02020603050405020304" pitchFamily="18" charset="0"/>
                            </a:rPr>
                            <a:t> = Population proportion wanting campus housing</a:t>
                          </a:r>
                        </a:p>
                      </a:txBody>
                      <a:tcPr marL="27432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0.72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nSpc>
                              <a:spcPct val="107000"/>
                            </a:lnSpc>
                            <a:spcBef>
                              <a:spcPts val="0"/>
                            </a:spcBef>
                            <a:spcAft>
                              <a:spcPts val="0"/>
                            </a:spcAft>
                          </a:pPr>
                          <a14:m>
                            <m:oMath xmlns:m="http://schemas.openxmlformats.org/officeDocument/2006/math">
                              <m:acc>
                                <m:accPr>
                                  <m:chr m:val="̅"/>
                                  <m:ctrlPr>
                                    <a:rPr lang="en-US" sz="2200" i="1" smtClean="0">
                                      <a:solidFill>
                                        <a:srgbClr val="000000"/>
                                      </a:solidFill>
                                      <a:latin typeface="Cambria Math" panose="02040503050406030204" pitchFamily="18" charset="0"/>
                                    </a:rPr>
                                  </m:ctrlPr>
                                </m:accPr>
                                <m:e>
                                  <m:r>
                                    <a:rPr lang="en-US" sz="2200" i="1">
                                      <a:solidFill>
                                        <a:srgbClr val="000000"/>
                                      </a:solidFill>
                                      <a:latin typeface="Cambria Math" panose="02040503050406030204" pitchFamily="18" charset="0"/>
                                    </a:rPr>
                                    <m:t>𝑝</m:t>
                                  </m:r>
                                </m:e>
                              </m:acc>
                            </m:oMath>
                          </a14:m>
                          <a:r>
                            <a:rPr lang="en-US" sz="2200" dirty="0">
                              <a:effectLst/>
                              <a:latin typeface="+mn-lt"/>
                              <a:ea typeface="Calibri" panose="020F0502020204030204" pitchFamily="34" charset="0"/>
                              <a:cs typeface="Times New Roman" panose="02020603050405020304" pitchFamily="18" charset="0"/>
                            </a:rPr>
                            <a:t> = Sample proportion wanting on campus housing</a:t>
                          </a:r>
                        </a:p>
                      </a:txBody>
                      <a:tcPr marL="27432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0.67</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3"/>
                      </a:ext>
                    </a:extLst>
                  </a:tr>
                </a:tbl>
              </a:graphicData>
            </a:graphic>
          </p:graphicFrame>
        </mc:Choice>
        <mc:Fallback xmlns="">
          <p:graphicFrame>
            <p:nvGraphicFramePr>
              <p:cNvPr id="6" name="Content Placeholder 5" descr="A table with 4 columns and 4 rows. The column headers are: Population Parameter, Parameter Value, Point Estimator, and Point Estimate.">
                <a:extLst>
                  <a:ext uri="{FF2B5EF4-FFF2-40B4-BE49-F238E27FC236}">
                    <a16:creationId xmlns:a16="http://schemas.microsoft.com/office/drawing/2014/main" id="{43BA208B-24CE-4E91-A2B1-51C502337515}"/>
                  </a:ext>
                </a:extLst>
              </p:cNvPr>
              <p:cNvGraphicFramePr>
                <a:graphicFrameLocks noGrp="1"/>
              </p:cNvGraphicFramePr>
              <p:nvPr>
                <p:ph sz="quarter" idx="13"/>
                <p:extLst>
                  <p:ext uri="{D42A27DB-BD31-4B8C-83A1-F6EECF244321}">
                    <p14:modId xmlns:p14="http://schemas.microsoft.com/office/powerpoint/2010/main" val="1615917780"/>
                  </p:ext>
                </p:extLst>
              </p:nvPr>
            </p:nvGraphicFramePr>
            <p:xfrm>
              <a:off x="1368459" y="2055539"/>
              <a:ext cx="9644284" cy="3883025"/>
            </p:xfrm>
            <a:graphic>
              <a:graphicData uri="http://schemas.openxmlformats.org/drawingml/2006/table">
                <a:tbl>
                  <a:tblPr firstRow="1" firstCol="1" bandRow="1"/>
                  <a:tblGrid>
                    <a:gridCol w="2410555">
                      <a:extLst>
                        <a:ext uri="{9D8B030D-6E8A-4147-A177-3AD203B41FA5}">
                          <a16:colId xmlns:a16="http://schemas.microsoft.com/office/drawing/2014/main" val="20000"/>
                        </a:ext>
                      </a:extLst>
                    </a:gridCol>
                    <a:gridCol w="2410555">
                      <a:extLst>
                        <a:ext uri="{9D8B030D-6E8A-4147-A177-3AD203B41FA5}">
                          <a16:colId xmlns:a16="http://schemas.microsoft.com/office/drawing/2014/main" val="20001"/>
                        </a:ext>
                      </a:extLst>
                    </a:gridCol>
                    <a:gridCol w="2411587">
                      <a:extLst>
                        <a:ext uri="{9D8B030D-6E8A-4147-A177-3AD203B41FA5}">
                          <a16:colId xmlns:a16="http://schemas.microsoft.com/office/drawing/2014/main" val="20002"/>
                        </a:ext>
                      </a:extLst>
                    </a:gridCol>
                    <a:gridCol w="2411587">
                      <a:extLst>
                        <a:ext uri="{9D8B030D-6E8A-4147-A177-3AD203B41FA5}">
                          <a16:colId xmlns:a16="http://schemas.microsoft.com/office/drawing/2014/main" val="20003"/>
                        </a:ext>
                      </a:extLst>
                    </a:gridCol>
                  </a:tblGrid>
                  <a:tr h="701675">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Population </a:t>
                          </a:r>
                          <a:r>
                            <a:rPr lang="en-US" sz="2200" u="sng" dirty="0">
                              <a:effectLst/>
                              <a:latin typeface="+mn-lt"/>
                              <a:ea typeface="Calibri" panose="020F0502020204030204" pitchFamily="34" charset="0"/>
                              <a:cs typeface="Times New Roman" panose="02020603050405020304" pitchFamily="18" charset="0"/>
                            </a:rPr>
                            <a:t>Parameter</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Parameter </a:t>
                          </a:r>
                          <a:r>
                            <a:rPr lang="en-US" sz="2200" u="sng" dirty="0">
                              <a:effectLst/>
                              <a:latin typeface="+mn-lt"/>
                              <a:ea typeface="Calibri" panose="020F0502020204030204" pitchFamily="34" charset="0"/>
                              <a:cs typeface="Times New Roman" panose="02020603050405020304" pitchFamily="18" charset="0"/>
                            </a:rPr>
                            <a:t>Value</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Point </a:t>
                          </a:r>
                          <a:r>
                            <a:rPr lang="en-US" sz="2200" u="sng" dirty="0">
                              <a:effectLst/>
                              <a:latin typeface="+mn-lt"/>
                              <a:ea typeface="Calibri" panose="020F0502020204030204" pitchFamily="34" charset="0"/>
                              <a:cs typeface="Times New Roman" panose="02020603050405020304" pitchFamily="18" charset="0"/>
                            </a:rPr>
                            <a:t>Estimator</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Point </a:t>
                          </a:r>
                          <a:r>
                            <a:rPr lang="en-US" sz="2200" u="sng" dirty="0">
                              <a:effectLst/>
                              <a:latin typeface="+mn-lt"/>
                              <a:ea typeface="Calibri" panose="020F0502020204030204" pitchFamily="34" charset="0"/>
                              <a:cs typeface="Times New Roman" panose="02020603050405020304" pitchFamily="18" charset="0"/>
                            </a:rPr>
                            <a:t>Estimate</a:t>
                          </a:r>
                          <a:endParaRPr lang="en-US" sz="2200" dirty="0">
                            <a:effectLst/>
                            <a:latin typeface="+mn-lt"/>
                            <a:ea typeface="Calibri" panose="020F0502020204030204" pitchFamily="34" charset="0"/>
                            <a:cs typeface="Times New Roman" panose="02020603050405020304" pitchFamily="18" charset="0"/>
                          </a:endParaRPr>
                        </a:p>
                      </a:txBody>
                      <a:tcPr marL="457200" marR="45720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0"/>
                      </a:ext>
                    </a:extLst>
                  </a:tr>
                  <a:tr h="701675">
                    <a:tc>
                      <a:txBody>
                        <a:bodyPr/>
                        <a:lstStyle/>
                        <a:p>
                          <a:pPr marL="0" marR="0">
                            <a:lnSpc>
                              <a:spcPct val="107000"/>
                            </a:lnSpc>
                            <a:spcBef>
                              <a:spcPts val="0"/>
                            </a:spcBef>
                            <a:spcAft>
                              <a:spcPts val="0"/>
                            </a:spcAft>
                          </a:pPr>
                          <a:r>
                            <a:rPr lang="en-US" sz="2200" i="1" dirty="0">
                              <a:effectLst/>
                              <a:latin typeface="+mn-lt"/>
                              <a:ea typeface="Calibri" panose="020F0502020204030204" pitchFamily="34" charset="0"/>
                              <a:cs typeface="Times New Roman" panose="02020603050405020304" pitchFamily="18" charset="0"/>
                            </a:rPr>
                            <a:t>μ</a:t>
                          </a:r>
                          <a:r>
                            <a:rPr lang="en-US" sz="2200" dirty="0">
                              <a:effectLst/>
                              <a:latin typeface="+mn-lt"/>
                              <a:ea typeface="Calibri" panose="020F0502020204030204" pitchFamily="34" charset="0"/>
                              <a:cs typeface="Times New Roman" panose="02020603050405020304" pitchFamily="18" charset="0"/>
                            </a:rPr>
                            <a:t> = Population mean SAT score</a:t>
                          </a:r>
                        </a:p>
                      </a:txBody>
                      <a:tcPr marL="27432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1697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endParaRPr lang="en-US"/>
                        </a:p>
                      </a:txBody>
                      <a:tcPr marL="27432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110345" r="-100505" b="-374138"/>
                          </a:stretch>
                        </a:blip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1684</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1"/>
                      </a:ext>
                    </a:extLst>
                  </a:tr>
                  <a:tr h="1060450">
                    <a:tc>
                      <a:txBody>
                        <a:bodyPr/>
                        <a:lstStyle/>
                        <a:p>
                          <a:pPr marL="0" marR="0">
                            <a:lnSpc>
                              <a:spcPct val="107000"/>
                            </a:lnSpc>
                            <a:spcBef>
                              <a:spcPts val="0"/>
                            </a:spcBef>
                            <a:spcAft>
                              <a:spcPts val="0"/>
                            </a:spcAft>
                          </a:pPr>
                          <a:r>
                            <a:rPr lang="en-US" sz="2200" dirty="0">
                              <a:effectLst/>
                              <a:latin typeface="+mn-lt"/>
                              <a:ea typeface="Calibri" panose="020F0502020204030204" pitchFamily="34" charset="0"/>
                              <a:cs typeface="Calibri" panose="020F0502020204030204" pitchFamily="34" charset="0"/>
                            </a:rPr>
                            <a:t>σ</a:t>
                          </a:r>
                          <a:r>
                            <a:rPr lang="en-US" sz="2200" dirty="0">
                              <a:effectLst/>
                              <a:latin typeface="+mn-lt"/>
                              <a:ea typeface="Calibri" panose="020F0502020204030204" pitchFamily="34" charset="0"/>
                              <a:cs typeface="Times New Roman" panose="02020603050405020304" pitchFamily="18" charset="0"/>
                            </a:rPr>
                            <a:t> = Population std. deviation for SAT score</a:t>
                          </a:r>
                        </a:p>
                      </a:txBody>
                      <a:tcPr marL="27432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87.4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s = Sample std. deviation for SAT score</a:t>
                          </a:r>
                        </a:p>
                      </a:txBody>
                      <a:tcPr marL="27432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85.2</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2"/>
                      </a:ext>
                    </a:extLst>
                  </a:tr>
                  <a:tr h="1419225">
                    <a:tc>
                      <a:txBody>
                        <a:bodyPr/>
                        <a:lstStyle/>
                        <a:p>
                          <a:pPr marL="0" marR="0">
                            <a:lnSpc>
                              <a:spcPct val="107000"/>
                            </a:lnSpc>
                            <a:spcBef>
                              <a:spcPts val="0"/>
                            </a:spcBef>
                            <a:spcAft>
                              <a:spcPts val="0"/>
                            </a:spcAft>
                          </a:pPr>
                          <a:r>
                            <a:rPr lang="en-US" sz="2200" i="1" dirty="0">
                              <a:effectLst/>
                              <a:latin typeface="+mn-lt"/>
                              <a:ea typeface="Calibri" panose="020F0502020204030204" pitchFamily="34" charset="0"/>
                              <a:cs typeface="Times New Roman" panose="02020603050405020304" pitchFamily="18" charset="0"/>
                            </a:rPr>
                            <a:t>p</a:t>
                          </a:r>
                          <a:r>
                            <a:rPr lang="en-US" sz="2200" dirty="0">
                              <a:effectLst/>
                              <a:latin typeface="+mn-lt"/>
                              <a:ea typeface="Calibri" panose="020F0502020204030204" pitchFamily="34" charset="0"/>
                              <a:cs typeface="Times New Roman" panose="02020603050405020304" pitchFamily="18" charset="0"/>
                            </a:rPr>
                            <a:t> = Population proportion wanting campus housing</a:t>
                          </a:r>
                        </a:p>
                      </a:txBody>
                      <a:tcPr marL="27432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0.72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endParaRPr lang="en-US"/>
                        </a:p>
                      </a:txBody>
                      <a:tcPr marL="27432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179399" r="-100505" b="-11588"/>
                          </a:stretch>
                        </a:blipFill>
                      </a:tcPr>
                    </a:tc>
                    <a:tc>
                      <a:txBody>
                        <a:bodyPr/>
                        <a:lstStyle/>
                        <a:p>
                          <a:pPr marL="0" marR="0" algn="ctr">
                            <a:lnSpc>
                              <a:spcPct val="107000"/>
                            </a:lnSpc>
                            <a:spcBef>
                              <a:spcPts val="0"/>
                            </a:spcBef>
                            <a:spcAft>
                              <a:spcPts val="0"/>
                            </a:spcAft>
                          </a:pPr>
                          <a:r>
                            <a:rPr lang="en-US" sz="2200" dirty="0">
                              <a:effectLst/>
                              <a:latin typeface="+mn-lt"/>
                              <a:ea typeface="Calibri" panose="020F0502020204030204" pitchFamily="34" charset="0"/>
                              <a:cs typeface="Times New Roman" panose="02020603050405020304" pitchFamily="18" charset="0"/>
                            </a:rPr>
                            <a:t>0.67</a:t>
                          </a: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3"/>
                      </a:ext>
                    </a:extLst>
                  </a:tr>
                </a:tbl>
              </a:graphicData>
            </a:graphic>
          </p:graphicFrame>
        </mc:Fallback>
      </mc:AlternateContent>
      <p:sp>
        <p:nvSpPr>
          <p:cNvPr id="2" name="Slide Number Placeholder 1"/>
          <p:cNvSpPr>
            <a:spLocks noGrp="1"/>
          </p:cNvSpPr>
          <p:nvPr>
            <p:ph type="sldNum" sz="quarter" idx="12"/>
          </p:nvPr>
        </p:nvSpPr>
        <p:spPr/>
        <p:txBody>
          <a:bodyPr/>
          <a:lstStyle/>
          <a:p>
            <a:fld id="{949EBC64-41CB-41B8-B6DF-9B1367312BD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Practical Advice</a:t>
            </a:r>
            <a:endParaRPr lang="en-US" dirty="0"/>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The </a:t>
            </a:r>
            <a:r>
              <a:rPr lang="en-US" sz="2400" u="sng" dirty="0">
                <a:solidFill>
                  <a:srgbClr val="000000"/>
                </a:solidFill>
                <a:cs typeface="Arial" panose="020B0604020202020204" pitchFamily="34" charset="0"/>
              </a:rPr>
              <a:t>target population</a:t>
            </a:r>
            <a:r>
              <a:rPr lang="en-US" sz="2400" dirty="0">
                <a:solidFill>
                  <a:srgbClr val="000000"/>
                </a:solidFill>
                <a:cs typeface="Arial" panose="020B0604020202020204" pitchFamily="34" charset="0"/>
              </a:rPr>
              <a:t> is the population we want to make inferences about.</a:t>
            </a:r>
          </a:p>
          <a:p>
            <a:pPr marL="342900" lvl="0" indent="-342900"/>
            <a:r>
              <a:rPr lang="en-US" sz="2400" dirty="0">
                <a:solidFill>
                  <a:srgbClr val="000000"/>
                </a:solidFill>
                <a:cs typeface="Arial" panose="020B0604020202020204" pitchFamily="34" charset="0"/>
              </a:rPr>
              <a:t>The </a:t>
            </a:r>
            <a:r>
              <a:rPr lang="en-US" sz="2400" u="sng" dirty="0">
                <a:solidFill>
                  <a:srgbClr val="000000"/>
                </a:solidFill>
                <a:cs typeface="Arial" panose="020B0604020202020204" pitchFamily="34" charset="0"/>
              </a:rPr>
              <a:t>sampled population</a:t>
            </a:r>
            <a:r>
              <a:rPr lang="en-US" sz="2400" dirty="0">
                <a:solidFill>
                  <a:srgbClr val="000000"/>
                </a:solidFill>
                <a:cs typeface="Arial" panose="020B0604020202020204" pitchFamily="34" charset="0"/>
              </a:rPr>
              <a:t> is the population from which the sample is actually taken.</a:t>
            </a:r>
          </a:p>
          <a:p>
            <a:pPr marL="342900" lvl="0" indent="-342900"/>
            <a:r>
              <a:rPr lang="en-US" sz="2400" dirty="0">
                <a:solidFill>
                  <a:srgbClr val="000000"/>
                </a:solidFill>
                <a:cs typeface="Arial" panose="020B0604020202020204" pitchFamily="34" charset="0"/>
              </a:rPr>
              <a:t>Whenever a sample is used to make inferences about a population, we should make sure that the targeted population and the sampled population are in close agreement.</a:t>
            </a:r>
          </a:p>
        </p:txBody>
      </p:sp>
      <p:sp>
        <p:nvSpPr>
          <p:cNvPr id="2" name="Slide Number Placeholder 1"/>
          <p:cNvSpPr>
            <a:spLocks noGrp="1"/>
          </p:cNvSpPr>
          <p:nvPr>
            <p:ph type="sldNum" sz="quarter" idx="12"/>
          </p:nvPr>
        </p:nvSpPr>
        <p:spPr/>
        <p:txBody>
          <a:bodyPr/>
          <a:lstStyle/>
          <a:p>
            <a:fld id="{949EBC64-41CB-41B8-B6DF-9B1367312BD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(1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half" idx="1"/>
          </p:nvPr>
        </p:nvSpPr>
        <p:spPr/>
        <p:txBody>
          <a:bodyPr>
            <a:noAutofit/>
          </a:bodyPr>
          <a:lstStyle/>
          <a:p>
            <a:pPr marL="0" indent="0">
              <a:buNone/>
            </a:pPr>
            <a:r>
              <a:rPr lang="en-US" dirty="0"/>
              <a:t>Process of Statistical Inference</a:t>
            </a:r>
          </a:p>
        </p:txBody>
      </p:sp>
      <p:pic>
        <p:nvPicPr>
          <p:cNvPr id="8" name="Content Placeholder 7" descr="A flow cycle with 4 steps. The process begins with population mean, mu, is determined, then a simple random sample of n elements is selected from the population. The next step in the process is: the sample data provides a value for the sample mean x overbar, and then flows to the fourth step: value of x overbar is used to make inferences about the value of mu. The last step has an arrow pointing back to the first step in the process.">
            <a:extLst>
              <a:ext uri="{FF2B5EF4-FFF2-40B4-BE49-F238E27FC236}">
                <a16:creationId xmlns:a16="http://schemas.microsoft.com/office/drawing/2014/main" id="{8E5DC4E3-8567-4B39-B402-16A899025D02}"/>
              </a:ext>
            </a:extLst>
          </p:cNvPr>
          <p:cNvPicPr>
            <a:picLocks noGrp="1" noChangeAspect="1"/>
          </p:cNvPicPr>
          <p:nvPr>
            <p:ph sz="half" idx="2"/>
          </p:nvPr>
        </p:nvPicPr>
        <p:blipFill>
          <a:blip r:embed="rId3"/>
          <a:stretch>
            <a:fillRect/>
          </a:stretch>
        </p:blipFill>
        <p:spPr>
          <a:xfrm>
            <a:off x="1327292" y="2122847"/>
            <a:ext cx="9507254" cy="3743275"/>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16</a:t>
            </a:fld>
            <a:endParaRPr lang="en-US"/>
          </a:p>
        </p:txBody>
      </p:sp>
    </p:spTree>
    <p:extLst>
      <p:ext uri="{BB962C8B-B14F-4D97-AF65-F5344CB8AC3E}">
        <p14:creationId xmlns:p14="http://schemas.microsoft.com/office/powerpoint/2010/main" val="1688752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(2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ontent Placeholder 1"/>
              <p:cNvSpPr>
                <a:spLocks noGrp="1"/>
              </p:cNvSpPr>
              <p:nvPr>
                <p:ph sz="half" idx="1"/>
              </p:nvPr>
            </p:nvSpPr>
            <p:spPr/>
            <p:txBody>
              <a:bodyPr>
                <a:noAutofit/>
              </a:bodyPr>
              <a:lstStyle/>
              <a:p>
                <a:pPr>
                  <a:lnSpc>
                    <a:spcPct val="100000"/>
                  </a:lnSpc>
                  <a:spcAft>
                    <a:spcPts val="1200"/>
                  </a:spcAft>
                </a:pPr>
                <a:r>
                  <a:rPr lang="en-US" sz="2400" dirty="0">
                    <a:solidFill>
                      <a:srgbClr val="000000"/>
                    </a:solidFill>
                    <a:cs typeface="Arial" panose="020B0604020202020204" pitchFamily="34" charset="0"/>
                  </a:rPr>
                  <a:t>The </a:t>
                </a:r>
                <a:r>
                  <a:rPr lang="en-US" sz="2400" u="sng" dirty="0">
                    <a:solidFill>
                      <a:srgbClr val="000000"/>
                    </a:solidFill>
                    <a:cs typeface="Arial" panose="020B0604020202020204" pitchFamily="34" charset="0"/>
                  </a:rPr>
                  <a:t>sampling distribution of </a:t>
                </a:r>
                <a14:m>
                  <m:oMath xmlns:m="http://schemas.openxmlformats.org/officeDocument/2006/math">
                    <m:acc>
                      <m:accPr>
                        <m:chr m:val="̅"/>
                        <m:ctrlPr>
                          <a:rPr lang="en-US" sz="2400" i="1" u="sng">
                            <a:solidFill>
                              <a:srgbClr val="000000"/>
                            </a:solidFill>
                            <a:latin typeface="Cambria Math" panose="02040503050406030204" pitchFamily="18" charset="0"/>
                          </a:rPr>
                        </m:ctrlPr>
                      </m:accPr>
                      <m:e>
                        <m:r>
                          <a:rPr lang="en-US" sz="2400" i="1" u="sng">
                            <a:solidFill>
                              <a:srgbClr val="000000"/>
                            </a:solidFill>
                            <a:latin typeface="Cambria Math"/>
                          </a:rPr>
                          <m:t>𝑥</m:t>
                        </m:r>
                      </m:e>
                    </m:acc>
                  </m:oMath>
                </a14:m>
                <a:r>
                  <a:rPr lang="en-US" sz="2400" dirty="0">
                    <a:solidFill>
                      <a:srgbClr val="000000"/>
                    </a:solidFill>
                    <a:cs typeface="Arial" panose="020B0604020202020204" pitchFamily="34" charset="0"/>
                  </a:rPr>
                  <a:t> is the probability distribution of all possible values of the sample mean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a:t>
                </a:r>
              </a:p>
              <a:p>
                <a:pPr>
                  <a:lnSpc>
                    <a:spcPct val="100000"/>
                  </a:lnSpc>
                  <a:spcAft>
                    <a:spcPts val="1200"/>
                  </a:spcAft>
                </a:pPr>
                <a:r>
                  <a:rPr lang="en-US" sz="2400" dirty="0">
                    <a:solidFill>
                      <a:srgbClr val="000000"/>
                    </a:solidFill>
                    <a:cs typeface="Arial" panose="020B0604020202020204" pitchFamily="34" charset="0"/>
                  </a:rPr>
                  <a:t>Expected Value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is </a:t>
                </a:r>
              </a:p>
            </p:txBody>
          </p:sp>
        </mc:Choice>
        <mc:Fallback xmlns="">
          <p:sp>
            <p:nvSpPr>
              <p:cNvPr id="2" name="Content Placeholder 1"/>
              <p:cNvSpPr>
                <a:spLocks noGrp="1" noRot="1" noChangeAspect="1" noMove="1" noResize="1" noEditPoints="1" noAdjustHandles="1" noChangeArrowheads="1" noChangeShapeType="1" noTextEdit="1"/>
              </p:cNvSpPr>
              <p:nvPr>
                <p:ph sz="half" idx="1"/>
              </p:nvPr>
            </p:nvSpPr>
            <p:spPr>
              <a:blipFill>
                <a:blip r:embed="rId3"/>
                <a:stretch>
                  <a:fillRect l="-755" t="-3704" r="-523" b="-22222"/>
                </a:stretch>
              </a:blipFill>
            </p:spPr>
            <p:txBody>
              <a:bodyPr/>
              <a:lstStyle/>
              <a:p>
                <a:r>
                  <a:rPr lang="en-US">
                    <a:noFill/>
                  </a:rPr>
                  <a:t> </a:t>
                </a:r>
              </a:p>
            </p:txBody>
          </p:sp>
        </mc:Fallback>
      </mc:AlternateContent>
      <p:pic>
        <p:nvPicPr>
          <p:cNvPr id="8" name="Content Placeholder 7" descr="An equation. Begin equation. E left paren x overbar right paren equals mu. End equation. Where: mu equals the population mean.">
            <a:extLst>
              <a:ext uri="{FF2B5EF4-FFF2-40B4-BE49-F238E27FC236}">
                <a16:creationId xmlns:a16="http://schemas.microsoft.com/office/drawing/2014/main" id="{6211FD3F-D78B-43BC-A655-72B9EC4F1A08}"/>
              </a:ext>
            </a:extLst>
          </p:cNvPr>
          <p:cNvPicPr>
            <a:picLocks noGrp="1" noChangeAspect="1"/>
          </p:cNvPicPr>
          <p:nvPr>
            <p:ph sz="half" idx="2"/>
          </p:nvPr>
        </p:nvPicPr>
        <p:blipFill>
          <a:blip r:embed="rId4"/>
          <a:stretch>
            <a:fillRect/>
          </a:stretch>
        </p:blipFill>
        <p:spPr>
          <a:xfrm>
            <a:off x="3943438" y="2573871"/>
            <a:ext cx="5525028" cy="484098"/>
          </a:xfrm>
          <a:prstGeom prst="rect">
            <a:avLst/>
          </a:prstGeom>
        </p:spPr>
      </p:pic>
      <p:sp>
        <p:nvSpPr>
          <p:cNvPr id="7" name="Content Placeholder 6">
            <a:extLst>
              <a:ext uri="{FF2B5EF4-FFF2-40B4-BE49-F238E27FC236}">
                <a16:creationId xmlns:a16="http://schemas.microsoft.com/office/drawing/2014/main" id="{E71B387B-592B-41E0-ADD2-151CDEE0A49F}"/>
              </a:ext>
            </a:extLst>
          </p:cNvPr>
          <p:cNvSpPr>
            <a:spLocks noGrp="1"/>
          </p:cNvSpPr>
          <p:nvPr>
            <p:ph sz="quarter" idx="13"/>
          </p:nvPr>
        </p:nvSpPr>
        <p:spPr>
          <a:xfrm>
            <a:off x="836127" y="3429000"/>
            <a:ext cx="10489585" cy="2543092"/>
          </a:xfrm>
        </p:spPr>
        <p:txBody>
          <a:bodyPr>
            <a:noAutofit/>
          </a:bodyPr>
          <a:lstStyle/>
          <a:p>
            <a:r>
              <a:rPr lang="en-US" sz="2400" dirty="0">
                <a:solidFill>
                  <a:srgbClr val="000000"/>
                </a:solidFill>
                <a:cs typeface="Arial" panose="020B0604020202020204" pitchFamily="34" charset="0"/>
              </a:rPr>
              <a:t>When the expected value of the point estimator equals the population parameter, we say the point estimator is </a:t>
            </a:r>
            <a:r>
              <a:rPr lang="en-US" sz="2400" u="sng" dirty="0">
                <a:solidFill>
                  <a:srgbClr val="000000"/>
                </a:solidFill>
                <a:cs typeface="Arial" panose="020B0604020202020204" pitchFamily="34" charset="0"/>
              </a:rPr>
              <a:t>unbiased</a:t>
            </a:r>
            <a:r>
              <a:rPr lang="en-US" sz="2400" dirty="0">
                <a:solidFill>
                  <a:srgbClr val="000000"/>
                </a:solidFill>
                <a:cs typeface="Arial" panose="020B0604020202020204" pitchFamily="34" charset="0"/>
              </a:rPr>
              <a:t>.</a:t>
            </a:r>
          </a:p>
        </p:txBody>
      </p:sp>
      <p:sp>
        <p:nvSpPr>
          <p:cNvPr id="5" name="Slide Number Placeholder 4"/>
          <p:cNvSpPr>
            <a:spLocks noGrp="1"/>
          </p:cNvSpPr>
          <p:nvPr>
            <p:ph type="sldNum" sz="quarter" idx="12"/>
          </p:nvPr>
        </p:nvSpPr>
        <p:spPr/>
        <p:txBody>
          <a:bodyPr/>
          <a:lstStyle/>
          <a:p>
            <a:fld id="{949EBC64-41CB-41B8-B6DF-9B1367312BD4}" type="slidenum">
              <a:rPr lang="en-US" smtClean="0"/>
              <a:pPr/>
              <a:t>17</a:t>
            </a:fld>
            <a:endParaRPr lang="en-US"/>
          </a:p>
        </p:txBody>
      </p:sp>
    </p:spTree>
    <p:extLst>
      <p:ext uri="{BB962C8B-B14F-4D97-AF65-F5344CB8AC3E}">
        <p14:creationId xmlns:p14="http://schemas.microsoft.com/office/powerpoint/2010/main" val="181768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(3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lstStyle/>
              <a:p>
                <a:pPr marL="0" indent="0">
                  <a:buNone/>
                </a:pPr>
                <a:r>
                  <a:rPr lang="en-US" dirty="0">
                    <a:solidFill>
                      <a:srgbClr val="000000"/>
                    </a:solidFill>
                    <a:cs typeface="Arial" panose="020B0604020202020204" pitchFamily="34" charset="0"/>
                  </a:rPr>
                  <a:t>We will use the following notation to define the standard deviation of the sampling distribution of </a:t>
                </a: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a:rPr>
                          <m:t>𝑥</m:t>
                        </m:r>
                      </m:e>
                    </m:acc>
                    <m:r>
                      <a:rPr lang="en-US" b="0" i="0" smtClean="0">
                        <a:solidFill>
                          <a:srgbClr val="000000"/>
                        </a:solidFill>
                        <a:latin typeface="Cambria Math" panose="02040503050406030204" pitchFamily="18" charset="0"/>
                      </a:rPr>
                      <m:t>:</m:t>
                    </m:r>
                  </m:oMath>
                </a14:m>
                <a:endParaRPr lang="en-US" dirty="0">
                  <a:solidFill>
                    <a:srgbClr val="000000"/>
                  </a:solidFill>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xfrm>
                <a:off x="211162" y="1367156"/>
                <a:ext cx="11264056" cy="3013925"/>
              </a:xfrm>
              <a:blipFill>
                <a:blip r:embed="rId3"/>
                <a:stretch>
                  <a:fillRect l="-1137" t="-3232"/>
                </a:stretch>
              </a:blipFill>
            </p:spPr>
            <p:txBody>
              <a:bodyPr/>
              <a:lstStyle/>
              <a:p>
                <a:r>
                  <a:rPr lang="en-US">
                    <a:noFill/>
                  </a:rPr>
                  <a:t> </a:t>
                </a:r>
              </a:p>
            </p:txBody>
          </p:sp>
        </mc:Fallback>
      </mc:AlternateContent>
      <p:pic>
        <p:nvPicPr>
          <p:cNvPr id="8" name="Content Placeholder 7" descr="A list of variables defined. Sigma subscript x overbar baseline equals the standard deviation of x overbar. Sigma equals the standard deviation of the population. N equals the sample size. Upper N equals the population size.">
            <a:extLst>
              <a:ext uri="{FF2B5EF4-FFF2-40B4-BE49-F238E27FC236}">
                <a16:creationId xmlns:a16="http://schemas.microsoft.com/office/drawing/2014/main" id="{CD026F63-0565-4A26-880F-DAA75ADA78F9}"/>
              </a:ext>
            </a:extLst>
          </p:cNvPr>
          <p:cNvPicPr>
            <a:picLocks noGrp="1" noChangeAspect="1"/>
          </p:cNvPicPr>
          <p:nvPr>
            <p:ph sz="half" idx="2"/>
          </p:nvPr>
        </p:nvPicPr>
        <p:blipFill>
          <a:blip r:embed="rId4"/>
          <a:stretch>
            <a:fillRect/>
          </a:stretch>
        </p:blipFill>
        <p:spPr>
          <a:xfrm>
            <a:off x="2649303" y="2563431"/>
            <a:ext cx="6863231" cy="2092581"/>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18</a:t>
            </a:fld>
            <a:endParaRPr lang="en-US"/>
          </a:p>
        </p:txBody>
      </p:sp>
    </p:spTree>
    <p:extLst>
      <p:ext uri="{BB962C8B-B14F-4D97-AF65-F5344CB8AC3E}">
        <p14:creationId xmlns:p14="http://schemas.microsoft.com/office/powerpoint/2010/main" val="1289209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(4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ontent Placeholder 1"/>
              <p:cNvSpPr>
                <a:spLocks noGrp="1"/>
              </p:cNvSpPr>
              <p:nvPr>
                <p:ph sz="half" idx="1"/>
              </p:nvPr>
            </p:nvSpPr>
            <p:spPr>
              <a:xfrm>
                <a:off x="836126" y="1547264"/>
                <a:ext cx="7717939" cy="572913"/>
              </a:xfrm>
            </p:spPr>
            <p:txBody>
              <a:bodyPr>
                <a:noAutofit/>
              </a:bodyPr>
              <a:lstStyle/>
              <a:p>
                <a:pPr>
                  <a:lnSpc>
                    <a:spcPct val="100000"/>
                  </a:lnSpc>
                  <a:spcAft>
                    <a:spcPts val="2400"/>
                  </a:spcAft>
                </a:pPr>
                <a:r>
                  <a:rPr lang="en-US" sz="2400" dirty="0">
                    <a:solidFill>
                      <a:srgbClr val="000000"/>
                    </a:solidFill>
                    <a:cs typeface="Arial" panose="020B0604020202020204" pitchFamily="34" charset="0"/>
                  </a:rPr>
                  <a:t>The standard deviation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r>
                      <a:rPr lang="en-US" sz="2400" b="0" i="1" smtClean="0">
                        <a:solidFill>
                          <a:srgbClr val="000000"/>
                        </a:solidFill>
                        <a:latin typeface="Cambria Math" panose="02040503050406030204" pitchFamily="18" charset="0"/>
                      </a:rPr>
                      <m:t>,</m:t>
                    </m:r>
                  </m:oMath>
                </a14:m>
                <a:r>
                  <a:rPr lang="en-US" sz="2400" dirty="0">
                    <a:solidFill>
                      <a:srgbClr val="000000"/>
                    </a:solidFill>
                    <a:cs typeface="Arial" panose="020B0604020202020204" pitchFamily="34" charset="0"/>
                  </a:rPr>
                  <a:t> for a finite population is </a:t>
                </a:r>
              </a:p>
            </p:txBody>
          </p:sp>
        </mc:Choice>
        <mc:Fallback xmlns="">
          <p:sp>
            <p:nvSpPr>
              <p:cNvPr id="2" name="Content Placeholder 1"/>
              <p:cNvSpPr>
                <a:spLocks noGrp="1" noRot="1" noChangeAspect="1" noMove="1" noResize="1" noEditPoints="1" noAdjustHandles="1" noChangeArrowheads="1" noChangeShapeType="1" noTextEdit="1"/>
              </p:cNvSpPr>
              <p:nvPr>
                <p:ph sz="half" idx="1"/>
              </p:nvPr>
            </p:nvSpPr>
            <p:spPr>
              <a:xfrm>
                <a:off x="836126" y="1547264"/>
                <a:ext cx="7717939" cy="572913"/>
              </a:xfrm>
              <a:blipFill>
                <a:blip r:embed="rId3"/>
                <a:stretch>
                  <a:fillRect l="-1027" t="-8511" b="-4255"/>
                </a:stretch>
              </a:blipFill>
            </p:spPr>
            <p:txBody>
              <a:bodyPr/>
              <a:lstStyle/>
              <a:p>
                <a:r>
                  <a:rPr lang="en-US">
                    <a:noFill/>
                  </a:rPr>
                  <a:t> </a:t>
                </a:r>
              </a:p>
            </p:txBody>
          </p:sp>
        </mc:Fallback>
      </mc:AlternateContent>
      <p:pic>
        <p:nvPicPr>
          <p:cNvPr id="18" name="Content Placeholder 17" descr="An equation. Begin equation. Sigma subscript x overbar baseline equals start fraction sigma over start root n end root end fraction. End equation.">
            <a:extLst>
              <a:ext uri="{FF2B5EF4-FFF2-40B4-BE49-F238E27FC236}">
                <a16:creationId xmlns:a16="http://schemas.microsoft.com/office/drawing/2014/main" id="{F1E6E916-F880-41A8-9203-DC79AA802E24}"/>
              </a:ext>
            </a:extLst>
          </p:cNvPr>
          <p:cNvPicPr>
            <a:picLocks noGrp="1" noChangeAspect="1"/>
          </p:cNvPicPr>
          <p:nvPr>
            <p:ph sz="half" idx="14"/>
          </p:nvPr>
        </p:nvPicPr>
        <p:blipFill>
          <a:blip r:embed="rId4"/>
          <a:stretch>
            <a:fillRect/>
          </a:stretch>
        </p:blipFill>
        <p:spPr>
          <a:xfrm>
            <a:off x="7802870" y="1375703"/>
            <a:ext cx="2181225" cy="866775"/>
          </a:xfrm>
          <a:prstGeom prst="rect">
            <a:avLst/>
          </a:prstGeom>
        </p:spPr>
      </p:pic>
      <p:pic>
        <p:nvPicPr>
          <p:cNvPr id="19" name="Content Placeholder 18" descr="An equation. Begin equation. Sigma subscript x overbar baseline equals start fraction sigma over start root n end root end fraction. End equation.">
            <a:extLst>
              <a:ext uri="{FF2B5EF4-FFF2-40B4-BE49-F238E27FC236}">
                <a16:creationId xmlns:a16="http://schemas.microsoft.com/office/drawing/2014/main" id="{93C67D42-8016-4C48-A751-6F75D45B98F7}"/>
              </a:ext>
            </a:extLst>
          </p:cNvPr>
          <p:cNvPicPr>
            <a:picLocks noGrp="1" noChangeAspect="1"/>
          </p:cNvPicPr>
          <p:nvPr>
            <p:ph sz="half" idx="15"/>
          </p:nvPr>
        </p:nvPicPr>
        <p:blipFill>
          <a:blip r:embed="rId5"/>
          <a:stretch>
            <a:fillRect/>
          </a:stretch>
        </p:blipFill>
        <p:spPr>
          <a:xfrm>
            <a:off x="7773806" y="2319874"/>
            <a:ext cx="1095375" cy="628650"/>
          </a:xfrm>
          <a:prstGeom prst="rect">
            <a:avLst/>
          </a:prstGeom>
        </p:spPr>
      </p:pic>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5A0E05EF-A098-4454-AFDC-CABFB281E022}"/>
                  </a:ext>
                </a:extLst>
              </p:cNvPr>
              <p:cNvSpPr>
                <a:spLocks noGrp="1"/>
              </p:cNvSpPr>
              <p:nvPr>
                <p:ph sz="half" idx="2"/>
              </p:nvPr>
            </p:nvSpPr>
            <p:spPr>
              <a:xfrm>
                <a:off x="836126" y="2336647"/>
                <a:ext cx="8293126" cy="628650"/>
              </a:xfrm>
            </p:spPr>
            <p:txBody>
              <a:bodyPr>
                <a:noAutofit/>
              </a:bodyPr>
              <a:lstStyle/>
              <a:p>
                <a:pPr>
                  <a:lnSpc>
                    <a:spcPct val="100000"/>
                  </a:lnSpc>
                  <a:spcAft>
                    <a:spcPts val="1200"/>
                  </a:spcAft>
                </a:pPr>
                <a:r>
                  <a:rPr lang="en-US" sz="2400" dirty="0">
                    <a:solidFill>
                      <a:srgbClr val="000000"/>
                    </a:solidFill>
                    <a:cs typeface="Arial" panose="020B0604020202020204" pitchFamily="34" charset="0"/>
                  </a:rPr>
                  <a:t>The standard deviation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r>
                      <a:rPr lang="en-US" sz="2400" i="1">
                        <a:solidFill>
                          <a:srgbClr val="000000"/>
                        </a:solidFill>
                        <a:latin typeface="Cambria Math" panose="02040503050406030204" pitchFamily="18" charset="0"/>
                      </a:rPr>
                      <m:t>,</m:t>
                    </m:r>
                  </m:oMath>
                </a14:m>
                <a:r>
                  <a:rPr lang="en-US" sz="2400" dirty="0">
                    <a:solidFill>
                      <a:srgbClr val="000000"/>
                    </a:solidFill>
                    <a:cs typeface="Arial" panose="020B0604020202020204" pitchFamily="34" charset="0"/>
                  </a:rPr>
                  <a:t> for a finite population is</a:t>
                </a:r>
              </a:p>
              <a:p>
                <a:endParaRPr lang="en-US" sz="2400" dirty="0"/>
              </a:p>
            </p:txBody>
          </p:sp>
        </mc:Choice>
        <mc:Fallback xmlns="">
          <p:sp>
            <p:nvSpPr>
              <p:cNvPr id="10" name="Content Placeholder 9">
                <a:extLst>
                  <a:ext uri="{FF2B5EF4-FFF2-40B4-BE49-F238E27FC236}">
                    <a16:creationId xmlns:a16="http://schemas.microsoft.com/office/drawing/2014/main" id="{5A0E05EF-A098-4454-AFDC-CABFB281E022}"/>
                  </a:ext>
                </a:extLst>
              </p:cNvPr>
              <p:cNvSpPr>
                <a:spLocks noGrp="1" noRot="1" noChangeAspect="1" noMove="1" noResize="1" noEditPoints="1" noAdjustHandles="1" noChangeArrowheads="1" noChangeShapeType="1" noTextEdit="1"/>
              </p:cNvSpPr>
              <p:nvPr>
                <p:ph sz="half" idx="2"/>
              </p:nvPr>
            </p:nvSpPr>
            <p:spPr>
              <a:xfrm>
                <a:off x="836126" y="2336647"/>
                <a:ext cx="8293126" cy="628650"/>
              </a:xfrm>
              <a:blipFill>
                <a:blip r:embed="rId6"/>
                <a:stretch>
                  <a:fillRect l="-955" t="-7767"/>
                </a:stretch>
              </a:blipFill>
            </p:spPr>
            <p:txBody>
              <a:bodyPr/>
              <a:lstStyle/>
              <a:p>
                <a:r>
                  <a:rPr lang="en-US">
                    <a:noFill/>
                  </a:rPr>
                  <a:t> </a:t>
                </a:r>
              </a:p>
            </p:txBody>
          </p:sp>
        </mc:Fallback>
      </mc:AlternateContent>
      <p:sp>
        <p:nvSpPr>
          <p:cNvPr id="11" name="Content Placeholder 10">
            <a:extLst>
              <a:ext uri="{FF2B5EF4-FFF2-40B4-BE49-F238E27FC236}">
                <a16:creationId xmlns:a16="http://schemas.microsoft.com/office/drawing/2014/main" id="{F030A16B-13DC-4C3F-89EE-3A77E873B0CD}"/>
              </a:ext>
            </a:extLst>
          </p:cNvPr>
          <p:cNvSpPr>
            <a:spLocks noGrp="1"/>
          </p:cNvSpPr>
          <p:nvPr>
            <p:ph sz="quarter" idx="13"/>
          </p:nvPr>
        </p:nvSpPr>
        <p:spPr>
          <a:xfrm>
            <a:off x="807062" y="3025920"/>
            <a:ext cx="6966744" cy="628650"/>
          </a:xfrm>
        </p:spPr>
        <p:txBody>
          <a:bodyPr>
            <a:noAutofit/>
          </a:bodyPr>
          <a:lstStyle/>
          <a:p>
            <a:pPr>
              <a:lnSpc>
                <a:spcPct val="100000"/>
              </a:lnSpc>
              <a:spcAft>
                <a:spcPts val="1200"/>
              </a:spcAft>
            </a:pPr>
            <a:r>
              <a:rPr lang="en-US" sz="2400" dirty="0">
                <a:solidFill>
                  <a:srgbClr val="000000"/>
                </a:solidFill>
                <a:cs typeface="Arial" panose="020B0604020202020204" pitchFamily="34" charset="0"/>
              </a:rPr>
              <a:t>A finite population is treated as being infinite if </a:t>
            </a:r>
          </a:p>
          <a:p>
            <a:endParaRPr lang="en-US" sz="2400" dirty="0"/>
          </a:p>
        </p:txBody>
      </p:sp>
      <p:pic>
        <p:nvPicPr>
          <p:cNvPr id="20" name="Content Placeholder 19" descr="An equation. Begin equation. n divided by upper N is less than or equal to 0.05.">
            <a:extLst>
              <a:ext uri="{FF2B5EF4-FFF2-40B4-BE49-F238E27FC236}">
                <a16:creationId xmlns:a16="http://schemas.microsoft.com/office/drawing/2014/main" id="{B4E4B591-E263-4EAB-A173-DE4C54036EF3}"/>
              </a:ext>
            </a:extLst>
          </p:cNvPr>
          <p:cNvPicPr>
            <a:picLocks noGrp="1" noChangeAspect="1"/>
          </p:cNvPicPr>
          <p:nvPr>
            <p:ph sz="quarter" idx="16"/>
          </p:nvPr>
        </p:nvPicPr>
        <p:blipFill>
          <a:blip r:embed="rId7"/>
          <a:stretch>
            <a:fillRect/>
          </a:stretch>
        </p:blipFill>
        <p:spPr>
          <a:xfrm>
            <a:off x="7029474" y="3079956"/>
            <a:ext cx="1400175" cy="304800"/>
          </a:xfrm>
          <a:prstGeom prst="rect">
            <a:avLst/>
          </a:prstGeom>
        </p:spPr>
      </p:pic>
      <p:pic>
        <p:nvPicPr>
          <p:cNvPr id="21" name="Content Placeholder 20" descr="An equation. Begin equation. Start root. Begin fraction upper N minus n over upper N minus 1. End fraction. End root. End equation. ">
            <a:extLst>
              <a:ext uri="{FF2B5EF4-FFF2-40B4-BE49-F238E27FC236}">
                <a16:creationId xmlns:a16="http://schemas.microsoft.com/office/drawing/2014/main" id="{9F336133-FCAE-4B5B-86B2-E60BDD008CA8}"/>
              </a:ext>
            </a:extLst>
          </p:cNvPr>
          <p:cNvPicPr>
            <a:picLocks noGrp="1" noChangeAspect="1"/>
          </p:cNvPicPr>
          <p:nvPr>
            <p:ph sz="half" idx="17"/>
          </p:nvPr>
        </p:nvPicPr>
        <p:blipFill>
          <a:blip r:embed="rId8"/>
          <a:stretch>
            <a:fillRect/>
          </a:stretch>
        </p:blipFill>
        <p:spPr>
          <a:xfrm>
            <a:off x="1010387" y="3705201"/>
            <a:ext cx="742950" cy="742950"/>
          </a:xfrm>
          <a:prstGeom prst="rect">
            <a:avLst/>
          </a:prstGeom>
        </p:spPr>
      </p:pic>
      <p:sp>
        <p:nvSpPr>
          <p:cNvPr id="17" name="Content Placeholder 16">
            <a:extLst>
              <a:ext uri="{FF2B5EF4-FFF2-40B4-BE49-F238E27FC236}">
                <a16:creationId xmlns:a16="http://schemas.microsoft.com/office/drawing/2014/main" id="{91188E64-C3E5-47C7-B827-FE2641A2FD19}"/>
              </a:ext>
            </a:extLst>
          </p:cNvPr>
          <p:cNvSpPr>
            <a:spLocks noGrp="1"/>
          </p:cNvSpPr>
          <p:nvPr>
            <p:ph sz="quarter" idx="19"/>
          </p:nvPr>
        </p:nvSpPr>
        <p:spPr>
          <a:xfrm>
            <a:off x="807062" y="3845677"/>
            <a:ext cx="7622587" cy="813599"/>
          </a:xfrm>
        </p:spPr>
        <p:txBody>
          <a:bodyPr>
            <a:noAutofit/>
          </a:bodyPr>
          <a:lstStyle/>
          <a:p>
            <a:pPr marL="914400" indent="-914400">
              <a:lnSpc>
                <a:spcPct val="100000"/>
              </a:lnSpc>
              <a:spcAft>
                <a:spcPts val="1200"/>
              </a:spcAft>
            </a:pPr>
            <a:r>
              <a:rPr lang="en-US" sz="2400" dirty="0">
                <a:solidFill>
                  <a:srgbClr val="000000"/>
                </a:solidFill>
                <a:cs typeface="Arial" panose="020B0604020202020204" pitchFamily="34" charset="0"/>
              </a:rPr>
              <a:t> is the </a:t>
            </a:r>
            <a:r>
              <a:rPr lang="en-US" sz="2400" u="sng" dirty="0">
                <a:solidFill>
                  <a:srgbClr val="000000"/>
                </a:solidFill>
                <a:cs typeface="Arial" panose="020B0604020202020204" pitchFamily="34" charset="0"/>
              </a:rPr>
              <a:t>finite population correction factor.</a:t>
            </a:r>
            <a:endParaRPr lang="en-US" sz="2400" dirty="0"/>
          </a:p>
        </p:txBody>
      </p:sp>
      <p:pic>
        <p:nvPicPr>
          <p:cNvPr id="22" name="Content Placeholder 21" descr="Sigma subscript x overbar">
            <a:extLst>
              <a:ext uri="{FF2B5EF4-FFF2-40B4-BE49-F238E27FC236}">
                <a16:creationId xmlns:a16="http://schemas.microsoft.com/office/drawing/2014/main" id="{ED38F65B-CE35-4603-B764-24C39B121AF6}"/>
              </a:ext>
            </a:extLst>
          </p:cNvPr>
          <p:cNvPicPr>
            <a:picLocks noGrp="1" noChangeAspect="1"/>
          </p:cNvPicPr>
          <p:nvPr>
            <p:ph sz="half" idx="18"/>
          </p:nvPr>
        </p:nvPicPr>
        <p:blipFill>
          <a:blip r:embed="rId9"/>
          <a:stretch>
            <a:fillRect/>
          </a:stretch>
        </p:blipFill>
        <p:spPr>
          <a:xfrm>
            <a:off x="1038963" y="4747147"/>
            <a:ext cx="352425" cy="323850"/>
          </a:xfrm>
          <a:prstGeom prst="rect">
            <a:avLst/>
          </a:prstGeom>
        </p:spPr>
      </p:pic>
      <p:sp>
        <p:nvSpPr>
          <p:cNvPr id="23" name="Content Placeholder 22">
            <a:extLst>
              <a:ext uri="{FF2B5EF4-FFF2-40B4-BE49-F238E27FC236}">
                <a16:creationId xmlns:a16="http://schemas.microsoft.com/office/drawing/2014/main" id="{C6D51DC1-E1F7-4932-BCFC-DBDDA354B9B4}"/>
              </a:ext>
            </a:extLst>
          </p:cNvPr>
          <p:cNvSpPr>
            <a:spLocks noGrp="1"/>
          </p:cNvSpPr>
          <p:nvPr>
            <p:ph sz="quarter" idx="20"/>
          </p:nvPr>
        </p:nvSpPr>
        <p:spPr>
          <a:xfrm>
            <a:off x="807062" y="4659276"/>
            <a:ext cx="7437286" cy="1179513"/>
          </a:xfrm>
        </p:spPr>
        <p:txBody>
          <a:bodyPr>
            <a:noAutofit/>
          </a:bodyPr>
          <a:lstStyle/>
          <a:p>
            <a:pPr>
              <a:lnSpc>
                <a:spcPct val="100000"/>
              </a:lnSpc>
              <a:spcAft>
                <a:spcPts val="1200"/>
              </a:spcAft>
            </a:pPr>
            <a:r>
              <a:rPr lang="en-US" sz="2400" dirty="0">
                <a:solidFill>
                  <a:srgbClr val="000000"/>
                </a:solidFill>
                <a:cs typeface="Arial" panose="020B0604020202020204" pitchFamily="34" charset="0"/>
              </a:rPr>
              <a:t>      is referred to as the </a:t>
            </a:r>
            <a:r>
              <a:rPr lang="en-US" sz="2400" u="sng" dirty="0">
                <a:solidFill>
                  <a:srgbClr val="000000"/>
                </a:solidFill>
                <a:cs typeface="Arial" panose="020B0604020202020204" pitchFamily="34" charset="0"/>
              </a:rPr>
              <a:t>standard error of the mean.</a:t>
            </a:r>
            <a:endParaRPr lang="en-US" sz="2400" dirty="0"/>
          </a:p>
          <a:p>
            <a:endParaRPr lang="en-US" sz="2400" dirty="0"/>
          </a:p>
        </p:txBody>
      </p:sp>
      <p:sp>
        <p:nvSpPr>
          <p:cNvPr id="5" name="Slide Number Placeholder 4"/>
          <p:cNvSpPr>
            <a:spLocks noGrp="1"/>
          </p:cNvSpPr>
          <p:nvPr>
            <p:ph type="sldNum" sz="quarter" idx="12"/>
          </p:nvPr>
        </p:nvSpPr>
        <p:spPr/>
        <p:txBody>
          <a:bodyPr/>
          <a:lstStyle/>
          <a:p>
            <a:fld id="{949EBC64-41CB-41B8-B6DF-9B1367312BD4}" type="slidenum">
              <a:rPr lang="en-US" smtClean="0"/>
              <a:pPr/>
              <a:t>19</a:t>
            </a:fld>
            <a:endParaRPr lang="en-US"/>
          </a:p>
        </p:txBody>
      </p:sp>
    </p:spTree>
    <p:extLst>
      <p:ext uri="{BB962C8B-B14F-4D97-AF65-F5344CB8AC3E}">
        <p14:creationId xmlns:p14="http://schemas.microsoft.com/office/powerpoint/2010/main" val="1785012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(5 of 10)</a:t>
                </a:r>
              </a:p>
            </p:txBody>
          </p:sp>
        </mc:Choice>
        <mc:Fallback xmlns="">
          <p:sp>
            <p:nvSpPr>
              <p:cNvPr id="3" name="Title 2"/>
              <p:cNvSpPr>
                <a:spLocks noGrp="1" noRot="1" noChangeAspect="1" noMove="1" noResize="1" noEditPoints="1" noAdjustHandles="1" noChangeArrowheads="1" noChangeShapeType="1" noTextEdit="1"/>
              </p:cNvSpPr>
              <p:nvPr>
                <p:ph type="title"/>
              </p:nvPr>
            </p:nvSpPr>
            <p:spPr>
              <a:blipFill>
                <a:blip r:embed="rId3"/>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When the population has a normal distribution, the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is normally distributed for any sample size.</a:t>
                </a:r>
              </a:p>
              <a:p>
                <a:pPr marL="342900" lvl="0" indent="-342900"/>
                <a:r>
                  <a:rPr lang="en-US" sz="2400" dirty="0">
                    <a:solidFill>
                      <a:srgbClr val="000000"/>
                    </a:solidFill>
                    <a:cs typeface="Arial" panose="020B0604020202020204" pitchFamily="34" charset="0"/>
                  </a:rPr>
                  <a:t>In most applications, the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can be approximated by a normal distribution whenever the sample is size 30 or more.</a:t>
                </a:r>
              </a:p>
              <a:p>
                <a:pPr marL="342900" lvl="0" indent="-342900"/>
                <a:r>
                  <a:rPr lang="en-US" sz="2400" dirty="0">
                    <a:solidFill>
                      <a:srgbClr val="000000"/>
                    </a:solidFill>
                    <a:cs typeface="Arial" panose="020B0604020202020204" pitchFamily="34" charset="0"/>
                  </a:rPr>
                  <a:t>In cases where the population is highly skewed or outliers are present, samples of size 50 may be needed.</a:t>
                </a:r>
              </a:p>
              <a:p>
                <a:pPr marL="342900" indent="-342900"/>
                <a:r>
                  <a:rPr lang="en-US" sz="2400" dirty="0">
                    <a:solidFill>
                      <a:srgbClr val="000000"/>
                    </a:solidFill>
                    <a:cs typeface="Arial" panose="020B0604020202020204" pitchFamily="34" charset="0"/>
                  </a:rPr>
                  <a:t>The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can be used to provide probability information about how close the sample mean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is to the population mean </a:t>
                </a:r>
                <a:r>
                  <a:rPr lang="el-GR" sz="2400" i="1" dirty="0"/>
                  <a:t>μ</a:t>
                </a:r>
                <a:r>
                  <a:rPr lang="en-US" sz="2400" i="1" dirty="0">
                    <a:solidFill>
                      <a:srgbClr val="000000"/>
                    </a:solidFill>
                    <a:cs typeface="Arial" panose="020B0604020202020204" pitchFamily="34" charset="0"/>
                  </a:rPr>
                  <a:t> </a:t>
                </a:r>
                <a:r>
                  <a:rPr lang="en-US" sz="2400" dirty="0">
                    <a:solidFill>
                      <a:srgbClr val="000000"/>
                    </a:solidFill>
                    <a:cs typeface="Arial" panose="020B0604020202020204" pitchFamily="34" charset="0"/>
                  </a:rPr>
                  <a:t>.</a:t>
                </a:r>
              </a:p>
            </p:txBody>
          </p:sp>
        </mc:Choice>
        <mc:Fallback xmlns="">
          <p:sp>
            <p:nvSpPr>
              <p:cNvPr id="4" name="Content Placeholder 3"/>
              <p:cNvSpPr>
                <a:spLocks noGrp="1" noRot="1" noChangeAspect="1" noMove="1" noResize="1" noEditPoints="1" noAdjustHandles="1" noChangeArrowheads="1" noChangeShapeType="1" noTextEdit="1"/>
              </p:cNvSpPr>
              <p:nvPr>
                <p:ph sz="quarter" idx="13"/>
              </p:nvPr>
            </p:nvSpPr>
            <p:spPr>
              <a:blipFill>
                <a:blip r:embed="rId4"/>
                <a:stretch>
                  <a:fillRect l="-755" t="-1920" r="-639"/>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949EBC64-41CB-41B8-B6DF-9B1367312BD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mc:AlternateContent xmlns:mc="http://schemas.openxmlformats.org/markup-compatibility/2006" xmlns:a14="http://schemas.microsoft.com/office/drawing/2010/main">
        <mc:Choice Requires="a14">
          <p:sp>
            <p:nvSpPr>
              <p:cNvPr id="5" name="Content Placeholder 4"/>
              <p:cNvSpPr>
                <a:spLocks noGrp="1"/>
              </p:cNvSpPr>
              <p:nvPr>
                <p:ph sz="quarter" idx="13"/>
              </p:nvPr>
            </p:nvSpPr>
            <p:spPr/>
            <p:txBody>
              <a:bodyPr/>
              <a:lstStyle/>
              <a:p>
                <a:pPr marL="0" lvl="0" indent="0" eaLnBrk="0" fontAlgn="base" hangingPunct="0">
                  <a:lnSpc>
                    <a:spcPct val="100000"/>
                  </a:lnSpc>
                  <a:spcBef>
                    <a:spcPct val="20000"/>
                  </a:spcBef>
                  <a:spcAft>
                    <a:spcPct val="0"/>
                  </a:spcAft>
                  <a:buSzPct val="100000"/>
                  <a:buNone/>
                </a:pPr>
                <a:r>
                  <a:rPr lang="en-US" sz="2400" dirty="0">
                    <a:solidFill>
                      <a:srgbClr val="000000"/>
                    </a:solidFill>
                    <a:cs typeface="Arial" panose="020B0604020202020204" pitchFamily="34" charset="0"/>
                  </a:rPr>
                  <a:t>When the population from which we are selecting a random sample does not have a normal distribution, the </a:t>
                </a:r>
                <a:r>
                  <a:rPr lang="en-US" sz="2400" u="sng" dirty="0">
                    <a:solidFill>
                      <a:srgbClr val="000000"/>
                    </a:solidFill>
                    <a:cs typeface="Arial" panose="020B0604020202020204" pitchFamily="34" charset="0"/>
                  </a:rPr>
                  <a:t>central limit theorem</a:t>
                </a:r>
                <a:r>
                  <a:rPr lang="en-US" sz="2400" dirty="0">
                    <a:solidFill>
                      <a:srgbClr val="000000"/>
                    </a:solidFill>
                    <a:cs typeface="Arial" panose="020B0604020202020204" pitchFamily="34" charset="0"/>
                  </a:rPr>
                  <a:t> is helpful in identifying the shape of the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a:t>
                </a:r>
              </a:p>
              <a:p>
                <a:pPr marL="0" lvl="0" indent="0" algn="ctr" eaLnBrk="0" fontAlgn="base" hangingPunct="0">
                  <a:lnSpc>
                    <a:spcPct val="100000"/>
                  </a:lnSpc>
                  <a:spcBef>
                    <a:spcPts val="3456"/>
                  </a:spcBef>
                  <a:spcAft>
                    <a:spcPct val="0"/>
                  </a:spcAft>
                  <a:buNone/>
                </a:pPr>
                <a:r>
                  <a:rPr lang="en-US" sz="2400" u="sng" dirty="0">
                    <a:solidFill>
                      <a:srgbClr val="000000"/>
                    </a:solidFill>
                    <a:cs typeface="Arial" panose="020B0604020202020204" pitchFamily="34" charset="0"/>
                  </a:rPr>
                  <a:t>CENTRAL LIMIT THEOREM</a:t>
                </a:r>
              </a:p>
              <a:p>
                <a:pPr marL="0" lvl="0" indent="0" algn="ctr" eaLnBrk="0" fontAlgn="base" hangingPunct="0">
                  <a:lnSpc>
                    <a:spcPct val="100000"/>
                  </a:lnSpc>
                  <a:spcBef>
                    <a:spcPts val="600"/>
                  </a:spcBef>
                  <a:spcAft>
                    <a:spcPct val="0"/>
                  </a:spcAft>
                  <a:buNone/>
                </a:pPr>
                <a:r>
                  <a:rPr lang="en-US" sz="2400" dirty="0">
                    <a:solidFill>
                      <a:srgbClr val="000000"/>
                    </a:solidFill>
                    <a:cs typeface="Arial" panose="020B0604020202020204" pitchFamily="34" charset="0"/>
                  </a:rPr>
                  <a:t>In selecting random samples of size </a:t>
                </a:r>
                <a:r>
                  <a:rPr lang="en-US" sz="2400" i="1" dirty="0">
                    <a:solidFill>
                      <a:srgbClr val="000000"/>
                    </a:solidFill>
                    <a:cs typeface="Arial" panose="020B0604020202020204" pitchFamily="34" charset="0"/>
                  </a:rPr>
                  <a:t>n</a:t>
                </a:r>
                <a:r>
                  <a:rPr lang="en-US" sz="2400" dirty="0">
                    <a:solidFill>
                      <a:srgbClr val="000000"/>
                    </a:solidFill>
                    <a:cs typeface="Arial" panose="020B0604020202020204" pitchFamily="34" charset="0"/>
                  </a:rPr>
                  <a:t> from a</a:t>
                </a:r>
              </a:p>
              <a:p>
                <a:pPr marL="0" lvl="0" indent="0" algn="ctr" eaLnBrk="0" fontAlgn="base" hangingPunct="0">
                  <a:lnSpc>
                    <a:spcPct val="100000"/>
                  </a:lnSpc>
                  <a:spcBef>
                    <a:spcPct val="0"/>
                  </a:spcBef>
                  <a:spcAft>
                    <a:spcPct val="0"/>
                  </a:spcAft>
                  <a:buNone/>
                </a:pPr>
                <a:r>
                  <a:rPr lang="en-US" sz="2400" dirty="0">
                    <a:solidFill>
                      <a:srgbClr val="000000"/>
                    </a:solidFill>
                    <a:cs typeface="Arial" panose="020B0604020202020204" pitchFamily="34" charset="0"/>
                  </a:rPr>
                  <a:t>population, the sampling distribution of the sample</a:t>
                </a:r>
              </a:p>
              <a:p>
                <a:pPr marL="0" lvl="0" indent="0" algn="ctr" eaLnBrk="0" fontAlgn="base" hangingPunct="0">
                  <a:lnSpc>
                    <a:spcPct val="100000"/>
                  </a:lnSpc>
                  <a:spcBef>
                    <a:spcPct val="0"/>
                  </a:spcBef>
                  <a:spcAft>
                    <a:spcPct val="0"/>
                  </a:spcAft>
                  <a:buNone/>
                </a:pPr>
                <a:r>
                  <a:rPr lang="en-US" sz="2400" dirty="0">
                    <a:solidFill>
                      <a:srgbClr val="000000"/>
                    </a:solidFill>
                    <a:cs typeface="Arial" panose="020B0604020202020204" pitchFamily="34" charset="0"/>
                  </a:rPr>
                  <a:t>        mean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𝑥</m:t>
                        </m:r>
                      </m:e>
                    </m:acc>
                  </m:oMath>
                </a14:m>
                <a:r>
                  <a:rPr lang="en-US" sz="2400" dirty="0">
                    <a:solidFill>
                      <a:srgbClr val="000000"/>
                    </a:solidFill>
                    <a:cs typeface="Arial" panose="020B0604020202020204" pitchFamily="34" charset="0"/>
                  </a:rPr>
                  <a:t> can be approximated by a </a:t>
                </a:r>
                <a:r>
                  <a:rPr lang="en-US" sz="2400" i="1" dirty="0">
                    <a:solidFill>
                      <a:srgbClr val="000000"/>
                    </a:solidFill>
                    <a:cs typeface="Arial" panose="020B0604020202020204" pitchFamily="34" charset="0"/>
                  </a:rPr>
                  <a:t>normal</a:t>
                </a:r>
              </a:p>
              <a:p>
                <a:pPr marL="0" lvl="0" indent="0" algn="ctr" eaLnBrk="0" fontAlgn="base" hangingPunct="0">
                  <a:lnSpc>
                    <a:spcPct val="100000"/>
                  </a:lnSpc>
                  <a:spcBef>
                    <a:spcPct val="0"/>
                  </a:spcBef>
                  <a:spcAft>
                    <a:spcPct val="0"/>
                  </a:spcAft>
                  <a:buNone/>
                </a:pPr>
                <a:r>
                  <a:rPr lang="en-US" sz="2400" dirty="0">
                    <a:solidFill>
                      <a:srgbClr val="000000"/>
                    </a:solidFill>
                    <a:cs typeface="Arial" panose="020B0604020202020204" pitchFamily="34" charset="0"/>
                  </a:rPr>
                  <a:t>     </a:t>
                </a:r>
                <a:r>
                  <a:rPr lang="en-US" sz="2400" i="1" dirty="0">
                    <a:solidFill>
                      <a:srgbClr val="000000"/>
                    </a:solidFill>
                    <a:cs typeface="Arial" panose="020B0604020202020204" pitchFamily="34" charset="0"/>
                  </a:rPr>
                  <a:t>distribution</a:t>
                </a:r>
                <a:r>
                  <a:rPr lang="en-US" sz="2400" dirty="0">
                    <a:solidFill>
                      <a:srgbClr val="000000"/>
                    </a:solidFill>
                    <a:cs typeface="Arial" panose="020B0604020202020204" pitchFamily="34" charset="0"/>
                  </a:rPr>
                  <a:t> as the sample size becomes large.</a:t>
                </a:r>
              </a:p>
            </p:txBody>
          </p:sp>
        </mc:Choice>
        <mc:Fallback xmlns="">
          <p:sp>
            <p:nvSpPr>
              <p:cNvPr id="5" name="Content Placeholder 4"/>
              <p:cNvSpPr>
                <a:spLocks noGrp="1" noRot="1" noChangeAspect="1" noMove="1" noResize="1" noEditPoints="1" noAdjustHandles="1" noChangeArrowheads="1" noChangeShapeType="1" noTextEdit="1"/>
              </p:cNvSpPr>
              <p:nvPr>
                <p:ph sz="quarter" idx="13"/>
              </p:nvPr>
            </p:nvSpPr>
            <p:spPr>
              <a:xfrm>
                <a:off x="283953" y="1375619"/>
                <a:ext cx="11563054" cy="4441371"/>
              </a:xfrm>
              <a:blipFill>
                <a:blip r:embed="rId2"/>
                <a:stretch>
                  <a:fillRect l="-844" t="-1099" r="-1371"/>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949EBC64-41CB-41B8-B6DF-9B1367312BD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(6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half" idx="1"/>
          </p:nvPr>
        </p:nvSpPr>
        <p:spPr/>
        <p:txBody>
          <a:bodyPr/>
          <a:lstStyle/>
          <a:p>
            <a:pPr marL="0" indent="0">
              <a:buNone/>
            </a:pPr>
            <a:r>
              <a:rPr lang="en-US" dirty="0">
                <a:solidFill>
                  <a:srgbClr val="000000"/>
                </a:solidFill>
                <a:cs typeface="Arial" panose="020B0604020202020204" pitchFamily="34" charset="0"/>
              </a:rPr>
              <a:t>Example:  St. Andrew’s College</a:t>
            </a:r>
          </a:p>
        </p:txBody>
      </p:sp>
      <p:pic>
        <p:nvPicPr>
          <p:cNvPr id="8" name="Content Placeholder 7" descr="A sampling distribution in the shape of a bell curve called x overbar for SAT scores has the equation: begin equation. Sigma subscript x overbar baseline equals start fraction sigma over start root n end root end fraction equals start fraction 87.4 over start root 30 end root end fraction equals 15.96. End equation. Upper E left parenthesis x overbar right parenthesis equals 1697.">
            <a:extLst>
              <a:ext uri="{FF2B5EF4-FFF2-40B4-BE49-F238E27FC236}">
                <a16:creationId xmlns:a16="http://schemas.microsoft.com/office/drawing/2014/main" id="{150EDA8A-2264-49D4-A933-3E060CC129DF}"/>
              </a:ext>
            </a:extLst>
          </p:cNvPr>
          <p:cNvPicPr>
            <a:picLocks noGrp="1" noChangeAspect="1"/>
          </p:cNvPicPr>
          <p:nvPr>
            <p:ph sz="half" idx="2"/>
          </p:nvPr>
        </p:nvPicPr>
        <p:blipFill>
          <a:blip r:embed="rId3"/>
          <a:stretch>
            <a:fillRect/>
          </a:stretch>
        </p:blipFill>
        <p:spPr>
          <a:xfrm>
            <a:off x="3036904" y="2289262"/>
            <a:ext cx="6088029" cy="3790660"/>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22</a:t>
            </a:fld>
            <a:endParaRPr lang="en-US"/>
          </a:p>
        </p:txBody>
      </p:sp>
    </p:spTree>
    <p:extLst>
      <p:ext uri="{BB962C8B-B14F-4D97-AF65-F5344CB8AC3E}">
        <p14:creationId xmlns:p14="http://schemas.microsoft.com/office/powerpoint/2010/main" val="1464835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(7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3"/>
              </p:nvPr>
            </p:nvSpPr>
            <p:spPr/>
            <p:txBody>
              <a:bodyPr/>
              <a:lstStyle/>
              <a:p>
                <a:pPr marL="0" indent="0">
                  <a:buNone/>
                </a:pPr>
                <a:r>
                  <a:rPr lang="en-US" dirty="0">
                    <a:solidFill>
                      <a:srgbClr val="000000"/>
                    </a:solidFill>
                    <a:cs typeface="Arial" panose="020B0604020202020204" pitchFamily="34" charset="0"/>
                  </a:rPr>
                  <a:t>Example:  St. Andrew’s College</a:t>
                </a:r>
              </a:p>
              <a:p>
                <a:pPr marL="461963" lvl="1" indent="-342900">
                  <a:spcBef>
                    <a:spcPct val="20000"/>
                  </a:spcBef>
                  <a:buSzPct val="100000"/>
                </a:pPr>
                <a:r>
                  <a:rPr lang="en-US" dirty="0">
                    <a:solidFill>
                      <a:srgbClr val="000000"/>
                    </a:solidFill>
                    <a:cs typeface="Arial" panose="020B0604020202020204" pitchFamily="34" charset="0"/>
                  </a:rPr>
                  <a:t>What is the probability that a simple random sample of 30 applicants will provide an estimate of the population mean SAT score that is within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r>
                  <a:rPr lang="en-US" dirty="0">
                    <a:solidFill>
                      <a:srgbClr val="000000"/>
                    </a:solidFill>
                    <a:cs typeface="Arial" panose="020B0604020202020204" pitchFamily="34" charset="0"/>
                  </a:rPr>
                  <a:t>10 of the actual population mean </a:t>
                </a:r>
                <a:r>
                  <a:rPr lang="el-GR" i="1" dirty="0"/>
                  <a:t>μ</a:t>
                </a:r>
                <a:r>
                  <a:rPr lang="en-US" dirty="0">
                    <a:solidFill>
                      <a:srgbClr val="000000"/>
                    </a:solidFill>
                    <a:cs typeface="Arial" panose="020B0604020202020204" pitchFamily="34" charset="0"/>
                  </a:rPr>
                  <a:t>?</a:t>
                </a:r>
              </a:p>
              <a:p>
                <a:pPr marL="461963" lvl="1" indent="-342900">
                  <a:spcBef>
                    <a:spcPct val="20000"/>
                  </a:spcBef>
                  <a:buSzPct val="100000"/>
                </a:pPr>
                <a:r>
                  <a:rPr lang="en-US" dirty="0">
                    <a:solidFill>
                      <a:srgbClr val="000000"/>
                    </a:solidFill>
                    <a:cs typeface="Arial" panose="020B0604020202020204" pitchFamily="34" charset="0"/>
                  </a:rPr>
                  <a:t>In other words, what is the probability that </a:t>
                </a: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a:rPr>
                          <m:t>𝑥</m:t>
                        </m:r>
                      </m:e>
                    </m:acc>
                  </m:oMath>
                </a14:m>
                <a:r>
                  <a:rPr lang="en-US" dirty="0">
                    <a:solidFill>
                      <a:srgbClr val="000000"/>
                    </a:solidFill>
                    <a:cs typeface="Arial" panose="020B0604020202020204" pitchFamily="34" charset="0"/>
                  </a:rPr>
                  <a:t> will be between 1687 and 1707?</a:t>
                </a:r>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xfrm>
                <a:off x="211162" y="1405765"/>
                <a:ext cx="11515264" cy="4441371"/>
              </a:xfrm>
              <a:blipFill>
                <a:blip r:embed="rId3"/>
                <a:stretch>
                  <a:fillRect l="-1112" t="-233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949EBC64-41CB-41B8-B6DF-9B1367312BD4}" type="slidenum">
              <a:rPr lang="en-US" smtClean="0"/>
              <a:t>23</a:t>
            </a:fld>
            <a:endParaRPr lang="en-US"/>
          </a:p>
        </p:txBody>
      </p:sp>
    </p:spTree>
    <p:extLst>
      <p:ext uri="{BB962C8B-B14F-4D97-AF65-F5344CB8AC3E}">
        <p14:creationId xmlns:p14="http://schemas.microsoft.com/office/powerpoint/2010/main" val="2580114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(8 of 10)</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3"/>
                <a:stretch>
                  <a:fillRect l="-1453" t="-3361" b="-15126"/>
                </a:stretch>
              </a:blipFill>
            </p:spPr>
            <p:txBody>
              <a:bodyPr/>
              <a:lstStyle/>
              <a:p>
                <a:r>
                  <a:rPr lang="en-US">
                    <a:noFill/>
                  </a:rPr>
                  <a:t> </a:t>
                </a:r>
              </a:p>
            </p:txBody>
          </p:sp>
        </mc:Fallback>
      </mc:AlternateContent>
      <p:sp>
        <p:nvSpPr>
          <p:cNvPr id="6" name="Text Placeholder 5"/>
          <p:cNvSpPr>
            <a:spLocks noGrp="1"/>
          </p:cNvSpPr>
          <p:nvPr>
            <p:ph sz="half" idx="1"/>
          </p:nvPr>
        </p:nvSpPr>
        <p:spPr>
          <a:xfrm>
            <a:off x="836126" y="1547264"/>
            <a:ext cx="10489584" cy="1316252"/>
          </a:xfrm>
        </p:spPr>
        <p:txBody>
          <a:bodyPr>
            <a:noAutofit/>
          </a:bodyPr>
          <a:lstStyle/>
          <a:p>
            <a:pPr marL="0" indent="0" eaLnBrk="0" fontAlgn="base" hangingPunct="0">
              <a:lnSpc>
                <a:spcPct val="100000"/>
              </a:lnSpc>
              <a:spcBef>
                <a:spcPct val="0"/>
              </a:spcBef>
              <a:spcAft>
                <a:spcPct val="0"/>
              </a:spcAft>
              <a:buNone/>
            </a:pPr>
            <a:r>
              <a:rPr lang="en-US" dirty="0">
                <a:solidFill>
                  <a:srgbClr val="000000"/>
                </a:solidFill>
                <a:cs typeface="Arial" panose="020B0604020202020204" pitchFamily="34" charset="0"/>
              </a:rPr>
              <a:t>Example:  St. Andrew’s College</a:t>
            </a:r>
          </a:p>
          <a:p>
            <a:pPr marL="0" indent="0" eaLnBrk="0" fontAlgn="base" hangingPunct="0">
              <a:lnSpc>
                <a:spcPct val="100000"/>
              </a:lnSpc>
              <a:spcBef>
                <a:spcPts val="1200"/>
              </a:spcBef>
              <a:spcAft>
                <a:spcPct val="0"/>
              </a:spcAft>
              <a:buNone/>
            </a:pPr>
            <a:r>
              <a:rPr lang="en-US" sz="2400" dirty="0">
                <a:solidFill>
                  <a:srgbClr val="000000"/>
                </a:solidFill>
                <a:cs typeface="Arial" panose="020B0604020202020204" pitchFamily="34" charset="0"/>
              </a:rPr>
              <a:t>Step 1:  Calculate the </a:t>
            </a:r>
            <a:r>
              <a:rPr lang="en-US" sz="2400" i="1" dirty="0">
                <a:solidFill>
                  <a:srgbClr val="000000"/>
                </a:solidFill>
                <a:cs typeface="Arial" panose="020B0604020202020204" pitchFamily="34" charset="0"/>
              </a:rPr>
              <a:t>z</a:t>
            </a:r>
            <a:r>
              <a:rPr lang="en-US" sz="2400" dirty="0">
                <a:solidFill>
                  <a:srgbClr val="000000"/>
                </a:solidFill>
                <a:cs typeface="Arial" panose="020B0604020202020204" pitchFamily="34" charset="0"/>
              </a:rPr>
              <a:t>-value at the </a:t>
            </a:r>
            <a:r>
              <a:rPr lang="en-US" sz="2400" u="sng" dirty="0">
                <a:solidFill>
                  <a:srgbClr val="000000"/>
                </a:solidFill>
                <a:cs typeface="Arial" panose="020B0604020202020204" pitchFamily="34" charset="0"/>
              </a:rPr>
              <a:t>upper</a:t>
            </a:r>
            <a:r>
              <a:rPr lang="en-US" sz="2400" dirty="0">
                <a:solidFill>
                  <a:srgbClr val="000000"/>
                </a:solidFill>
                <a:cs typeface="Arial" panose="020B0604020202020204" pitchFamily="34" charset="0"/>
              </a:rPr>
              <a:t> endpoint of the interval.</a:t>
            </a:r>
          </a:p>
        </p:txBody>
      </p:sp>
      <p:pic>
        <p:nvPicPr>
          <p:cNvPr id="12" name="Content Placeholder 11" descr="An equation. Begin equation. z equals start fraction left parenthesis 1707 minus 1697 right parenthesis over 15.96 end fraction equals 0.63. End equation.">
            <a:extLst>
              <a:ext uri="{FF2B5EF4-FFF2-40B4-BE49-F238E27FC236}">
                <a16:creationId xmlns:a16="http://schemas.microsoft.com/office/drawing/2014/main" id="{FE5F15CE-14D5-4858-B989-F6BE146D3B81}"/>
              </a:ext>
            </a:extLst>
          </p:cNvPr>
          <p:cNvPicPr>
            <a:picLocks noGrp="1" noChangeAspect="1"/>
          </p:cNvPicPr>
          <p:nvPr>
            <p:ph sz="half" idx="14"/>
          </p:nvPr>
        </p:nvPicPr>
        <p:blipFill>
          <a:blip r:embed="rId4"/>
          <a:stretch>
            <a:fillRect/>
          </a:stretch>
        </p:blipFill>
        <p:spPr>
          <a:xfrm>
            <a:off x="4579996" y="2678408"/>
            <a:ext cx="3001844" cy="819616"/>
          </a:xfrm>
          <a:prstGeom prst="rect">
            <a:avLst/>
          </a:prstGeom>
        </p:spPr>
      </p:pic>
      <p:sp>
        <p:nvSpPr>
          <p:cNvPr id="4" name="Content Placeholder 3"/>
          <p:cNvSpPr>
            <a:spLocks noGrp="1"/>
          </p:cNvSpPr>
          <p:nvPr>
            <p:ph sz="half" idx="2"/>
          </p:nvPr>
        </p:nvSpPr>
        <p:spPr>
          <a:xfrm>
            <a:off x="836126" y="3613485"/>
            <a:ext cx="10489584" cy="1420094"/>
          </a:xfrm>
        </p:spPr>
        <p:txBody>
          <a:bodyPr>
            <a:noAutofit/>
          </a:bodyPr>
          <a:lstStyle/>
          <a:p>
            <a:pPr marL="0" lvl="0" indent="0" eaLnBrk="0" fontAlgn="base" hangingPunct="0">
              <a:lnSpc>
                <a:spcPct val="100000"/>
              </a:lnSpc>
              <a:spcBef>
                <a:spcPct val="0"/>
              </a:spcBef>
              <a:spcAft>
                <a:spcPct val="0"/>
              </a:spcAft>
              <a:buNone/>
            </a:pPr>
            <a:r>
              <a:rPr lang="en-US" sz="2400" dirty="0">
                <a:solidFill>
                  <a:srgbClr val="000000"/>
                </a:solidFill>
                <a:cs typeface="Arial" panose="020B0604020202020204" pitchFamily="34" charset="0"/>
              </a:rPr>
              <a:t>Step 2:  Find the area under the curve to the left of the </a:t>
            </a:r>
            <a:r>
              <a:rPr lang="en-US" sz="2400" u="sng" dirty="0">
                <a:solidFill>
                  <a:srgbClr val="000000"/>
                </a:solidFill>
                <a:cs typeface="Arial" panose="020B0604020202020204" pitchFamily="34" charset="0"/>
              </a:rPr>
              <a:t>upper</a:t>
            </a:r>
            <a:r>
              <a:rPr lang="en-US" sz="2400" dirty="0">
                <a:solidFill>
                  <a:srgbClr val="000000"/>
                </a:solidFill>
                <a:cs typeface="Arial" panose="020B0604020202020204" pitchFamily="34" charset="0"/>
              </a:rPr>
              <a:t> endpoint.</a:t>
            </a:r>
          </a:p>
        </p:txBody>
      </p:sp>
      <p:pic>
        <p:nvPicPr>
          <p:cNvPr id="13" name="Content Placeholder 12" descr="An equation. Begin equation. P left parenthesis z is less than or equal to 0.63 right parenthesis equals 0.7357. End equation.">
            <a:extLst>
              <a:ext uri="{FF2B5EF4-FFF2-40B4-BE49-F238E27FC236}">
                <a16:creationId xmlns:a16="http://schemas.microsoft.com/office/drawing/2014/main" id="{1313C7C9-2CCC-46A2-8BEB-9EC8078D40A5}"/>
              </a:ext>
            </a:extLst>
          </p:cNvPr>
          <p:cNvPicPr>
            <a:picLocks noGrp="1" noChangeAspect="1"/>
          </p:cNvPicPr>
          <p:nvPr>
            <p:ph sz="half" idx="15"/>
          </p:nvPr>
        </p:nvPicPr>
        <p:blipFill>
          <a:blip r:embed="rId5"/>
          <a:stretch>
            <a:fillRect/>
          </a:stretch>
        </p:blipFill>
        <p:spPr>
          <a:xfrm>
            <a:off x="4749445" y="4140146"/>
            <a:ext cx="2662946" cy="701948"/>
          </a:xfrm>
          <a:prstGeom prst="rect">
            <a:avLst/>
          </a:prstGeom>
        </p:spPr>
      </p:pic>
      <p:sp>
        <p:nvSpPr>
          <p:cNvPr id="2" name="Slide Number Placeholder 1"/>
          <p:cNvSpPr>
            <a:spLocks noGrp="1"/>
          </p:cNvSpPr>
          <p:nvPr>
            <p:ph type="sldNum" sz="quarter" idx="12"/>
          </p:nvPr>
        </p:nvSpPr>
        <p:spPr/>
        <p:txBody>
          <a:bodyPr/>
          <a:lstStyle/>
          <a:p>
            <a:fld id="{949EBC64-41CB-41B8-B6DF-9B1367312BD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(9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half" idx="1"/>
          </p:nvPr>
        </p:nvSpPr>
        <p:spPr/>
        <p:txBody>
          <a:bodyPr/>
          <a:lstStyle/>
          <a:p>
            <a:pPr marL="0" indent="0">
              <a:buNone/>
            </a:pPr>
            <a:r>
              <a:rPr lang="en-US" dirty="0">
                <a:solidFill>
                  <a:srgbClr val="000000"/>
                </a:solidFill>
                <a:cs typeface="Arial" panose="020B0604020202020204" pitchFamily="34" charset="0"/>
              </a:rPr>
              <a:t>Example:  St. Andrew’s College</a:t>
            </a:r>
          </a:p>
        </p:txBody>
      </p:sp>
      <p:sp>
        <p:nvSpPr>
          <p:cNvPr id="9" name="Content Placeholder 8"/>
          <p:cNvSpPr>
            <a:spLocks noGrp="1"/>
          </p:cNvSpPr>
          <p:nvPr>
            <p:ph sz="half" idx="2"/>
          </p:nvPr>
        </p:nvSpPr>
        <p:spPr>
          <a:xfrm>
            <a:off x="836126" y="2205390"/>
            <a:ext cx="4775531" cy="1420094"/>
          </a:xfrm>
        </p:spPr>
        <p:txBody>
          <a:bodyPr>
            <a:noAutofit/>
          </a:bodyPr>
          <a:lstStyle/>
          <a:p>
            <a:pPr marL="0" indent="0" algn="ctr">
              <a:buNone/>
            </a:pPr>
            <a:r>
              <a:rPr lang="en-US" sz="2400" dirty="0"/>
              <a:t>Cumulative Probabilities for the Standard Normal Distribution</a:t>
            </a:r>
          </a:p>
        </p:txBody>
      </p:sp>
      <p:graphicFrame>
        <p:nvGraphicFramePr>
          <p:cNvPr id="13" name="Content Placeholder 12" descr="A z score table with 11 columns and 8 rows. The column headers are z, .00, .01, .02, .03, .04, .05, .06, .07, .08, and .09. The cell with the value .7357, the column header .03, and the row header .6 are highlighted.">
            <a:extLst>
              <a:ext uri="{FF2B5EF4-FFF2-40B4-BE49-F238E27FC236}">
                <a16:creationId xmlns:a16="http://schemas.microsoft.com/office/drawing/2014/main" id="{48F82E00-A20B-44F7-A080-CD7681BF9856}"/>
              </a:ext>
            </a:extLst>
          </p:cNvPr>
          <p:cNvGraphicFramePr>
            <a:graphicFrameLocks noGrp="1"/>
          </p:cNvGraphicFramePr>
          <p:nvPr>
            <p:ph sz="quarter" idx="13"/>
            <p:extLst>
              <p:ext uri="{D42A27DB-BD31-4B8C-83A1-F6EECF244321}">
                <p14:modId xmlns:p14="http://schemas.microsoft.com/office/powerpoint/2010/main" val="12494280"/>
              </p:ext>
            </p:extLst>
          </p:nvPr>
        </p:nvGraphicFramePr>
        <p:xfrm>
          <a:off x="937626" y="3194511"/>
          <a:ext cx="4572530" cy="2774600"/>
        </p:xfrm>
        <a:graphic>
          <a:graphicData uri="http://schemas.openxmlformats.org/drawingml/2006/table">
            <a:tbl>
              <a:tblPr firstRow="1" firstCol="1" bandRow="1"/>
              <a:tblGrid>
                <a:gridCol w="570966">
                  <a:extLst>
                    <a:ext uri="{9D8B030D-6E8A-4147-A177-3AD203B41FA5}">
                      <a16:colId xmlns:a16="http://schemas.microsoft.com/office/drawing/2014/main" val="20000"/>
                    </a:ext>
                  </a:extLst>
                </a:gridCol>
                <a:gridCol w="804603">
                  <a:extLst>
                    <a:ext uri="{9D8B030D-6E8A-4147-A177-3AD203B41FA5}">
                      <a16:colId xmlns:a16="http://schemas.microsoft.com/office/drawing/2014/main" val="20001"/>
                    </a:ext>
                  </a:extLst>
                </a:gridCol>
                <a:gridCol w="783148">
                  <a:extLst>
                    <a:ext uri="{9D8B030D-6E8A-4147-A177-3AD203B41FA5}">
                      <a16:colId xmlns:a16="http://schemas.microsoft.com/office/drawing/2014/main" val="20002"/>
                    </a:ext>
                  </a:extLst>
                </a:gridCol>
                <a:gridCol w="793876">
                  <a:extLst>
                    <a:ext uri="{9D8B030D-6E8A-4147-A177-3AD203B41FA5}">
                      <a16:colId xmlns:a16="http://schemas.microsoft.com/office/drawing/2014/main" val="20003"/>
                    </a:ext>
                  </a:extLst>
                </a:gridCol>
                <a:gridCol w="836789">
                  <a:extLst>
                    <a:ext uri="{9D8B030D-6E8A-4147-A177-3AD203B41FA5}">
                      <a16:colId xmlns:a16="http://schemas.microsoft.com/office/drawing/2014/main" val="20004"/>
                    </a:ext>
                  </a:extLst>
                </a:gridCol>
                <a:gridCol w="783148">
                  <a:extLst>
                    <a:ext uri="{9D8B030D-6E8A-4147-A177-3AD203B41FA5}">
                      <a16:colId xmlns:a16="http://schemas.microsoft.com/office/drawing/2014/main" val="20005"/>
                    </a:ext>
                  </a:extLst>
                </a:gridCol>
              </a:tblGrid>
              <a:tr h="251662">
                <a:tc>
                  <a:txBody>
                    <a:bodyPr/>
                    <a:lstStyle/>
                    <a:p>
                      <a:pPr marL="0" marR="0" algn="ctr">
                        <a:lnSpc>
                          <a:spcPct val="107000"/>
                        </a:lnSpc>
                        <a:spcBef>
                          <a:spcPts val="0"/>
                        </a:spcBef>
                        <a:spcAft>
                          <a:spcPts val="0"/>
                        </a:spcAft>
                      </a:pPr>
                      <a:r>
                        <a:rPr lang="en-US" sz="1800" b="0" i="1" dirty="0">
                          <a:effectLst/>
                          <a:latin typeface="Calibri" panose="020F0502020204030204" pitchFamily="34" charset="0"/>
                          <a:ea typeface="Calibri" panose="020F0502020204030204" pitchFamily="34" charset="0"/>
                          <a:cs typeface="Times New Roman" panose="02020603050405020304" pitchFamily="18" charset="0"/>
                        </a:rPr>
                        <a:t>z</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.01</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.02</a:t>
                      </a:r>
                    </a:p>
                  </a:txBody>
                  <a:tcPr marL="73025" marR="73025" marT="0" marB="0" anchor="ct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.03</a:t>
                      </a:r>
                    </a:p>
                  </a:txBody>
                  <a:tcPr marL="73025" marR="7302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.04</a:t>
                      </a:r>
                    </a:p>
                  </a:txBody>
                  <a:tcPr marL="73025" marR="73025" marT="0" marB="0" anchor="ct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0"/>
                  </a:ext>
                </a:extLst>
              </a:tr>
              <a:tr h="251662">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1"/>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.5</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.6915</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.6950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.6985</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.7019</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.7054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2"/>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.6</a:t>
                      </a:r>
                    </a:p>
                  </a:txBody>
                  <a:tcPr marL="73025" marR="7302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.7257</a:t>
                      </a:r>
                    </a:p>
                  </a:txBody>
                  <a:tcPr marL="73025" marR="73025" marT="0" marB="0" anchor="ct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.7291</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.7324</a:t>
                      </a:r>
                    </a:p>
                  </a:txBody>
                  <a:tcPr marL="73025" marR="73025" marT="0" marB="0" anchor="ct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.737</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.7389</a:t>
                      </a:r>
                    </a:p>
                  </a:txBody>
                  <a:tcPr marL="73025" marR="73025" marT="0" marB="0" anchor="ct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3"/>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.7</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.7580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.7611</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.7642</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.7673</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.7704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4"/>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.8</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.7881</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.7910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.7939</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.7967</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.7995</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5"/>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.9</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.8159</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.8186</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.8212</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.8238</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.8264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6"/>
                  </a:ext>
                </a:extLst>
              </a:tr>
            </a:tbl>
          </a:graphicData>
        </a:graphic>
      </p:graphicFrame>
      <p:pic>
        <p:nvPicPr>
          <p:cNvPr id="14" name="Content Placeholder 13" descr="A sampling distribution of x overbar for SAT scores. Its in the shape of a bell curve. The median is 1697, sigma subscript x overbar baseline equals 15.96, and an area shaded below an x overbar value of 1707 has the value: .7357.">
            <a:extLst>
              <a:ext uri="{FF2B5EF4-FFF2-40B4-BE49-F238E27FC236}">
                <a16:creationId xmlns:a16="http://schemas.microsoft.com/office/drawing/2014/main" id="{7CF39D2B-1231-4A2F-A53B-F62ABC5B5F34}"/>
              </a:ext>
            </a:extLst>
          </p:cNvPr>
          <p:cNvPicPr>
            <a:picLocks noGrp="1" noChangeAspect="1"/>
          </p:cNvPicPr>
          <p:nvPr>
            <p:ph sz="half" idx="14"/>
          </p:nvPr>
        </p:nvPicPr>
        <p:blipFill>
          <a:blip r:embed="rId3"/>
          <a:stretch>
            <a:fillRect/>
          </a:stretch>
        </p:blipFill>
        <p:spPr>
          <a:xfrm>
            <a:off x="6080919" y="2682721"/>
            <a:ext cx="5534013" cy="3323261"/>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25</a:t>
            </a:fld>
            <a:endParaRPr lang="en-US"/>
          </a:p>
        </p:txBody>
      </p:sp>
    </p:spTree>
    <p:extLst>
      <p:ext uri="{BB962C8B-B14F-4D97-AF65-F5344CB8AC3E}">
        <p14:creationId xmlns:p14="http://schemas.microsoft.com/office/powerpoint/2010/main" val="2127459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(10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half" idx="1"/>
          </p:nvPr>
        </p:nvSpPr>
        <p:spPr>
          <a:xfrm>
            <a:off x="836126" y="1547264"/>
            <a:ext cx="7762184" cy="1316252"/>
          </a:xfrm>
        </p:spPr>
        <p:txBody>
          <a:bodyPr>
            <a:noAutofit/>
          </a:bodyPr>
          <a:lstStyle/>
          <a:p>
            <a:pPr marL="0" indent="0">
              <a:buNone/>
            </a:pPr>
            <a:r>
              <a:rPr lang="en-US" dirty="0">
                <a:solidFill>
                  <a:srgbClr val="000000"/>
                </a:solidFill>
                <a:cs typeface="Arial" panose="020B0604020202020204" pitchFamily="34" charset="0"/>
              </a:rPr>
              <a:t>Example:  St. Andrew’s College</a:t>
            </a:r>
          </a:p>
          <a:p>
            <a:pPr marL="0" lvl="0" indent="0" eaLnBrk="0" fontAlgn="base" hangingPunct="0">
              <a:lnSpc>
                <a:spcPct val="100000"/>
              </a:lnSpc>
              <a:spcBef>
                <a:spcPct val="20000"/>
              </a:spcBef>
              <a:spcAft>
                <a:spcPct val="0"/>
              </a:spcAft>
              <a:buSzPct val="100000"/>
              <a:buNone/>
            </a:pPr>
            <a:r>
              <a:rPr lang="en-US" sz="2000" dirty="0">
                <a:solidFill>
                  <a:srgbClr val="000000"/>
                </a:solidFill>
                <a:cs typeface="Arial" panose="020B0604020202020204" pitchFamily="34" charset="0"/>
              </a:rPr>
              <a:t>Step 3:  Calculate the </a:t>
            </a:r>
            <a:r>
              <a:rPr lang="en-US" sz="2000" i="1" dirty="0">
                <a:solidFill>
                  <a:srgbClr val="000000"/>
                </a:solidFill>
                <a:cs typeface="Arial" panose="020B0604020202020204" pitchFamily="34" charset="0"/>
              </a:rPr>
              <a:t>z</a:t>
            </a:r>
            <a:r>
              <a:rPr lang="en-US" sz="2000" dirty="0">
                <a:solidFill>
                  <a:srgbClr val="000000"/>
                </a:solidFill>
                <a:cs typeface="Arial" panose="020B0604020202020204" pitchFamily="34" charset="0"/>
              </a:rPr>
              <a:t>-value at the </a:t>
            </a:r>
            <a:r>
              <a:rPr lang="en-US" sz="2000" u="sng" dirty="0">
                <a:solidFill>
                  <a:srgbClr val="000000"/>
                </a:solidFill>
                <a:cs typeface="Arial" panose="020B0604020202020204" pitchFamily="34" charset="0"/>
              </a:rPr>
              <a:t>lower</a:t>
            </a:r>
            <a:r>
              <a:rPr lang="en-US" sz="2000" dirty="0">
                <a:solidFill>
                  <a:srgbClr val="000000"/>
                </a:solidFill>
                <a:cs typeface="Arial" panose="020B0604020202020204" pitchFamily="34" charset="0"/>
              </a:rPr>
              <a:t> endpoint of the interval.</a:t>
            </a:r>
          </a:p>
        </p:txBody>
      </p:sp>
      <p:pic>
        <p:nvPicPr>
          <p:cNvPr id="14" name="Content Placeholder 13" descr="Begin equation. Z equals begin fraction left parenthesis 1687 minus 1697 right parenthesis over 15.96 end fraction equals negative 0.63. End equation.">
            <a:extLst>
              <a:ext uri="{FF2B5EF4-FFF2-40B4-BE49-F238E27FC236}">
                <a16:creationId xmlns:a16="http://schemas.microsoft.com/office/drawing/2014/main" id="{7B0C87EA-A0DE-4B2D-ADC2-21AAD301B62F}"/>
              </a:ext>
            </a:extLst>
          </p:cNvPr>
          <p:cNvPicPr>
            <a:picLocks noGrp="1" noChangeAspect="1"/>
          </p:cNvPicPr>
          <p:nvPr>
            <p:ph sz="half" idx="14"/>
          </p:nvPr>
        </p:nvPicPr>
        <p:blipFill>
          <a:blip r:embed="rId3"/>
          <a:stretch>
            <a:fillRect/>
          </a:stretch>
        </p:blipFill>
        <p:spPr>
          <a:xfrm>
            <a:off x="8025273" y="1734050"/>
            <a:ext cx="3532580" cy="845990"/>
          </a:xfrm>
          <a:prstGeom prst="rect">
            <a:avLst/>
          </a:prstGeom>
        </p:spPr>
      </p:pic>
      <p:sp>
        <p:nvSpPr>
          <p:cNvPr id="4" name="Content Placeholder 3"/>
          <p:cNvSpPr>
            <a:spLocks noGrp="1"/>
          </p:cNvSpPr>
          <p:nvPr>
            <p:ph sz="half" idx="2"/>
          </p:nvPr>
        </p:nvSpPr>
        <p:spPr>
          <a:xfrm>
            <a:off x="836125" y="2995499"/>
            <a:ext cx="7894919" cy="1420094"/>
          </a:xfrm>
        </p:spPr>
        <p:txBody>
          <a:bodyPr>
            <a:noAutofit/>
          </a:bodyPr>
          <a:lstStyle/>
          <a:p>
            <a:pPr marL="0" lvl="0" indent="0" eaLnBrk="0" fontAlgn="base" hangingPunct="0">
              <a:lnSpc>
                <a:spcPct val="100000"/>
              </a:lnSpc>
              <a:spcBef>
                <a:spcPct val="0"/>
              </a:spcBef>
              <a:spcAft>
                <a:spcPct val="0"/>
              </a:spcAft>
              <a:buNone/>
            </a:pPr>
            <a:r>
              <a:rPr lang="en-US" sz="2000" dirty="0">
                <a:solidFill>
                  <a:srgbClr val="000000"/>
                </a:solidFill>
                <a:cs typeface="Arial" panose="020B0604020202020204" pitchFamily="34" charset="0"/>
              </a:rPr>
              <a:t>Step 4:  Find the area under the curve to the left of the </a:t>
            </a:r>
            <a:r>
              <a:rPr lang="en-US" sz="2000" u="sng" dirty="0">
                <a:solidFill>
                  <a:srgbClr val="000000"/>
                </a:solidFill>
                <a:cs typeface="Arial" panose="020B0604020202020204" pitchFamily="34" charset="0"/>
              </a:rPr>
              <a:t>lower</a:t>
            </a:r>
            <a:r>
              <a:rPr lang="en-US" sz="2000" dirty="0">
                <a:solidFill>
                  <a:srgbClr val="000000"/>
                </a:solidFill>
                <a:cs typeface="Arial" panose="020B0604020202020204" pitchFamily="34" charset="0"/>
              </a:rPr>
              <a:t> endpoint.</a:t>
            </a:r>
          </a:p>
        </p:txBody>
      </p:sp>
      <p:pic>
        <p:nvPicPr>
          <p:cNvPr id="13" name="Content Placeholder 12" descr="Begin equation. Upper P left parenthesis z is less than or equal to negative 0.63 right parenthesis equals 0.2643. End equation.">
            <a:extLst>
              <a:ext uri="{FF2B5EF4-FFF2-40B4-BE49-F238E27FC236}">
                <a16:creationId xmlns:a16="http://schemas.microsoft.com/office/drawing/2014/main" id="{74CB107D-7F86-465A-AEC5-DFC308661DC6}"/>
              </a:ext>
            </a:extLst>
          </p:cNvPr>
          <p:cNvPicPr>
            <a:picLocks noGrp="1" noChangeAspect="1"/>
          </p:cNvPicPr>
          <p:nvPr>
            <p:ph sz="quarter" idx="13"/>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168714" y="3429000"/>
            <a:ext cx="3150862" cy="504631"/>
          </a:xfrm>
          <a:prstGeom prst="rect">
            <a:avLst/>
          </a:prstGeom>
        </p:spPr>
      </p:pic>
      <p:pic>
        <p:nvPicPr>
          <p:cNvPr id="15" name="Content Placeholder 14" descr="A sampling distribution of x overbar for SAT scores. It is a bell curve. The median is 1697, sigma subscript x overbar baseline equals 15.96, and an area shaded below an x overbar value of 1687 has the value: .2643.">
            <a:extLst>
              <a:ext uri="{FF2B5EF4-FFF2-40B4-BE49-F238E27FC236}">
                <a16:creationId xmlns:a16="http://schemas.microsoft.com/office/drawing/2014/main" id="{BD7E4C58-ABB3-4CFF-A2DF-1A8FFCE24181}"/>
              </a:ext>
            </a:extLst>
          </p:cNvPr>
          <p:cNvPicPr>
            <a:picLocks noGrp="1" noChangeAspect="1"/>
          </p:cNvPicPr>
          <p:nvPr>
            <p:ph sz="half" idx="15"/>
          </p:nvPr>
        </p:nvPicPr>
        <p:blipFill>
          <a:blip r:embed="rId6"/>
          <a:stretch>
            <a:fillRect/>
          </a:stretch>
        </p:blipFill>
        <p:spPr>
          <a:xfrm>
            <a:off x="7447935" y="3417124"/>
            <a:ext cx="4109917" cy="2533157"/>
          </a:xfrm>
          <a:prstGeom prst="rect">
            <a:avLst/>
          </a:prstGeom>
        </p:spPr>
      </p:pic>
      <p:sp>
        <p:nvSpPr>
          <p:cNvPr id="6" name="Slide Number Placeholder 5"/>
          <p:cNvSpPr>
            <a:spLocks noGrp="1"/>
          </p:cNvSpPr>
          <p:nvPr>
            <p:ph type="sldNum" sz="quarter" idx="12"/>
          </p:nvPr>
        </p:nvSpPr>
        <p:spPr/>
        <p:txBody>
          <a:bodyPr/>
          <a:lstStyle/>
          <a:p>
            <a:fld id="{949EBC64-41CB-41B8-B6DF-9B1367312BD4}" type="slidenum">
              <a:rPr lang="en-US" smtClean="0"/>
              <a:pPr/>
              <a:t>26</a:t>
            </a:fld>
            <a:endParaRPr lang="en-US"/>
          </a:p>
        </p:txBody>
      </p:sp>
    </p:spTree>
    <p:extLst>
      <p:ext uri="{BB962C8B-B14F-4D97-AF65-F5344CB8AC3E}">
        <p14:creationId xmlns:p14="http://schemas.microsoft.com/office/powerpoint/2010/main" val="436044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cs typeface="Arial" panose="020B0604020202020204" pitchFamily="34" charset="0"/>
                  </a:rPr>
                  <a:t> for SAT Scores</a:t>
                </a:r>
                <a:endParaRPr lang="en-US" dirty="0"/>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2" name="Content Placeholder 1"/>
          <p:cNvSpPr>
            <a:spLocks noGrp="1"/>
          </p:cNvSpPr>
          <p:nvPr>
            <p:ph sz="half" idx="1"/>
          </p:nvPr>
        </p:nvSpPr>
        <p:spPr/>
        <p:txBody>
          <a:bodyPr/>
          <a:lstStyle/>
          <a:p>
            <a:pPr marL="0" indent="0">
              <a:buNone/>
            </a:pPr>
            <a:r>
              <a:rPr lang="en-US" dirty="0">
                <a:solidFill>
                  <a:srgbClr val="000000"/>
                </a:solidFill>
                <a:cs typeface="Arial" panose="020B0604020202020204" pitchFamily="34" charset="0"/>
              </a:rPr>
              <a:t>Example:  St. Andrew’s College</a:t>
            </a:r>
          </a:p>
        </p:txBody>
      </p:sp>
      <p:sp>
        <p:nvSpPr>
          <p:cNvPr id="3" name="Content Placeholder 2"/>
          <p:cNvSpPr>
            <a:spLocks noGrp="1"/>
          </p:cNvSpPr>
          <p:nvPr>
            <p:ph sz="half" idx="2"/>
          </p:nvPr>
        </p:nvSpPr>
        <p:spPr>
          <a:xfrm>
            <a:off x="836126" y="2115864"/>
            <a:ext cx="10489585" cy="1420094"/>
          </a:xfrm>
        </p:spPr>
        <p:txBody>
          <a:bodyPr>
            <a:noAutofit/>
          </a:bodyPr>
          <a:lstStyle/>
          <a:p>
            <a:pPr marL="0" lvl="0" indent="0" eaLnBrk="0" fontAlgn="base" hangingPunct="0">
              <a:lnSpc>
                <a:spcPct val="100000"/>
              </a:lnSpc>
              <a:spcBef>
                <a:spcPct val="0"/>
              </a:spcBef>
              <a:spcAft>
                <a:spcPct val="0"/>
              </a:spcAft>
              <a:buNone/>
            </a:pPr>
            <a:r>
              <a:rPr lang="en-US" sz="2200" dirty="0">
                <a:solidFill>
                  <a:srgbClr val="000000"/>
                </a:solidFill>
                <a:cs typeface="Arial" panose="020B0604020202020204" pitchFamily="34" charset="0"/>
              </a:rPr>
              <a:t>Step 5:  Calculate the area under the curve between the lower and upper endpoints of the interval.</a:t>
            </a:r>
          </a:p>
          <a:p>
            <a:pPr marL="0" lvl="0" indent="0" eaLnBrk="0" fontAlgn="base" hangingPunct="0">
              <a:lnSpc>
                <a:spcPct val="100000"/>
              </a:lnSpc>
              <a:spcBef>
                <a:spcPct val="0"/>
              </a:spcBef>
              <a:spcAft>
                <a:spcPct val="0"/>
              </a:spcAft>
              <a:buNone/>
            </a:pPr>
            <a:endParaRPr lang="en-US" sz="2200" dirty="0">
              <a:solidFill>
                <a:srgbClr val="000000"/>
              </a:solidFill>
              <a:cs typeface="Arial" panose="020B0604020202020204" pitchFamily="34" charset="0"/>
            </a:endParaRPr>
          </a:p>
        </p:txBody>
      </p:sp>
      <p:pic>
        <p:nvPicPr>
          <p:cNvPr id="13" name="Content Placeholder 12" descr="Begin equation. P left paren negative 0.68 is less than or equal to x is less than or equal to 0.68 right paren equals P left paren z is less than or equal to 0.68 right paren minus P left paren z is less than or equal to negative 0.68 right paren equals 0.7357 minus 0.2643 equals 0.4714. End equation.">
            <a:extLst>
              <a:ext uri="{FF2B5EF4-FFF2-40B4-BE49-F238E27FC236}">
                <a16:creationId xmlns:a16="http://schemas.microsoft.com/office/drawing/2014/main" id="{4B08B112-AE22-465C-A5F3-ADD670EF9075}"/>
              </a:ext>
            </a:extLst>
          </p:cNvPr>
          <p:cNvPicPr>
            <a:picLocks noGrp="1" noChangeAspect="1"/>
          </p:cNvPicPr>
          <p:nvPr>
            <p:ph sz="half" idx="14"/>
          </p:nvPr>
        </p:nvPicPr>
        <p:blipFill>
          <a:blip r:embed="rId3"/>
          <a:stretch>
            <a:fillRect/>
          </a:stretch>
        </p:blipFill>
        <p:spPr>
          <a:xfrm>
            <a:off x="1031747" y="2955107"/>
            <a:ext cx="5506174" cy="1011573"/>
          </a:xfrm>
          <a:prstGeom prst="rect">
            <a:avLst/>
          </a:prstGeom>
        </p:spPr>
      </p:pic>
      <p:sp>
        <p:nvSpPr>
          <p:cNvPr id="4" name="Content Placeholder 3"/>
          <p:cNvSpPr>
            <a:spLocks noGrp="1"/>
          </p:cNvSpPr>
          <p:nvPr>
            <p:ph sz="quarter" idx="13"/>
          </p:nvPr>
        </p:nvSpPr>
        <p:spPr>
          <a:xfrm>
            <a:off x="836127" y="4036937"/>
            <a:ext cx="5023368" cy="1420094"/>
          </a:xfrm>
        </p:spPr>
        <p:txBody>
          <a:bodyPr>
            <a:noAutofit/>
          </a:bodyPr>
          <a:lstStyle/>
          <a:p>
            <a:pPr marL="0" lvl="0" indent="0" eaLnBrk="0" fontAlgn="base" hangingPunct="0">
              <a:lnSpc>
                <a:spcPct val="100000"/>
              </a:lnSpc>
              <a:spcBef>
                <a:spcPct val="0"/>
              </a:spcBef>
              <a:spcAft>
                <a:spcPct val="0"/>
              </a:spcAft>
              <a:buNone/>
            </a:pPr>
            <a:r>
              <a:rPr lang="en-US" sz="2200" dirty="0">
                <a:solidFill>
                  <a:srgbClr val="000000"/>
                </a:solidFill>
                <a:cs typeface="Arial" panose="020B0604020202020204" pitchFamily="34" charset="0"/>
              </a:rPr>
              <a:t>The probability that the estimate of population mean SAT score will be between 1687 and 1707 is:</a:t>
            </a:r>
          </a:p>
          <a:p>
            <a:pPr marL="0" lvl="0" indent="0" eaLnBrk="0" fontAlgn="base" hangingPunct="0">
              <a:lnSpc>
                <a:spcPct val="100000"/>
              </a:lnSpc>
              <a:spcBef>
                <a:spcPct val="0"/>
              </a:spcBef>
              <a:spcAft>
                <a:spcPct val="0"/>
              </a:spcAft>
              <a:buNone/>
            </a:pPr>
            <a:endParaRPr lang="en-US" sz="2200" dirty="0">
              <a:solidFill>
                <a:srgbClr val="000000"/>
              </a:solidFill>
              <a:cs typeface="Arial" panose="020B0604020202020204" pitchFamily="34" charset="0"/>
            </a:endParaRPr>
          </a:p>
          <a:p>
            <a:pPr marL="0" lvl="0" indent="0" eaLnBrk="0" fontAlgn="base" hangingPunct="0">
              <a:lnSpc>
                <a:spcPct val="100000"/>
              </a:lnSpc>
              <a:spcBef>
                <a:spcPct val="0"/>
              </a:spcBef>
              <a:spcAft>
                <a:spcPct val="0"/>
              </a:spcAft>
              <a:buNone/>
            </a:pPr>
            <a:endParaRPr lang="en-US" sz="2200" dirty="0">
              <a:solidFill>
                <a:srgbClr val="000000"/>
              </a:solidFill>
              <a:cs typeface="Arial" panose="020B0604020202020204" pitchFamily="34" charset="0"/>
            </a:endParaRPr>
          </a:p>
        </p:txBody>
      </p:sp>
      <p:pic>
        <p:nvPicPr>
          <p:cNvPr id="15" name="Content Placeholder 14" descr="Begin equation. P left paren 1687 is less than or equal to x overbar is less than or equal to 1707 right paren equals 0.4714. End equation.">
            <a:extLst>
              <a:ext uri="{FF2B5EF4-FFF2-40B4-BE49-F238E27FC236}">
                <a16:creationId xmlns:a16="http://schemas.microsoft.com/office/drawing/2014/main" id="{2A10E033-DB45-42BC-85F1-26F608A0F512}"/>
              </a:ext>
            </a:extLst>
          </p:cNvPr>
          <p:cNvPicPr>
            <a:picLocks noGrp="1" noChangeAspect="1"/>
          </p:cNvPicPr>
          <p:nvPr>
            <p:ph sz="quarter" idx="16"/>
          </p:nvPr>
        </p:nvPicPr>
        <p:blipFill>
          <a:blip r:embed="rId4"/>
          <a:stretch>
            <a:fillRect/>
          </a:stretch>
        </p:blipFill>
        <p:spPr>
          <a:xfrm>
            <a:off x="1947565" y="5117897"/>
            <a:ext cx="3674537" cy="409391"/>
          </a:xfrm>
          <a:prstGeom prst="rect">
            <a:avLst/>
          </a:prstGeom>
        </p:spPr>
      </p:pic>
      <p:pic>
        <p:nvPicPr>
          <p:cNvPr id="14" name="Content Placeholder 13" descr="A sampling distribution of x overbar for SAT scores. The median is 1697, sigma subscript x overbar baseline equals 15.96, and an area shaded between the x overbar values of 1687 and 1707 has the value: .4714.">
            <a:extLst>
              <a:ext uri="{FF2B5EF4-FFF2-40B4-BE49-F238E27FC236}">
                <a16:creationId xmlns:a16="http://schemas.microsoft.com/office/drawing/2014/main" id="{CAE45ADA-047D-427C-9617-FB407C67F7A7}"/>
              </a:ext>
            </a:extLst>
          </p:cNvPr>
          <p:cNvPicPr>
            <a:picLocks noGrp="1" noChangeAspect="1"/>
          </p:cNvPicPr>
          <p:nvPr>
            <p:ph sz="half" idx="15"/>
          </p:nvPr>
        </p:nvPicPr>
        <p:blipFill>
          <a:blip r:embed="rId5"/>
          <a:stretch>
            <a:fillRect/>
          </a:stretch>
        </p:blipFill>
        <p:spPr>
          <a:xfrm>
            <a:off x="6690248" y="2645313"/>
            <a:ext cx="4636419" cy="3106558"/>
          </a:xfrm>
          <a:prstGeom prst="rect">
            <a:avLst/>
          </a:prstGeom>
        </p:spPr>
      </p:pic>
      <p:sp>
        <p:nvSpPr>
          <p:cNvPr id="5" name="Slide Number Placeholder 4"/>
          <p:cNvSpPr>
            <a:spLocks noGrp="1"/>
          </p:cNvSpPr>
          <p:nvPr>
            <p:ph type="sldNum" sz="quarter" idx="12"/>
          </p:nvPr>
        </p:nvSpPr>
        <p:spPr/>
        <p:txBody>
          <a:bodyPr/>
          <a:lstStyle/>
          <a:p>
            <a:fld id="{949EBC64-41CB-41B8-B6DF-9B1367312BD4}" type="slidenum">
              <a:rPr lang="en-US" smtClean="0"/>
              <a:pPr/>
              <a:t>27</a:t>
            </a:fld>
            <a:endParaRPr lang="en-US"/>
          </a:p>
        </p:txBody>
      </p:sp>
    </p:spTree>
    <p:extLst>
      <p:ext uri="{BB962C8B-B14F-4D97-AF65-F5344CB8AC3E}">
        <p14:creationId xmlns:p14="http://schemas.microsoft.com/office/powerpoint/2010/main" val="1848316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6127" y="640081"/>
                <a:ext cx="10489585" cy="770778"/>
              </a:xfrm>
            </p:spPr>
            <p:txBody>
              <a:bodyPr anchor="t" anchorCtr="0">
                <a:noAutofit/>
              </a:bodyPr>
              <a:lstStyle/>
              <a:p>
                <a:r>
                  <a:rPr lang="en-US" dirty="0">
                    <a:cs typeface="Arial" panose="020B0604020202020204" pitchFamily="34" charset="0"/>
                  </a:rPr>
                  <a:t>Relationship Between the Sample Size and the 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(1 of 4)</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6127" y="640081"/>
                <a:ext cx="10489585" cy="770778"/>
              </a:xfrm>
              <a:blipFill>
                <a:blip r:embed="rId2"/>
                <a:stretch>
                  <a:fillRect l="-1453" t="-16667" b="-53175"/>
                </a:stretch>
              </a:blipFill>
            </p:spPr>
            <p:txBody>
              <a:bodyPr/>
              <a:lstStyle/>
              <a:p>
                <a:r>
                  <a:rPr lang="en-US">
                    <a:noFill/>
                  </a:rPr>
                  <a:t> </a:t>
                </a:r>
              </a:p>
            </p:txBody>
          </p:sp>
        </mc:Fallback>
      </mc:AlternateContent>
      <p:sp>
        <p:nvSpPr>
          <p:cNvPr id="3" name="Content Placeholder 2"/>
          <p:cNvSpPr>
            <a:spLocks noGrp="1"/>
          </p:cNvSpPr>
          <p:nvPr>
            <p:ph sz="half" idx="1"/>
          </p:nvPr>
        </p:nvSpPr>
        <p:spPr>
          <a:xfrm>
            <a:off x="836126" y="1807077"/>
            <a:ext cx="10489584" cy="1316252"/>
          </a:xfrm>
        </p:spPr>
        <p:txBody>
          <a:bodyPr>
            <a:noAutofit/>
          </a:bodyPr>
          <a:lstStyle/>
          <a:p>
            <a:pPr marL="0" indent="0">
              <a:lnSpc>
                <a:spcPct val="100000"/>
              </a:lnSpc>
              <a:buNone/>
            </a:pPr>
            <a:r>
              <a:rPr lang="en-US" dirty="0">
                <a:solidFill>
                  <a:srgbClr val="000000"/>
                </a:solidFill>
                <a:cs typeface="Arial" panose="020B0604020202020204" pitchFamily="34" charset="0"/>
              </a:rPr>
              <a:t>Example:  St. Andrew’s College</a:t>
            </a:r>
          </a:p>
          <a:p>
            <a:pPr marL="228600" lvl="1">
              <a:lnSpc>
                <a:spcPct val="100000"/>
              </a:lnSpc>
              <a:spcAft>
                <a:spcPts val="6000"/>
              </a:spcAft>
            </a:pPr>
            <a:r>
              <a:rPr lang="en-US" dirty="0">
                <a:solidFill>
                  <a:srgbClr val="000000"/>
                </a:solidFill>
                <a:cs typeface="Arial" panose="020B0604020202020204" pitchFamily="34" charset="0"/>
              </a:rPr>
              <a:t>Suppose we select a simple random sample of 100 applicants instead of the 30 originally considered.</a:t>
            </a:r>
          </a:p>
          <a:p>
            <a:pPr marL="457200" lvl="1" indent="0" algn="ctr">
              <a:lnSpc>
                <a:spcPct val="100000"/>
              </a:lnSpc>
              <a:spcAft>
                <a:spcPts val="1200"/>
              </a:spcAft>
              <a:buNone/>
            </a:pPr>
            <a:endParaRPr lang="en-US" dirty="0">
              <a:solidFill>
                <a:srgbClr val="000000"/>
              </a:solidFill>
              <a:cs typeface="Arial" panose="020B0604020202020204" pitchFamily="34" charset="0"/>
            </a:endParaRPr>
          </a:p>
        </p:txBody>
      </p:sp>
      <p:pic>
        <p:nvPicPr>
          <p:cNvPr id="15" name="Content Placeholder 14" descr="E left parenthesis x overbar right parenthesis equals mu, regardless of the sample size. In our example, E left parenthesis x overbar right parenthesis remains at 1697.">
            <a:extLst>
              <a:ext uri="{FF2B5EF4-FFF2-40B4-BE49-F238E27FC236}">
                <a16:creationId xmlns:a16="http://schemas.microsoft.com/office/drawing/2014/main" id="{5D96C380-7575-4BE1-BBEC-C58F65BFAA42}"/>
              </a:ext>
            </a:extLst>
          </p:cNvPr>
          <p:cNvPicPr>
            <a:picLocks noGrp="1" noChangeAspect="1"/>
          </p:cNvPicPr>
          <p:nvPr>
            <p:ph sz="half" idx="2"/>
          </p:nvPr>
        </p:nvPicPr>
        <p:blipFill>
          <a:blip r:embed="rId3"/>
          <a:stretch>
            <a:fillRect/>
          </a:stretch>
        </p:blipFill>
        <p:spPr>
          <a:xfrm>
            <a:off x="722028" y="2931187"/>
            <a:ext cx="10489583" cy="678589"/>
          </a:xfrm>
          <a:prstGeom prst="rect">
            <a:avLst/>
          </a:prstGeom>
        </p:spPr>
      </p:pic>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6F6F5EC8-9B9A-4F95-A866-9C4F6DEF3F49}"/>
                  </a:ext>
                </a:extLst>
              </p:cNvPr>
              <p:cNvSpPr>
                <a:spLocks noGrp="1"/>
              </p:cNvSpPr>
              <p:nvPr>
                <p:ph sz="quarter" idx="13"/>
              </p:nvPr>
            </p:nvSpPr>
            <p:spPr>
              <a:xfrm>
                <a:off x="836126" y="3625158"/>
                <a:ext cx="10310172" cy="1420094"/>
              </a:xfrm>
            </p:spPr>
            <p:txBody>
              <a:bodyPr>
                <a:noAutofit/>
              </a:bodyPr>
              <a:lstStyle/>
              <a:p>
                <a:r>
                  <a:rPr lang="en-US" sz="2400" dirty="0">
                    <a:solidFill>
                      <a:srgbClr val="000000"/>
                    </a:solidFill>
                    <a:cs typeface="Arial" panose="020B0604020202020204" pitchFamily="34" charset="0"/>
                  </a:rPr>
                  <a:t>Whenever the sample size is increased, the standard error of the mean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ea typeface="Cambria Math"/>
                          </a:rPr>
                          <m:t>𝜎</m:t>
                        </m:r>
                      </m:e>
                      <m:sub>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𝑥</m:t>
                            </m:r>
                          </m:e>
                        </m:acc>
                      </m:sub>
                    </m:sSub>
                  </m:oMath>
                </a14:m>
                <a:r>
                  <a:rPr lang="en-US" sz="2400" dirty="0">
                    <a:solidFill>
                      <a:srgbClr val="000000"/>
                    </a:solidFill>
                    <a:cs typeface="Arial" panose="020B0604020202020204" pitchFamily="34" charset="0"/>
                  </a:rPr>
                  <a:t> is decreased. With the increase in the sample size to </a:t>
                </a:r>
                <a:r>
                  <a:rPr lang="en-US" sz="2400" i="1" dirty="0">
                    <a:solidFill>
                      <a:srgbClr val="000000"/>
                    </a:solidFill>
                    <a:cs typeface="Arial" panose="020B0604020202020204" pitchFamily="34" charset="0"/>
                  </a:rPr>
                  <a:t>n</a:t>
                </a:r>
                <a:r>
                  <a:rPr lang="en-US" sz="2400" dirty="0">
                    <a:solidFill>
                      <a:srgbClr val="000000"/>
                    </a:solidFill>
                    <a:cs typeface="Arial" panose="020B0604020202020204" pitchFamily="34" charset="0"/>
                  </a:rPr>
                  <a:t> = 100, the standard error of the mean is decreased from 15.96 to:</a:t>
                </a:r>
              </a:p>
              <a:p>
                <a:endParaRPr lang="en-US" sz="2400" dirty="0"/>
              </a:p>
            </p:txBody>
          </p:sp>
        </mc:Choice>
        <mc:Fallback xmlns="">
          <p:sp>
            <p:nvSpPr>
              <p:cNvPr id="11" name="Content Placeholder 10">
                <a:extLst>
                  <a:ext uri="{FF2B5EF4-FFF2-40B4-BE49-F238E27FC236}">
                    <a16:creationId xmlns:a16="http://schemas.microsoft.com/office/drawing/2014/main" id="{6F6F5EC8-9B9A-4F95-A866-9C4F6DEF3F49}"/>
                  </a:ext>
                </a:extLst>
              </p:cNvPr>
              <p:cNvSpPr>
                <a:spLocks noGrp="1" noRot="1" noChangeAspect="1" noMove="1" noResize="1" noEditPoints="1" noAdjustHandles="1" noChangeArrowheads="1" noChangeShapeType="1" noTextEdit="1"/>
              </p:cNvSpPr>
              <p:nvPr>
                <p:ph sz="quarter" idx="13"/>
              </p:nvPr>
            </p:nvSpPr>
            <p:spPr>
              <a:xfrm>
                <a:off x="836126" y="3625158"/>
                <a:ext cx="10310172" cy="1420094"/>
              </a:xfrm>
              <a:blipFill>
                <a:blip r:embed="rId4"/>
                <a:stretch>
                  <a:fillRect l="-769" t="-6009"/>
                </a:stretch>
              </a:blipFill>
            </p:spPr>
            <p:txBody>
              <a:bodyPr/>
              <a:lstStyle/>
              <a:p>
                <a:r>
                  <a:rPr lang="en-US">
                    <a:noFill/>
                  </a:rPr>
                  <a:t> </a:t>
                </a:r>
              </a:p>
            </p:txBody>
          </p:sp>
        </mc:Fallback>
      </mc:AlternateContent>
      <p:pic>
        <p:nvPicPr>
          <p:cNvPr id="16" name="Content Placeholder 15" descr="An equation. Begin equation. Sigma subscript x overbar baseline equals start root start fraction upper N minus n over upper N minus 1 end fraction end root left parenthesis start fraction sigma over start root n end root end fraction right parenthesis equals start root start fraction 900 minus 100 over 900 minus 1 end fraction end root left parenthesis start fraction 87.4 over start root 100 end root end fraction right parenthesis equals 0.9433 left parenthesis 8.74 right parenthesis equals 8.2. End equation.">
            <a:extLst>
              <a:ext uri="{FF2B5EF4-FFF2-40B4-BE49-F238E27FC236}">
                <a16:creationId xmlns:a16="http://schemas.microsoft.com/office/drawing/2014/main" id="{B1467C57-285A-43ED-9ABB-20B90C3499BC}"/>
              </a:ext>
            </a:extLst>
          </p:cNvPr>
          <p:cNvPicPr>
            <a:picLocks noGrp="1" noChangeAspect="1"/>
          </p:cNvPicPr>
          <p:nvPr>
            <p:ph sz="half" idx="14"/>
          </p:nvPr>
        </p:nvPicPr>
        <p:blipFill>
          <a:blip r:embed="rId5"/>
          <a:stretch>
            <a:fillRect/>
          </a:stretch>
        </p:blipFill>
        <p:spPr>
          <a:xfrm>
            <a:off x="1772550" y="4733886"/>
            <a:ext cx="8616735" cy="1159139"/>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28</a:t>
            </a:fld>
            <a:endParaRPr lang="en-US"/>
          </a:p>
        </p:txBody>
      </p:sp>
    </p:spTree>
    <p:extLst>
      <p:ext uri="{BB962C8B-B14F-4D97-AF65-F5344CB8AC3E}">
        <p14:creationId xmlns:p14="http://schemas.microsoft.com/office/powerpoint/2010/main" val="1021766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6127" y="640081"/>
                <a:ext cx="10489585" cy="879003"/>
              </a:xfrm>
            </p:spPr>
            <p:txBody>
              <a:bodyPr anchor="t" anchorCtr="0">
                <a:noAutofit/>
              </a:bodyPr>
              <a:lstStyle/>
              <a:p>
                <a:r>
                  <a:rPr lang="en-US" dirty="0">
                    <a:cs typeface="Arial" panose="020B0604020202020204" pitchFamily="34" charset="0"/>
                  </a:rPr>
                  <a:t>Relationship Between the Sample Size and the 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(2 of 4)</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6127" y="640081"/>
                <a:ext cx="10489585" cy="879003"/>
              </a:xfrm>
              <a:blipFill>
                <a:blip r:embed="rId2"/>
                <a:stretch>
                  <a:fillRect l="-1453" t="-14583" b="-34028"/>
                </a:stretch>
              </a:blipFill>
            </p:spPr>
            <p:txBody>
              <a:bodyPr/>
              <a:lstStyle/>
              <a:p>
                <a:r>
                  <a:rPr lang="en-US">
                    <a:noFill/>
                  </a:rPr>
                  <a:t> </a:t>
                </a:r>
              </a:p>
            </p:txBody>
          </p:sp>
        </mc:Fallback>
      </mc:AlternateContent>
      <p:sp>
        <p:nvSpPr>
          <p:cNvPr id="3" name="Content Placeholder 2"/>
          <p:cNvSpPr>
            <a:spLocks noGrp="1"/>
          </p:cNvSpPr>
          <p:nvPr>
            <p:ph sz="half" idx="1"/>
          </p:nvPr>
        </p:nvSpPr>
        <p:spPr>
          <a:xfrm>
            <a:off x="836127" y="1810512"/>
            <a:ext cx="10489585" cy="1316252"/>
          </a:xfrm>
        </p:spPr>
        <p:txBody>
          <a:bodyPr/>
          <a:lstStyle/>
          <a:p>
            <a:pPr marL="0" indent="0">
              <a:buNone/>
            </a:pPr>
            <a:r>
              <a:rPr lang="en-US" dirty="0">
                <a:solidFill>
                  <a:srgbClr val="000000"/>
                </a:solidFill>
                <a:cs typeface="Arial" panose="020B0604020202020204" pitchFamily="34" charset="0"/>
              </a:rPr>
              <a:t>Example:  St. Andrew’s College</a:t>
            </a:r>
          </a:p>
        </p:txBody>
      </p:sp>
      <p:pic>
        <p:nvPicPr>
          <p:cNvPr id="11" name="Content Placeholder 10" descr="Two super imposed distribution curves with the same median and different sample sizes and sigma subscript x overbar baseline values. The narrow curve with a higher peak has the following values: n equals 100 and sigma subscript x overbar baseline equals 8.2. The wider curve with a shorter peak has the following values: n equals 30 and sigma subscript x overbar baseline equals 15.96. E left parenthesis x overbar right parenthesis equals 1697.">
            <a:extLst>
              <a:ext uri="{FF2B5EF4-FFF2-40B4-BE49-F238E27FC236}">
                <a16:creationId xmlns:a16="http://schemas.microsoft.com/office/drawing/2014/main" id="{778A5039-F6CC-428D-B906-C9E25538DB09}"/>
              </a:ext>
            </a:extLst>
          </p:cNvPr>
          <p:cNvPicPr>
            <a:picLocks noGrp="1" noChangeAspect="1"/>
          </p:cNvPicPr>
          <p:nvPr>
            <p:ph sz="half" idx="2"/>
          </p:nvPr>
        </p:nvPicPr>
        <p:blipFill rotWithShape="1">
          <a:blip r:embed="rId3"/>
          <a:srcRect t="7707"/>
          <a:stretch/>
        </p:blipFill>
        <p:spPr>
          <a:xfrm>
            <a:off x="2878232" y="2507226"/>
            <a:ext cx="6405373" cy="3614593"/>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29</a:t>
            </a:fld>
            <a:endParaRPr lang="en-US"/>
          </a:p>
        </p:txBody>
      </p:sp>
    </p:spTree>
    <p:extLst>
      <p:ext uri="{BB962C8B-B14F-4D97-AF65-F5344CB8AC3E}">
        <p14:creationId xmlns:p14="http://schemas.microsoft.com/office/powerpoint/2010/main" val="1484396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a:xfrm>
                <a:off x="836127" y="640081"/>
                <a:ext cx="10489585" cy="1316252"/>
              </a:xfrm>
            </p:spPr>
            <p:txBody>
              <a:bodyPr anchor="t" anchorCtr="0">
                <a:noAutofit/>
              </a:bodyPr>
              <a:lstStyle/>
              <a:p>
                <a:r>
                  <a:rPr lang="en-US" dirty="0">
                    <a:cs typeface="Arial" panose="020B0604020202020204" pitchFamily="34" charset="0"/>
                  </a:rPr>
                  <a:t>Relationship Between the Sample Size and the 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(3 of 4)</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xfrm>
                <a:off x="836127" y="640081"/>
                <a:ext cx="10489585" cy="1316252"/>
              </a:xfrm>
              <a:blipFill>
                <a:blip r:embed="rId2"/>
                <a:stretch>
                  <a:fillRect l="-1453" t="-9722"/>
                </a:stretch>
              </a:blipFill>
            </p:spPr>
            <p:txBody>
              <a:bodyPr/>
              <a:lstStyle/>
              <a:p>
                <a:r>
                  <a:rPr lang="en-US">
                    <a:noFill/>
                  </a:rPr>
                  <a:t> </a:t>
                </a:r>
              </a:p>
            </p:txBody>
          </p:sp>
        </mc:Fallback>
      </mc:AlternateContent>
      <p:sp>
        <p:nvSpPr>
          <p:cNvPr id="2" name="Content Placeholder 1"/>
          <p:cNvSpPr>
            <a:spLocks noGrp="1"/>
          </p:cNvSpPr>
          <p:nvPr>
            <p:ph sz="half" idx="1"/>
          </p:nvPr>
        </p:nvSpPr>
        <p:spPr>
          <a:xfrm>
            <a:off x="836126" y="1810512"/>
            <a:ext cx="5023368" cy="1316252"/>
          </a:xfrm>
        </p:spPr>
        <p:txBody>
          <a:bodyPr>
            <a:noAutofit/>
          </a:bodyPr>
          <a:lstStyle/>
          <a:p>
            <a:pPr marL="0" indent="0">
              <a:lnSpc>
                <a:spcPct val="100000"/>
              </a:lnSpc>
              <a:spcAft>
                <a:spcPts val="1200"/>
              </a:spcAft>
              <a:buNone/>
            </a:pPr>
            <a:r>
              <a:rPr lang="en-US" dirty="0">
                <a:solidFill>
                  <a:srgbClr val="000000"/>
                </a:solidFill>
                <a:cs typeface="Arial" panose="020B0604020202020204" pitchFamily="34" charset="0"/>
              </a:rPr>
              <a:t>Example:  St. Andrew’s College</a:t>
            </a:r>
          </a:p>
        </p:txBody>
      </p:sp>
      <p:pic>
        <p:nvPicPr>
          <p:cNvPr id="14" name="Content Placeholder 13" descr="Recall that when n equals 30, upper P left parenthesis 1687 is less than or equal to x overbar is less than or equal to 1707 right parenthesis equals .4714.">
            <a:extLst>
              <a:ext uri="{FF2B5EF4-FFF2-40B4-BE49-F238E27FC236}">
                <a16:creationId xmlns:a16="http://schemas.microsoft.com/office/drawing/2014/main" id="{3E1ED3ED-8394-4C46-9D7B-8EBB8FA5A7D8}"/>
              </a:ext>
            </a:extLst>
          </p:cNvPr>
          <p:cNvPicPr>
            <a:picLocks noGrp="1" noChangeAspect="1"/>
          </p:cNvPicPr>
          <p:nvPr>
            <p:ph sz="half" idx="2"/>
          </p:nvPr>
        </p:nvPicPr>
        <p:blipFill rotWithShape="1">
          <a:blip r:embed="rId3"/>
          <a:srcRect t="14336" b="27189"/>
          <a:stretch/>
        </p:blipFill>
        <p:spPr>
          <a:xfrm>
            <a:off x="836612" y="2468637"/>
            <a:ext cx="9021415" cy="346761"/>
          </a:xfrm>
          <a:prstGeom prst="rect">
            <a:avLst/>
          </a:prstGeom>
        </p:spPr>
      </p:pic>
      <p:pic>
        <p:nvPicPr>
          <p:cNvPr id="15" name="Content Placeholder 14" descr="We follow the same steps to solve for upper P left parenthesis 1687 is less than or equal to x overbar is less than or equal to 1707 right parenthesis when n equals 100 as we showed earlier when n equals 30.">
            <a:extLst>
              <a:ext uri="{FF2B5EF4-FFF2-40B4-BE49-F238E27FC236}">
                <a16:creationId xmlns:a16="http://schemas.microsoft.com/office/drawing/2014/main" id="{10975510-71C4-47B9-B085-BD471BA4D618}"/>
              </a:ext>
            </a:extLst>
          </p:cNvPr>
          <p:cNvPicPr>
            <a:picLocks noGrp="1" noChangeAspect="1"/>
          </p:cNvPicPr>
          <p:nvPr>
            <p:ph sz="quarter" idx="13"/>
          </p:nvPr>
        </p:nvPicPr>
        <p:blipFill rotWithShape="1">
          <a:blip r:embed="rId4"/>
          <a:srcRect t="13118" b="18341"/>
          <a:stretch/>
        </p:blipFill>
        <p:spPr>
          <a:xfrm>
            <a:off x="836613" y="3053181"/>
            <a:ext cx="9097240" cy="628047"/>
          </a:xfrm>
          <a:prstGeom prst="rect">
            <a:avLst/>
          </a:prstGeom>
        </p:spPr>
      </p:pic>
      <p:pic>
        <p:nvPicPr>
          <p:cNvPr id="16" name="Content Placeholder 15" descr="Now, with n equals 100, upper P left parenthesis 1687 is less than or equal to x overbar is less than or equal to 1707 right parenthesis equals .7776.">
            <a:extLst>
              <a:ext uri="{FF2B5EF4-FFF2-40B4-BE49-F238E27FC236}">
                <a16:creationId xmlns:a16="http://schemas.microsoft.com/office/drawing/2014/main" id="{D81E311F-1728-4885-8AE3-2303102FF69C}"/>
              </a:ext>
            </a:extLst>
          </p:cNvPr>
          <p:cNvPicPr>
            <a:picLocks noGrp="1" noChangeAspect="1"/>
          </p:cNvPicPr>
          <p:nvPr>
            <p:ph sz="half" idx="14"/>
          </p:nvPr>
        </p:nvPicPr>
        <p:blipFill rotWithShape="1">
          <a:blip r:embed="rId5"/>
          <a:srcRect t="14073" b="23217"/>
          <a:stretch/>
        </p:blipFill>
        <p:spPr>
          <a:xfrm>
            <a:off x="790127" y="3828147"/>
            <a:ext cx="9067413" cy="369412"/>
          </a:xfrm>
          <a:prstGeom prst="rect">
            <a:avLst/>
          </a:prstGeom>
        </p:spPr>
      </p:pic>
      <p:pic>
        <p:nvPicPr>
          <p:cNvPr id="17" name="Content Placeholder 16" descr="Because the sampling distribution with n equal 100 has smaller standard error, the values of x overbar have less variability and tend to be closer to the population mean than the values of x overbar with n equal 30. ">
            <a:extLst>
              <a:ext uri="{FF2B5EF4-FFF2-40B4-BE49-F238E27FC236}">
                <a16:creationId xmlns:a16="http://schemas.microsoft.com/office/drawing/2014/main" id="{0B890EAF-A7AE-4A8E-9C3C-7D9BE729D147}"/>
              </a:ext>
            </a:extLst>
          </p:cNvPr>
          <p:cNvPicPr>
            <a:picLocks noGrp="1" noChangeAspect="1"/>
          </p:cNvPicPr>
          <p:nvPr>
            <p:ph sz="half" idx="15"/>
          </p:nvPr>
        </p:nvPicPr>
        <p:blipFill>
          <a:blip r:embed="rId6"/>
          <a:stretch>
            <a:fillRect/>
          </a:stretch>
        </p:blipFill>
        <p:spPr>
          <a:xfrm>
            <a:off x="909863" y="4390942"/>
            <a:ext cx="9001125" cy="1071563"/>
          </a:xfrm>
          <a:prstGeom prst="rect">
            <a:avLst/>
          </a:prstGeom>
        </p:spPr>
      </p:pic>
      <p:sp>
        <p:nvSpPr>
          <p:cNvPr id="5" name="Slide Number Placeholder 4"/>
          <p:cNvSpPr>
            <a:spLocks noGrp="1"/>
          </p:cNvSpPr>
          <p:nvPr>
            <p:ph type="sldNum" sz="quarter" idx="12"/>
          </p:nvPr>
        </p:nvSpPr>
        <p:spPr/>
        <p:txBody>
          <a:bodyPr/>
          <a:lstStyle/>
          <a:p>
            <a:fld id="{949EBC64-41CB-41B8-B6DF-9B1367312BD4}" type="slidenum">
              <a:rPr lang="en-US" smtClean="0"/>
              <a:pPr/>
              <a:t>30</a:t>
            </a:fld>
            <a:endParaRPr lang="en-US"/>
          </a:p>
        </p:txBody>
      </p:sp>
    </p:spTree>
    <p:extLst>
      <p:ext uri="{BB962C8B-B14F-4D97-AF65-F5344CB8AC3E}">
        <p14:creationId xmlns:p14="http://schemas.microsoft.com/office/powerpoint/2010/main" val="2921129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6127" y="640081"/>
                <a:ext cx="10489585" cy="1170431"/>
              </a:xfrm>
            </p:spPr>
            <p:txBody>
              <a:bodyPr anchor="t" anchorCtr="0">
                <a:noAutofit/>
              </a:bodyPr>
              <a:lstStyle/>
              <a:p>
                <a:r>
                  <a:rPr lang="en-US" dirty="0">
                    <a:cs typeface="Arial" panose="020B0604020202020204" pitchFamily="34" charset="0"/>
                  </a:rPr>
                  <a:t>Relationship Between the Sample Size and the 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dirty="0"/>
                  <a:t> </a:t>
                </a:r>
                <a:r>
                  <a:rPr lang="en-US" sz="1600" dirty="0"/>
                  <a:t>(4 of 4)</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6127" y="640081"/>
                <a:ext cx="10489585" cy="1170431"/>
              </a:xfrm>
              <a:blipFill>
                <a:blip r:embed="rId2"/>
                <a:stretch>
                  <a:fillRect l="-1453" t="-10938" b="-521"/>
                </a:stretch>
              </a:blipFill>
            </p:spPr>
            <p:txBody>
              <a:bodyPr/>
              <a:lstStyle/>
              <a:p>
                <a:r>
                  <a:rPr lang="en-US">
                    <a:noFill/>
                  </a:rPr>
                  <a:t> </a:t>
                </a:r>
              </a:p>
            </p:txBody>
          </p:sp>
        </mc:Fallback>
      </mc:AlternateContent>
      <p:sp>
        <p:nvSpPr>
          <p:cNvPr id="3" name="Content Placeholder 2"/>
          <p:cNvSpPr>
            <a:spLocks noGrp="1"/>
          </p:cNvSpPr>
          <p:nvPr>
            <p:ph sz="half" idx="1"/>
          </p:nvPr>
        </p:nvSpPr>
        <p:spPr>
          <a:xfrm>
            <a:off x="836127" y="1810512"/>
            <a:ext cx="10489585" cy="1316252"/>
          </a:xfrm>
        </p:spPr>
        <p:txBody>
          <a:bodyPr/>
          <a:lstStyle/>
          <a:p>
            <a:pPr marL="0" indent="0">
              <a:buNone/>
            </a:pPr>
            <a:r>
              <a:rPr lang="en-US" dirty="0">
                <a:solidFill>
                  <a:srgbClr val="000000"/>
                </a:solidFill>
                <a:cs typeface="Arial" panose="020B0604020202020204" pitchFamily="34" charset="0"/>
              </a:rPr>
              <a:t>Example:  St. Andrew’s College</a:t>
            </a:r>
          </a:p>
        </p:txBody>
      </p:sp>
      <p:pic>
        <p:nvPicPr>
          <p:cNvPr id="8" name="Content Placeholder 7" descr="A sampling distribution of x overbar for SAT scores. The median is 1697, sigma subscript x overbar baseline equals 8.2, and an area shaded between the x overbar values of 1687 and 1707 has the value: .7776.">
            <a:extLst>
              <a:ext uri="{FF2B5EF4-FFF2-40B4-BE49-F238E27FC236}">
                <a16:creationId xmlns:a16="http://schemas.microsoft.com/office/drawing/2014/main" id="{30CDA3AD-FD2A-43B2-ACA1-CC1F5067A299}"/>
              </a:ext>
            </a:extLst>
          </p:cNvPr>
          <p:cNvPicPr>
            <a:picLocks noGrp="1" noChangeAspect="1"/>
          </p:cNvPicPr>
          <p:nvPr>
            <p:ph sz="half" idx="2"/>
          </p:nvPr>
        </p:nvPicPr>
        <p:blipFill>
          <a:blip r:embed="rId3"/>
          <a:stretch>
            <a:fillRect/>
          </a:stretch>
        </p:blipFill>
        <p:spPr>
          <a:xfrm>
            <a:off x="2932138" y="2395862"/>
            <a:ext cx="6297562" cy="3740941"/>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31</a:t>
            </a:fld>
            <a:endParaRPr lang="en-US"/>
          </a:p>
        </p:txBody>
      </p:sp>
    </p:spTree>
    <p:extLst>
      <p:ext uri="{BB962C8B-B14F-4D97-AF65-F5344CB8AC3E}">
        <p14:creationId xmlns:p14="http://schemas.microsoft.com/office/powerpoint/2010/main" val="3957497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(1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half" idx="1"/>
          </p:nvPr>
        </p:nvSpPr>
        <p:spPr/>
        <p:txBody>
          <a:bodyPr/>
          <a:lstStyle/>
          <a:p>
            <a:pPr marL="0" indent="0">
              <a:buNone/>
            </a:pPr>
            <a:r>
              <a:rPr lang="en-US" dirty="0">
                <a:solidFill>
                  <a:srgbClr val="000000"/>
                </a:solidFill>
                <a:cs typeface="Arial" panose="020B0604020202020204" pitchFamily="34" charset="0"/>
              </a:rPr>
              <a:t>Making Inferences about a Population Proportion</a:t>
            </a:r>
          </a:p>
        </p:txBody>
      </p:sp>
      <p:pic>
        <p:nvPicPr>
          <p:cNvPr id="8" name="Content Placeholder 7" descr="A flow diagram for making inferences about a population proportion. Population with proportion unknown leads to a simple random sample of n elements that is selected from the population, then the sample data provides a value for the sample proportion p overbar, and finally, the value of p overbar is used to make inferences about the value of p.">
            <a:extLst>
              <a:ext uri="{FF2B5EF4-FFF2-40B4-BE49-F238E27FC236}">
                <a16:creationId xmlns:a16="http://schemas.microsoft.com/office/drawing/2014/main" id="{EDB3E507-A6CB-4921-9C3D-EB73DC005CAA}"/>
              </a:ext>
            </a:extLst>
          </p:cNvPr>
          <p:cNvPicPr>
            <a:picLocks noGrp="1" noChangeAspect="1"/>
          </p:cNvPicPr>
          <p:nvPr>
            <p:ph sz="half" idx="2"/>
          </p:nvPr>
        </p:nvPicPr>
        <p:blipFill>
          <a:blip r:embed="rId3"/>
          <a:stretch>
            <a:fillRect/>
          </a:stretch>
        </p:blipFill>
        <p:spPr>
          <a:xfrm>
            <a:off x="1531658" y="2168923"/>
            <a:ext cx="9098522" cy="3651124"/>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32</a:t>
            </a:fld>
            <a:endParaRPr lang="en-US"/>
          </a:p>
        </p:txBody>
      </p:sp>
    </p:spTree>
    <p:extLst>
      <p:ext uri="{BB962C8B-B14F-4D97-AF65-F5344CB8AC3E}">
        <p14:creationId xmlns:p14="http://schemas.microsoft.com/office/powerpoint/2010/main" val="1393770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(2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pic>
        <p:nvPicPr>
          <p:cNvPr id="10" name="Content Placeholder 9" descr="The sampling distribution of p overbar is the probability distribution of all possible values of the sample proportion p overbar. Expected values of p overbar. ">
            <a:extLst>
              <a:ext uri="{FF2B5EF4-FFF2-40B4-BE49-F238E27FC236}">
                <a16:creationId xmlns:a16="http://schemas.microsoft.com/office/drawing/2014/main" id="{70CF803E-D5A4-4018-822E-E8047F4E152A}"/>
              </a:ext>
            </a:extLst>
          </p:cNvPr>
          <p:cNvPicPr>
            <a:picLocks noGrp="1" noChangeAspect="1"/>
          </p:cNvPicPr>
          <p:nvPr>
            <p:ph sz="quarter" idx="13"/>
          </p:nvPr>
        </p:nvPicPr>
        <p:blipFill>
          <a:blip r:embed="rId3"/>
          <a:stretch>
            <a:fillRect/>
          </a:stretch>
        </p:blipFill>
        <p:spPr>
          <a:xfrm>
            <a:off x="992345" y="1545336"/>
            <a:ext cx="9691481" cy="1124339"/>
          </a:xfrm>
          <a:prstGeom prst="rect">
            <a:avLst/>
          </a:prstGeom>
        </p:spPr>
      </p:pic>
      <p:pic>
        <p:nvPicPr>
          <p:cNvPr id="9" name="Content Placeholder 8" descr="Begin equation. E left paren p overbar right paren equals p. End equation.">
            <a:extLst>
              <a:ext uri="{FF2B5EF4-FFF2-40B4-BE49-F238E27FC236}">
                <a16:creationId xmlns:a16="http://schemas.microsoft.com/office/drawing/2014/main" id="{8554012F-3BB8-40D2-AA4F-F9D44319FDF5}"/>
              </a:ext>
            </a:extLst>
          </p:cNvPr>
          <p:cNvPicPr>
            <a:picLocks noGrp="1" noChangeAspect="1"/>
          </p:cNvPicPr>
          <p:nvPr>
            <p:ph sz="half" idx="2"/>
          </p:nvPr>
        </p:nvPicPr>
        <p:blipFill>
          <a:blip r:embed="rId4"/>
          <a:stretch>
            <a:fillRect/>
          </a:stretch>
        </p:blipFill>
        <p:spPr>
          <a:xfrm>
            <a:off x="4889302" y="2669675"/>
            <a:ext cx="1757295" cy="759325"/>
          </a:xfrm>
          <a:prstGeom prst="rect">
            <a:avLst/>
          </a:prstGeom>
        </p:spPr>
      </p:pic>
      <p:sp>
        <p:nvSpPr>
          <p:cNvPr id="3" name="Content Placeholder 2"/>
          <p:cNvSpPr>
            <a:spLocks noGrp="1"/>
          </p:cNvSpPr>
          <p:nvPr>
            <p:ph sz="half" idx="1"/>
          </p:nvPr>
        </p:nvSpPr>
        <p:spPr>
          <a:xfrm>
            <a:off x="523158" y="3538926"/>
            <a:ext cx="10489585" cy="605371"/>
          </a:xfrm>
        </p:spPr>
        <p:txBody>
          <a:bodyPr/>
          <a:lstStyle/>
          <a:p>
            <a:pPr marL="0" indent="0" algn="ctr" eaLnBrk="0" fontAlgn="base" hangingPunct="0">
              <a:spcBef>
                <a:spcPct val="20000"/>
              </a:spcBef>
              <a:spcAft>
                <a:spcPct val="0"/>
              </a:spcAft>
              <a:buClr>
                <a:srgbClr val="66FFFF"/>
              </a:buClr>
              <a:buSzPct val="75000"/>
              <a:buNone/>
            </a:pPr>
            <a:r>
              <a:rPr lang="en-US" sz="2400" dirty="0">
                <a:solidFill>
                  <a:srgbClr val="000000"/>
                </a:solidFill>
                <a:cs typeface="Arial" panose="020B0604020202020204" pitchFamily="34" charset="0"/>
              </a:rPr>
              <a:t>where:  </a:t>
            </a:r>
            <a:r>
              <a:rPr lang="en-US" sz="2400" i="1" dirty="0">
                <a:solidFill>
                  <a:srgbClr val="000000"/>
                </a:solidFill>
                <a:cs typeface="Arial" panose="020B0604020202020204" pitchFamily="34" charset="0"/>
              </a:rPr>
              <a:t>p</a:t>
            </a:r>
            <a:r>
              <a:rPr lang="en-US" sz="2400" dirty="0">
                <a:solidFill>
                  <a:srgbClr val="000000"/>
                </a:solidFill>
                <a:cs typeface="Arial" panose="020B0604020202020204" pitchFamily="34" charset="0"/>
              </a:rPr>
              <a:t> = the population proportion</a:t>
            </a:r>
          </a:p>
        </p:txBody>
      </p:sp>
      <p:sp>
        <p:nvSpPr>
          <p:cNvPr id="5" name="Slide Number Placeholder 4"/>
          <p:cNvSpPr>
            <a:spLocks noGrp="1"/>
          </p:cNvSpPr>
          <p:nvPr>
            <p:ph type="sldNum" sz="quarter" idx="12"/>
          </p:nvPr>
        </p:nvSpPr>
        <p:spPr/>
        <p:txBody>
          <a:bodyPr/>
          <a:lstStyle/>
          <a:p>
            <a:fld id="{949EBC64-41CB-41B8-B6DF-9B1367312BD4}" type="slidenum">
              <a:rPr lang="en-US" smtClean="0"/>
              <a:pPr/>
              <a:t>33</a:t>
            </a:fld>
            <a:endParaRPr lang="en-US"/>
          </a:p>
        </p:txBody>
      </p:sp>
    </p:spTree>
    <p:extLst>
      <p:ext uri="{BB962C8B-B14F-4D97-AF65-F5344CB8AC3E}">
        <p14:creationId xmlns:p14="http://schemas.microsoft.com/office/powerpoint/2010/main" val="1160757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(3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ontent Placeholder 1"/>
              <p:cNvSpPr>
                <a:spLocks noGrp="1"/>
              </p:cNvSpPr>
              <p:nvPr>
                <p:ph sz="half" idx="1"/>
              </p:nvPr>
            </p:nvSpPr>
            <p:spPr/>
            <p:txBody>
              <a:bodyPr/>
              <a:lstStyle/>
              <a:p>
                <a:pPr marL="0" indent="0">
                  <a:buNone/>
                </a:pPr>
                <a:r>
                  <a:rPr lang="en-US" dirty="0">
                    <a:solidFill>
                      <a:srgbClr val="000000"/>
                    </a:solidFill>
                    <a:cs typeface="Arial" panose="020B0604020202020204" pitchFamily="34" charset="0"/>
                  </a:rPr>
                  <a:t>Standard Deviation of </a:t>
                </a: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a:rPr>
                          <m:t>𝑝</m:t>
                        </m:r>
                      </m:e>
                    </m:acc>
                  </m:oMath>
                </a14:m>
                <a:endParaRPr lang="en-US" dirty="0">
                  <a:solidFill>
                    <a:srgbClr val="000000"/>
                  </a:solidFill>
                  <a:cs typeface="Arial" panose="020B0604020202020204"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sz="half" idx="1"/>
              </p:nvPr>
            </p:nvSpPr>
            <p:spPr>
              <a:blipFill>
                <a:blip r:embed="rId3"/>
                <a:stretch>
                  <a:fillRect l="-2427" t="-7870"/>
                </a:stretch>
              </a:blipFill>
            </p:spPr>
            <p:txBody>
              <a:bodyPr/>
              <a:lstStyle/>
              <a:p>
                <a:r>
                  <a:rPr lang="en-US">
                    <a:noFill/>
                  </a:rPr>
                  <a:t> </a:t>
                </a:r>
              </a:p>
            </p:txBody>
          </p:sp>
        </mc:Fallback>
      </mc:AlternateContent>
      <p:pic>
        <p:nvPicPr>
          <p:cNvPr id="13" name="Content Placeholder 12" descr="An equation called finite population. Begin equation. Sigma subscript p overbar equals start root start fraction upper N minus n over upper N minus 2 end fraction end root start root start fraction p left parenthesis 1 minus p right parenthesis over n end fraction end root. End equation.">
            <a:extLst>
              <a:ext uri="{FF2B5EF4-FFF2-40B4-BE49-F238E27FC236}">
                <a16:creationId xmlns:a16="http://schemas.microsoft.com/office/drawing/2014/main" id="{C3887460-E008-44A8-BDA6-9FF1A4AEDED7}"/>
              </a:ext>
            </a:extLst>
          </p:cNvPr>
          <p:cNvPicPr>
            <a:picLocks noGrp="1" noChangeAspect="1"/>
          </p:cNvPicPr>
          <p:nvPr>
            <p:ph sz="half" idx="14"/>
          </p:nvPr>
        </p:nvPicPr>
        <p:blipFill>
          <a:blip r:embed="rId4"/>
          <a:stretch>
            <a:fillRect/>
          </a:stretch>
        </p:blipFill>
        <p:spPr>
          <a:xfrm>
            <a:off x="2156014" y="2093735"/>
            <a:ext cx="2868691" cy="1583872"/>
          </a:xfrm>
          <a:prstGeom prst="rect">
            <a:avLst/>
          </a:prstGeom>
        </p:spPr>
      </p:pic>
      <p:pic>
        <p:nvPicPr>
          <p:cNvPr id="14" name="Content Placeholder 13" descr="An equation called infinite population. Begin equation. Sigma subscript p overbar baseline equals start root start fraction p left parenthesis 1 minus p right parenthesis over n end fraction end root. End equation.">
            <a:extLst>
              <a:ext uri="{FF2B5EF4-FFF2-40B4-BE49-F238E27FC236}">
                <a16:creationId xmlns:a16="http://schemas.microsoft.com/office/drawing/2014/main" id="{B9879AA2-E209-4603-8A76-1153DF5F3DC9}"/>
              </a:ext>
            </a:extLst>
          </p:cNvPr>
          <p:cNvPicPr>
            <a:picLocks noGrp="1" noChangeAspect="1"/>
          </p:cNvPicPr>
          <p:nvPr>
            <p:ph sz="half" idx="15"/>
          </p:nvPr>
        </p:nvPicPr>
        <p:blipFill>
          <a:blip r:embed="rId5"/>
          <a:stretch>
            <a:fillRect/>
          </a:stretch>
        </p:blipFill>
        <p:spPr>
          <a:xfrm>
            <a:off x="6709005" y="2093734"/>
            <a:ext cx="2434995" cy="1597621"/>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sz="half" idx="2"/>
              </p:nvPr>
            </p:nvSpPr>
            <p:spPr>
              <a:xfrm>
                <a:off x="966061" y="3955201"/>
                <a:ext cx="9148132" cy="1420094"/>
              </a:xfrm>
            </p:spPr>
            <p:txBody>
              <a:bodyPr>
                <a:noAutofit/>
              </a:bodyPr>
              <a:lstStyle/>
              <a:p>
                <a:r>
                  <a:rPr lang="en-US" sz="2400" dirty="0">
                    <a:solidFill>
                      <a:srgbClr val="000000"/>
                    </a:solidFill>
                  </a:rPr>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a:ea typeface="Cambria Math"/>
                          </a:rPr>
                          <m:t>𝜎</m:t>
                        </m:r>
                      </m:e>
                      <m:sub>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𝑝</m:t>
                            </m:r>
                          </m:e>
                        </m:acc>
                      </m:sub>
                    </m:sSub>
                  </m:oMath>
                </a14:m>
                <a:r>
                  <a:rPr lang="en-US" sz="2400" dirty="0">
                    <a:solidFill>
                      <a:srgbClr val="000000"/>
                    </a:solidFill>
                    <a:cs typeface="Arial" panose="020B0604020202020204" pitchFamily="34" charset="0"/>
                  </a:rPr>
                  <a:t> is referred to as the </a:t>
                </a:r>
                <a:r>
                  <a:rPr lang="en-US" sz="2400" u="sng" dirty="0">
                    <a:solidFill>
                      <a:srgbClr val="000000"/>
                    </a:solidFill>
                    <a:cs typeface="Arial" panose="020B0604020202020204" pitchFamily="34" charset="0"/>
                  </a:rPr>
                  <a:t>standard error of the proportion.</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half" idx="2"/>
              </p:nvPr>
            </p:nvSpPr>
            <p:spPr>
              <a:xfrm>
                <a:off x="966061" y="3955201"/>
                <a:ext cx="9148132" cy="1420094"/>
              </a:xfrm>
              <a:blipFill>
                <a:blip r:embed="rId6"/>
                <a:stretch>
                  <a:fillRect l="-866" t="-5150"/>
                </a:stretch>
              </a:blipFill>
            </p:spPr>
            <p:txBody>
              <a:bodyPr/>
              <a:lstStyle/>
              <a:p>
                <a:r>
                  <a:rPr lang="en-US">
                    <a:noFill/>
                  </a:rPr>
                  <a:t> </a:t>
                </a:r>
              </a:p>
            </p:txBody>
          </p:sp>
        </mc:Fallback>
      </mc:AlternateContent>
      <p:pic>
        <p:nvPicPr>
          <p:cNvPr id="15" name="Content Placeholder 14" descr="Start root left parenthesis upper N minus n right parenthesis divided by left parenthesis upper N minus 1 right parenthesis end root is the finite population correction factor.">
            <a:extLst>
              <a:ext uri="{FF2B5EF4-FFF2-40B4-BE49-F238E27FC236}">
                <a16:creationId xmlns:a16="http://schemas.microsoft.com/office/drawing/2014/main" id="{C04C000F-B559-41AB-B035-6E29D63186EE}"/>
              </a:ext>
            </a:extLst>
          </p:cNvPr>
          <p:cNvPicPr>
            <a:picLocks noGrp="1" noChangeAspect="1"/>
          </p:cNvPicPr>
          <p:nvPr>
            <p:ph sz="quarter" idx="13"/>
          </p:nvPr>
        </p:nvPicPr>
        <p:blipFill>
          <a:blip r:embed="rId7"/>
          <a:stretch>
            <a:fillRect/>
          </a:stretch>
        </p:blipFill>
        <p:spPr>
          <a:xfrm>
            <a:off x="836126" y="4665248"/>
            <a:ext cx="9148132" cy="642077"/>
          </a:xfrm>
          <a:prstGeom prst="rect">
            <a:avLst/>
          </a:prstGeom>
        </p:spPr>
      </p:pic>
      <p:sp>
        <p:nvSpPr>
          <p:cNvPr id="5" name="Slide Number Placeholder 4"/>
          <p:cNvSpPr>
            <a:spLocks noGrp="1"/>
          </p:cNvSpPr>
          <p:nvPr>
            <p:ph type="sldNum" sz="quarter" idx="12"/>
          </p:nvPr>
        </p:nvSpPr>
        <p:spPr/>
        <p:txBody>
          <a:bodyPr/>
          <a:lstStyle/>
          <a:p>
            <a:fld id="{949EBC64-41CB-41B8-B6DF-9B1367312BD4}" type="slidenum">
              <a:rPr lang="en-US" smtClean="0"/>
              <a:pPr/>
              <a:t>34</a:t>
            </a:fld>
            <a:endParaRPr lang="en-US"/>
          </a:p>
        </p:txBody>
      </p:sp>
    </p:spTree>
    <p:extLst>
      <p:ext uri="{BB962C8B-B14F-4D97-AF65-F5344CB8AC3E}">
        <p14:creationId xmlns:p14="http://schemas.microsoft.com/office/powerpoint/2010/main" val="3416254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(4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ontent Placeholder 1"/>
              <p:cNvSpPr>
                <a:spLocks noGrp="1"/>
              </p:cNvSpPr>
              <p:nvPr>
                <p:ph sz="half" idx="1"/>
              </p:nvPr>
            </p:nvSpPr>
            <p:spPr>
              <a:xfrm>
                <a:off x="836127" y="1547264"/>
                <a:ext cx="9605731" cy="727075"/>
              </a:xfrm>
            </p:spPr>
            <p:txBody>
              <a:bodyPr>
                <a:noAutofit/>
              </a:bodyPr>
              <a:lstStyle/>
              <a:p>
                <a:pPr marL="0" indent="0">
                  <a:lnSpc>
                    <a:spcPct val="100000"/>
                  </a:lnSpc>
                  <a:buNone/>
                </a:pPr>
                <a:r>
                  <a:rPr lang="en-US" sz="2400" dirty="0">
                    <a:solidFill>
                      <a:srgbClr val="000000"/>
                    </a:solidFill>
                    <a:cs typeface="Arial" panose="020B0604020202020204" pitchFamily="34" charset="0"/>
                  </a:rPr>
                  <a:t>The sampling distribution of </a:t>
                </a:r>
                <a14:m>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a:rPr>
                          <m:t>𝑝</m:t>
                        </m:r>
                      </m:e>
                    </m:acc>
                  </m:oMath>
                </a14:m>
                <a:r>
                  <a:rPr lang="en-US" sz="2400" dirty="0">
                    <a:solidFill>
                      <a:srgbClr val="000000"/>
                    </a:solidFill>
                    <a:cs typeface="Arial" panose="020B0604020202020204" pitchFamily="34" charset="0"/>
                  </a:rPr>
                  <a:t> can be approximated by a normal distribution whenever the sample size is large enough to satisfy the two conditions:</a:t>
                </a:r>
              </a:p>
            </p:txBody>
          </p:sp>
        </mc:Choice>
        <mc:Fallback xmlns="">
          <p:sp>
            <p:nvSpPr>
              <p:cNvPr id="2" name="Content Placeholder 1"/>
              <p:cNvSpPr>
                <a:spLocks noGrp="1" noRot="1" noChangeAspect="1" noMove="1" noResize="1" noEditPoints="1" noAdjustHandles="1" noChangeArrowheads="1" noChangeShapeType="1" noTextEdit="1"/>
              </p:cNvSpPr>
              <p:nvPr>
                <p:ph sz="half" idx="1"/>
              </p:nvPr>
            </p:nvSpPr>
            <p:spPr>
              <a:xfrm>
                <a:off x="836127" y="1547264"/>
                <a:ext cx="9605731" cy="727075"/>
              </a:xfrm>
              <a:blipFill>
                <a:blip r:embed="rId3"/>
                <a:stretch>
                  <a:fillRect l="-952" t="-6723" r="-1650" b="-32773"/>
                </a:stretch>
              </a:blipFill>
            </p:spPr>
            <p:txBody>
              <a:bodyPr/>
              <a:lstStyle/>
              <a:p>
                <a:r>
                  <a:rPr lang="en-US">
                    <a:noFill/>
                  </a:rPr>
                  <a:t> </a:t>
                </a:r>
              </a:p>
            </p:txBody>
          </p:sp>
        </mc:Fallback>
      </mc:AlternateContent>
      <p:pic>
        <p:nvPicPr>
          <p:cNvPr id="9" name="Content Placeholder 8" descr="N p is greater than or equal to 5, and n left parenthesis 1 minus p right parenthesis is greater than or equal to 5.">
            <a:extLst>
              <a:ext uri="{FF2B5EF4-FFF2-40B4-BE49-F238E27FC236}">
                <a16:creationId xmlns:a16="http://schemas.microsoft.com/office/drawing/2014/main" id="{ADBCC9C6-E762-4FEA-BB1E-BA3439027B2B}"/>
              </a:ext>
            </a:extLst>
          </p:cNvPr>
          <p:cNvPicPr>
            <a:picLocks noGrp="1" noChangeAspect="1"/>
          </p:cNvPicPr>
          <p:nvPr>
            <p:ph sz="half" idx="2"/>
          </p:nvPr>
        </p:nvPicPr>
        <p:blipFill>
          <a:blip r:embed="rId4"/>
          <a:stretch>
            <a:fillRect/>
          </a:stretch>
        </p:blipFill>
        <p:spPr>
          <a:xfrm>
            <a:off x="4057458" y="2608369"/>
            <a:ext cx="4046921" cy="727074"/>
          </a:xfrm>
          <a:prstGeom prst="rect">
            <a:avLst/>
          </a:prstGeom>
        </p:spPr>
      </p:pic>
      <p:pic>
        <p:nvPicPr>
          <p:cNvPr id="10" name="Content Placeholder 9" descr="When these conditions are satisfied, the probability distribution of x in the sample proportion, begin equation. p overbar equals start fraction x over n end fraction. end equation. ">
            <a:extLst>
              <a:ext uri="{FF2B5EF4-FFF2-40B4-BE49-F238E27FC236}">
                <a16:creationId xmlns:a16="http://schemas.microsoft.com/office/drawing/2014/main" id="{7370DC41-B9E4-44CC-8B18-EBC1D4F47F65}"/>
              </a:ext>
            </a:extLst>
          </p:cNvPr>
          <p:cNvPicPr>
            <a:picLocks noGrp="1" noChangeAspect="1"/>
          </p:cNvPicPr>
          <p:nvPr>
            <p:ph sz="quarter" idx="13"/>
          </p:nvPr>
        </p:nvPicPr>
        <p:blipFill>
          <a:blip r:embed="rId5"/>
          <a:stretch>
            <a:fillRect/>
          </a:stretch>
        </p:blipFill>
        <p:spPr>
          <a:xfrm>
            <a:off x="836127" y="3515553"/>
            <a:ext cx="10200444" cy="1233428"/>
          </a:xfrm>
          <a:prstGeom prst="rect">
            <a:avLst/>
          </a:prstGeom>
        </p:spPr>
      </p:pic>
      <p:sp>
        <p:nvSpPr>
          <p:cNvPr id="5" name="Slide Number Placeholder 4"/>
          <p:cNvSpPr>
            <a:spLocks noGrp="1"/>
          </p:cNvSpPr>
          <p:nvPr>
            <p:ph type="sldNum" sz="quarter" idx="12"/>
          </p:nvPr>
        </p:nvSpPr>
        <p:spPr/>
        <p:txBody>
          <a:bodyPr/>
          <a:lstStyle/>
          <a:p>
            <a:fld id="{949EBC64-41CB-41B8-B6DF-9B1367312BD4}" type="slidenum">
              <a:rPr lang="en-US" smtClean="0"/>
              <a:pPr/>
              <a:t>35</a:t>
            </a:fld>
            <a:endParaRPr lang="en-US"/>
          </a:p>
        </p:txBody>
      </p:sp>
    </p:spTree>
    <p:extLst>
      <p:ext uri="{BB962C8B-B14F-4D97-AF65-F5344CB8AC3E}">
        <p14:creationId xmlns:p14="http://schemas.microsoft.com/office/powerpoint/2010/main" val="3434183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(5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quarter" idx="13"/>
          </p:nvPr>
        </p:nvSpPr>
        <p:spPr/>
        <p:txBody>
          <a:bodyPr/>
          <a:lstStyle/>
          <a:p>
            <a:pPr marL="0" indent="0">
              <a:spcAft>
                <a:spcPts val="1200"/>
              </a:spcAft>
              <a:buNone/>
            </a:pPr>
            <a:r>
              <a:rPr lang="en-US" dirty="0">
                <a:solidFill>
                  <a:srgbClr val="000000"/>
                </a:solidFill>
                <a:cs typeface="Arial" panose="020B0604020202020204" pitchFamily="34" charset="0"/>
              </a:rPr>
              <a:t>Example:  St. Andrew’s College</a:t>
            </a:r>
          </a:p>
          <a:p>
            <a:pPr marL="0" indent="0">
              <a:buNone/>
            </a:pPr>
            <a:r>
              <a:rPr lang="en-US" sz="2400" dirty="0">
                <a:solidFill>
                  <a:srgbClr val="000000"/>
                </a:solidFill>
                <a:cs typeface="Arial" panose="020B0604020202020204" pitchFamily="34" charset="0"/>
              </a:rPr>
              <a:t>Recall that 72% of the prospective students applying to St. Andrew’s College desire on-campus housing.</a:t>
            </a:r>
          </a:p>
          <a:p>
            <a:pPr marL="0" indent="0">
              <a:buNone/>
            </a:pPr>
            <a:r>
              <a:rPr lang="en-US" sz="2400" dirty="0">
                <a:solidFill>
                  <a:srgbClr val="000000"/>
                </a:solidFill>
                <a:cs typeface="Arial" panose="020B0604020202020204" pitchFamily="34" charset="0"/>
              </a:rPr>
              <a:t>What is the probability that a simple random sample of 30 applicants will provide an estimate of the population proportion of applicant desiring on-campus housing that is within plus or minus .05 of the actual population proportion?</a:t>
            </a:r>
          </a:p>
        </p:txBody>
      </p:sp>
      <p:sp>
        <p:nvSpPr>
          <p:cNvPr id="4" name="Slide Number Placeholder 3"/>
          <p:cNvSpPr>
            <a:spLocks noGrp="1"/>
          </p:cNvSpPr>
          <p:nvPr>
            <p:ph type="sldNum" sz="quarter" idx="12"/>
          </p:nvPr>
        </p:nvSpPr>
        <p:spPr/>
        <p:txBody>
          <a:bodyPr/>
          <a:lstStyle/>
          <a:p>
            <a:fld id="{949EBC64-41CB-41B8-B6DF-9B1367312BD4}" type="slidenum">
              <a:rPr lang="en-US" smtClean="0"/>
              <a:t>36</a:t>
            </a:fld>
            <a:endParaRPr lang="en-US"/>
          </a:p>
        </p:txBody>
      </p:sp>
    </p:spTree>
    <p:extLst>
      <p:ext uri="{BB962C8B-B14F-4D97-AF65-F5344CB8AC3E}">
        <p14:creationId xmlns:p14="http://schemas.microsoft.com/office/powerpoint/2010/main" val="2938627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(6 of 10)</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3"/>
                <a:stretch>
                  <a:fillRect l="-1453" t="-3361" b="-15126"/>
                </a:stretch>
              </a:blipFill>
            </p:spPr>
            <p:txBody>
              <a:bodyPr/>
              <a:lstStyle/>
              <a:p>
                <a:r>
                  <a:rPr lang="en-US">
                    <a:noFill/>
                  </a:rPr>
                  <a:t> </a:t>
                </a:r>
              </a:p>
            </p:txBody>
          </p:sp>
        </mc:Fallback>
      </mc:AlternateContent>
      <p:sp>
        <p:nvSpPr>
          <p:cNvPr id="286722" name="Rectangle 2"/>
          <p:cNvSpPr>
            <a:spLocks noGrp="1" noChangeArrowheads="1"/>
          </p:cNvSpPr>
          <p:nvPr>
            <p:ph sz="half" idx="1"/>
          </p:nvPr>
        </p:nvSpPr>
        <p:spPr/>
        <p:txBody>
          <a:bodyPr>
            <a:noAutofit/>
          </a:bodyPr>
          <a:lstStyle/>
          <a:p>
            <a:pPr marL="0" indent="0">
              <a:buNone/>
            </a:pPr>
            <a:r>
              <a:rPr lang="en-US" sz="2400" dirty="0"/>
              <a:t>For our example, with </a:t>
            </a:r>
            <a:r>
              <a:rPr lang="en-US" sz="2400" i="1" dirty="0"/>
              <a:t>n</a:t>
            </a:r>
            <a:r>
              <a:rPr lang="en-US" sz="2400" dirty="0"/>
              <a:t> = 30 and </a:t>
            </a:r>
            <a:r>
              <a:rPr lang="en-US" sz="2400" i="1" dirty="0"/>
              <a:t>p</a:t>
            </a:r>
            <a:r>
              <a:rPr lang="en-US" sz="2400" dirty="0"/>
              <a:t> = .72, the normal distribution is an acceptable approximation because </a:t>
            </a:r>
          </a:p>
        </p:txBody>
      </p:sp>
      <p:pic>
        <p:nvPicPr>
          <p:cNvPr id="9" name="Content Placeholder 8" descr="An equation. Begin equation. N p equals 30 left parenthesis 0.72 right parenthesis equals 21.6 is greater than or equal to 5. End equation. And: begin equation. N left parenthesis 1 minus p right parenthesis equals 30 left parenthesis 0.28 right parenthesis equals 8.4 is greater than or equal to 5. End equation.">
            <a:extLst>
              <a:ext uri="{FF2B5EF4-FFF2-40B4-BE49-F238E27FC236}">
                <a16:creationId xmlns:a16="http://schemas.microsoft.com/office/drawing/2014/main" id="{08E5B3E3-315E-40B0-980F-D9F56EDC771F}"/>
              </a:ext>
            </a:extLst>
          </p:cNvPr>
          <p:cNvPicPr>
            <a:picLocks noGrp="1" noChangeAspect="1"/>
          </p:cNvPicPr>
          <p:nvPr>
            <p:ph sz="half" idx="2"/>
          </p:nvPr>
        </p:nvPicPr>
        <p:blipFill>
          <a:blip r:embed="rId4"/>
          <a:stretch>
            <a:fillRect/>
          </a:stretch>
        </p:blipFill>
        <p:spPr>
          <a:xfrm>
            <a:off x="3097161" y="2398659"/>
            <a:ext cx="6814959" cy="350013"/>
          </a:xfrm>
          <a:prstGeom prst="rect">
            <a:avLst/>
          </a:prstGeom>
        </p:spPr>
      </p:pic>
      <p:pic>
        <p:nvPicPr>
          <p:cNvPr id="10" name="Content Placeholder 9" descr="A sampling distribution of p overbar has the equation: begin equation. Sigma subscript p overbar baseline equals start root start fraction .72 left parenthesis 1 mins .72 right parenthesis over 30 end fraction equals .082. Upper E left parenthesis p overbar right parenthesis equals .72.">
            <a:extLst>
              <a:ext uri="{FF2B5EF4-FFF2-40B4-BE49-F238E27FC236}">
                <a16:creationId xmlns:a16="http://schemas.microsoft.com/office/drawing/2014/main" id="{76FEA9E6-3741-4457-B57B-39063663BFA6}"/>
              </a:ext>
            </a:extLst>
          </p:cNvPr>
          <p:cNvPicPr>
            <a:picLocks noGrp="1" noChangeAspect="1"/>
          </p:cNvPicPr>
          <p:nvPr>
            <p:ph sz="quarter" idx="13"/>
          </p:nvPr>
        </p:nvPicPr>
        <p:blipFill>
          <a:blip r:embed="rId5"/>
          <a:stretch>
            <a:fillRect/>
          </a:stretch>
        </p:blipFill>
        <p:spPr>
          <a:xfrm>
            <a:off x="3146811" y="2917039"/>
            <a:ext cx="5868216" cy="3108659"/>
          </a:xfrm>
          <a:prstGeom prst="rect">
            <a:avLst/>
          </a:prstGeom>
        </p:spPr>
      </p:pic>
      <p:sp>
        <p:nvSpPr>
          <p:cNvPr id="2" name="Slide Number Placeholder 1"/>
          <p:cNvSpPr>
            <a:spLocks noGrp="1"/>
          </p:cNvSpPr>
          <p:nvPr>
            <p:ph type="sldNum" sz="quarter" idx="12"/>
          </p:nvPr>
        </p:nvSpPr>
        <p:spPr/>
        <p:txBody>
          <a:bodyPr/>
          <a:lstStyle/>
          <a:p>
            <a:fld id="{949EBC64-41CB-41B8-B6DF-9B1367312BD4}"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(7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2" name="Content Placeholder 1"/>
          <p:cNvSpPr>
            <a:spLocks noGrp="1"/>
          </p:cNvSpPr>
          <p:nvPr>
            <p:ph sz="half" idx="1"/>
          </p:nvPr>
        </p:nvSpPr>
        <p:spPr>
          <a:xfrm>
            <a:off x="836126" y="1547264"/>
            <a:ext cx="10593874" cy="1316252"/>
          </a:xfrm>
        </p:spPr>
        <p:txBody>
          <a:bodyPr>
            <a:noAutofit/>
          </a:bodyPr>
          <a:lstStyle/>
          <a:p>
            <a:pPr marL="0" indent="0">
              <a:buNone/>
            </a:pPr>
            <a:r>
              <a:rPr lang="en-US" sz="3000" dirty="0">
                <a:solidFill>
                  <a:srgbClr val="000000"/>
                </a:solidFill>
                <a:cs typeface="Arial" panose="020B0604020202020204" pitchFamily="34" charset="0"/>
              </a:rPr>
              <a:t>Example:  St. Andrew’s College</a:t>
            </a:r>
          </a:p>
          <a:p>
            <a:pPr marL="0" indent="0">
              <a:buNone/>
            </a:pPr>
            <a:r>
              <a:rPr lang="en-US" sz="2600" dirty="0">
                <a:solidFill>
                  <a:srgbClr val="000000"/>
                </a:solidFill>
                <a:cs typeface="Arial" panose="020B0604020202020204" pitchFamily="34" charset="0"/>
              </a:rPr>
              <a:t>Step 1:  Calculate the </a:t>
            </a:r>
            <a:r>
              <a:rPr lang="en-US" sz="2600" i="1" dirty="0">
                <a:solidFill>
                  <a:srgbClr val="000000"/>
                </a:solidFill>
                <a:cs typeface="Arial" panose="020B0604020202020204" pitchFamily="34" charset="0"/>
              </a:rPr>
              <a:t>z</a:t>
            </a:r>
            <a:r>
              <a:rPr lang="en-US" sz="2600" dirty="0">
                <a:solidFill>
                  <a:srgbClr val="000000"/>
                </a:solidFill>
                <a:cs typeface="Arial" panose="020B0604020202020204" pitchFamily="34" charset="0"/>
              </a:rPr>
              <a:t>-value at the </a:t>
            </a:r>
            <a:r>
              <a:rPr lang="en-US" sz="2600" u="sng" dirty="0">
                <a:solidFill>
                  <a:srgbClr val="000000"/>
                </a:solidFill>
                <a:cs typeface="Arial" panose="020B0604020202020204" pitchFamily="34" charset="0"/>
              </a:rPr>
              <a:t>upper</a:t>
            </a:r>
            <a:r>
              <a:rPr lang="en-US" sz="2600" dirty="0">
                <a:solidFill>
                  <a:srgbClr val="000000"/>
                </a:solidFill>
                <a:cs typeface="Arial" panose="020B0604020202020204" pitchFamily="34" charset="0"/>
              </a:rPr>
              <a:t> endpoint of the interval.</a:t>
            </a:r>
          </a:p>
          <a:p>
            <a:pPr marL="0" indent="0">
              <a:buNone/>
            </a:pPr>
            <a:endParaRPr lang="en-US" dirty="0">
              <a:solidFill>
                <a:srgbClr val="000000"/>
              </a:solidFill>
              <a:cs typeface="Arial" panose="020B0604020202020204" pitchFamily="34" charset="0"/>
            </a:endParaRPr>
          </a:p>
        </p:txBody>
      </p:sp>
      <p:pic>
        <p:nvPicPr>
          <p:cNvPr id="12" name="Content Placeholder 11" descr="An equation. Begin equation. Z equals begin fraction left parenthesis 0.77 minus 0.72 right parenthesis over 0.082 end fraction equals 0.61. End equation.">
            <a:extLst>
              <a:ext uri="{FF2B5EF4-FFF2-40B4-BE49-F238E27FC236}">
                <a16:creationId xmlns:a16="http://schemas.microsoft.com/office/drawing/2014/main" id="{F5BD8E9A-B994-4139-94A8-7CC8E5D1EAFF}"/>
              </a:ext>
            </a:extLst>
          </p:cNvPr>
          <p:cNvPicPr>
            <a:picLocks noGrp="1" noChangeAspect="1"/>
          </p:cNvPicPr>
          <p:nvPr>
            <p:ph sz="half" idx="14"/>
          </p:nvPr>
        </p:nvPicPr>
        <p:blipFill>
          <a:blip r:embed="rId3"/>
          <a:stretch>
            <a:fillRect/>
          </a:stretch>
        </p:blipFill>
        <p:spPr>
          <a:xfrm>
            <a:off x="4186365" y="2582288"/>
            <a:ext cx="3789106" cy="922672"/>
          </a:xfrm>
          <a:prstGeom prst="rect">
            <a:avLst/>
          </a:prstGeom>
        </p:spPr>
      </p:pic>
      <p:sp>
        <p:nvSpPr>
          <p:cNvPr id="3" name="Content Placeholder 2"/>
          <p:cNvSpPr>
            <a:spLocks noGrp="1"/>
          </p:cNvSpPr>
          <p:nvPr>
            <p:ph sz="half" idx="2"/>
          </p:nvPr>
        </p:nvSpPr>
        <p:spPr>
          <a:xfrm>
            <a:off x="836126" y="3938473"/>
            <a:ext cx="9281268" cy="419100"/>
          </a:xfrm>
        </p:spPr>
        <p:txBody>
          <a:bodyPr>
            <a:noAutofit/>
          </a:bodyPr>
          <a:lstStyle/>
          <a:p>
            <a:pPr marL="0" lvl="1" indent="0">
              <a:buNone/>
            </a:pPr>
            <a:r>
              <a:rPr lang="en-US" dirty="0">
                <a:solidFill>
                  <a:srgbClr val="000000"/>
                </a:solidFill>
                <a:cs typeface="Arial" panose="020B0604020202020204" pitchFamily="34" charset="0"/>
              </a:rPr>
              <a:t>Step 2:  Find the area under the curve to the left of the </a:t>
            </a:r>
            <a:r>
              <a:rPr lang="en-US" u="sng" dirty="0">
                <a:solidFill>
                  <a:srgbClr val="000000"/>
                </a:solidFill>
                <a:cs typeface="Arial" panose="020B0604020202020204" pitchFamily="34" charset="0"/>
              </a:rPr>
              <a:t>upper</a:t>
            </a:r>
            <a:r>
              <a:rPr lang="en-US" dirty="0">
                <a:solidFill>
                  <a:srgbClr val="000000"/>
                </a:solidFill>
                <a:cs typeface="Arial" panose="020B0604020202020204" pitchFamily="34" charset="0"/>
              </a:rPr>
              <a:t> endpoint.</a:t>
            </a:r>
          </a:p>
          <a:p>
            <a:pPr marL="457200" lvl="1" indent="0">
              <a:buNone/>
            </a:pPr>
            <a:endParaRPr lang="en-US" dirty="0">
              <a:solidFill>
                <a:srgbClr val="000000"/>
              </a:solidFill>
              <a:cs typeface="Arial" panose="020B0604020202020204" pitchFamily="34" charset="0"/>
            </a:endParaRPr>
          </a:p>
        </p:txBody>
      </p:sp>
      <p:pic>
        <p:nvPicPr>
          <p:cNvPr id="14" name="Content Placeholder 13" descr="An equation. Begin equation. Upper P left parenthesis z is less than or equal to 0.61 right parenthesis equals 0.7291. End equation.">
            <a:extLst>
              <a:ext uri="{FF2B5EF4-FFF2-40B4-BE49-F238E27FC236}">
                <a16:creationId xmlns:a16="http://schemas.microsoft.com/office/drawing/2014/main" id="{43315634-785C-44EF-AE4B-70C21F6BFDE6}"/>
              </a:ext>
            </a:extLst>
          </p:cNvPr>
          <p:cNvPicPr>
            <a:picLocks noGrp="1" noChangeAspect="1"/>
          </p:cNvPicPr>
          <p:nvPr>
            <p:ph sz="quarter" idx="13"/>
          </p:nvPr>
        </p:nvPicPr>
        <p:blipFill>
          <a:blip r:embed="rId4"/>
          <a:stretch>
            <a:fillRect/>
          </a:stretch>
        </p:blipFill>
        <p:spPr>
          <a:xfrm>
            <a:off x="4584188" y="4616160"/>
            <a:ext cx="2993461" cy="315101"/>
          </a:xfrm>
          <a:prstGeom prst="rect">
            <a:avLst/>
          </a:prstGeom>
        </p:spPr>
      </p:pic>
      <p:sp>
        <p:nvSpPr>
          <p:cNvPr id="5" name="Slide Number Placeholder 4"/>
          <p:cNvSpPr>
            <a:spLocks noGrp="1"/>
          </p:cNvSpPr>
          <p:nvPr>
            <p:ph type="sldNum" sz="quarter" idx="12"/>
          </p:nvPr>
        </p:nvSpPr>
        <p:spPr/>
        <p:txBody>
          <a:bodyPr/>
          <a:lstStyle/>
          <a:p>
            <a:fld id="{949EBC64-41CB-41B8-B6DF-9B1367312BD4}" type="slidenum">
              <a:rPr lang="en-US" smtClean="0"/>
              <a:pPr/>
              <a:t>38</a:t>
            </a:fld>
            <a:endParaRPr lang="en-US"/>
          </a:p>
        </p:txBody>
      </p:sp>
    </p:spTree>
    <p:extLst>
      <p:ext uri="{BB962C8B-B14F-4D97-AF65-F5344CB8AC3E}">
        <p14:creationId xmlns:p14="http://schemas.microsoft.com/office/powerpoint/2010/main" val="3194089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(8 of 10)</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453" t="-3361" b="-15126"/>
                </a:stretch>
              </a:blipFill>
            </p:spPr>
            <p:txBody>
              <a:bodyPr/>
              <a:lstStyle/>
              <a:p>
                <a:r>
                  <a:rPr lang="en-US">
                    <a:noFill/>
                  </a:rPr>
                  <a:t> </a:t>
                </a:r>
              </a:p>
            </p:txBody>
          </p:sp>
        </mc:Fallback>
      </mc:AlternateContent>
      <p:sp>
        <p:nvSpPr>
          <p:cNvPr id="3" name="Content Placeholder 2"/>
          <p:cNvSpPr>
            <a:spLocks noGrp="1"/>
          </p:cNvSpPr>
          <p:nvPr>
            <p:ph sz="half" idx="1"/>
          </p:nvPr>
        </p:nvSpPr>
        <p:spPr/>
        <p:txBody>
          <a:bodyPr/>
          <a:lstStyle/>
          <a:p>
            <a:pPr marL="0" indent="0">
              <a:lnSpc>
                <a:spcPct val="80000"/>
              </a:lnSpc>
              <a:buNone/>
            </a:pPr>
            <a:r>
              <a:rPr lang="en-US" dirty="0">
                <a:solidFill>
                  <a:srgbClr val="000000"/>
                </a:solidFill>
                <a:cs typeface="Arial" panose="020B0604020202020204" pitchFamily="34" charset="0"/>
              </a:rPr>
              <a:t>Example:  St. Andrew’s College</a:t>
            </a:r>
          </a:p>
        </p:txBody>
      </p:sp>
      <p:sp>
        <p:nvSpPr>
          <p:cNvPr id="7" name="Content Placeholder 6"/>
          <p:cNvSpPr>
            <a:spLocks noGrp="1"/>
          </p:cNvSpPr>
          <p:nvPr>
            <p:ph sz="half" idx="2"/>
          </p:nvPr>
        </p:nvSpPr>
        <p:spPr>
          <a:xfrm>
            <a:off x="836126" y="2131650"/>
            <a:ext cx="5023368" cy="731866"/>
          </a:xfrm>
        </p:spPr>
        <p:txBody>
          <a:bodyPr>
            <a:noAutofit/>
          </a:bodyPr>
          <a:lstStyle/>
          <a:p>
            <a:pPr marL="0" indent="0" algn="ctr">
              <a:buNone/>
            </a:pPr>
            <a:r>
              <a:rPr lang="en-US" sz="2400" dirty="0"/>
              <a:t>Cumulative Probabilities for the Standard Normal Distribution</a:t>
            </a:r>
          </a:p>
        </p:txBody>
      </p:sp>
      <p:graphicFrame>
        <p:nvGraphicFramePr>
          <p:cNvPr id="12" name="Content Placeholder 11" descr="A z score table with 11 columns and 8 rows. The column headers are z, .00, .01, .02, .03, .04, .05, .06, .07, .08, and .09. The cell with the value .7291, the column header .01, and row header .6 are in boxes.">
            <a:extLst>
              <a:ext uri="{FF2B5EF4-FFF2-40B4-BE49-F238E27FC236}">
                <a16:creationId xmlns:a16="http://schemas.microsoft.com/office/drawing/2014/main" id="{E5E0DD00-592B-4521-9B20-CB9023D095A5}"/>
              </a:ext>
            </a:extLst>
          </p:cNvPr>
          <p:cNvGraphicFramePr>
            <a:graphicFrameLocks noGrp="1"/>
          </p:cNvGraphicFramePr>
          <p:nvPr>
            <p:ph sz="quarter" idx="13"/>
            <p:extLst>
              <p:ext uri="{D42A27DB-BD31-4B8C-83A1-F6EECF244321}">
                <p14:modId xmlns:p14="http://schemas.microsoft.com/office/powerpoint/2010/main" val="1457570978"/>
              </p:ext>
            </p:extLst>
          </p:nvPr>
        </p:nvGraphicFramePr>
        <p:xfrm>
          <a:off x="1061545" y="2934499"/>
          <a:ext cx="4572530" cy="3055080"/>
        </p:xfrm>
        <a:graphic>
          <a:graphicData uri="http://schemas.openxmlformats.org/drawingml/2006/table">
            <a:tbl>
              <a:tblPr firstRow="1" firstCol="1" bandRow="1"/>
              <a:tblGrid>
                <a:gridCol w="570966">
                  <a:extLst>
                    <a:ext uri="{9D8B030D-6E8A-4147-A177-3AD203B41FA5}">
                      <a16:colId xmlns:a16="http://schemas.microsoft.com/office/drawing/2014/main" val="20000"/>
                    </a:ext>
                  </a:extLst>
                </a:gridCol>
                <a:gridCol w="804603">
                  <a:extLst>
                    <a:ext uri="{9D8B030D-6E8A-4147-A177-3AD203B41FA5}">
                      <a16:colId xmlns:a16="http://schemas.microsoft.com/office/drawing/2014/main" val="20001"/>
                    </a:ext>
                  </a:extLst>
                </a:gridCol>
                <a:gridCol w="783148">
                  <a:extLst>
                    <a:ext uri="{9D8B030D-6E8A-4147-A177-3AD203B41FA5}">
                      <a16:colId xmlns:a16="http://schemas.microsoft.com/office/drawing/2014/main" val="20002"/>
                    </a:ext>
                  </a:extLst>
                </a:gridCol>
                <a:gridCol w="793876">
                  <a:extLst>
                    <a:ext uri="{9D8B030D-6E8A-4147-A177-3AD203B41FA5}">
                      <a16:colId xmlns:a16="http://schemas.microsoft.com/office/drawing/2014/main" val="20003"/>
                    </a:ext>
                  </a:extLst>
                </a:gridCol>
                <a:gridCol w="836789">
                  <a:extLst>
                    <a:ext uri="{9D8B030D-6E8A-4147-A177-3AD203B41FA5}">
                      <a16:colId xmlns:a16="http://schemas.microsoft.com/office/drawing/2014/main" val="20004"/>
                    </a:ext>
                  </a:extLst>
                </a:gridCol>
                <a:gridCol w="783148">
                  <a:extLst>
                    <a:ext uri="{9D8B030D-6E8A-4147-A177-3AD203B41FA5}">
                      <a16:colId xmlns:a16="http://schemas.microsoft.com/office/drawing/2014/main" val="20005"/>
                    </a:ext>
                  </a:extLst>
                </a:gridCol>
              </a:tblGrid>
              <a:tr h="251662">
                <a:tc>
                  <a:txBody>
                    <a:bodyPr/>
                    <a:lstStyle/>
                    <a:p>
                      <a:pPr marL="0" marR="0" algn="ctr">
                        <a:lnSpc>
                          <a:spcPct val="107000"/>
                        </a:lnSpc>
                        <a:spcBef>
                          <a:spcPts val="0"/>
                        </a:spcBef>
                        <a:spcAft>
                          <a:spcPts val="0"/>
                        </a:spcAft>
                      </a:pPr>
                      <a:r>
                        <a:rPr lang="en-US" sz="1800" b="0" i="1" dirty="0">
                          <a:effectLst/>
                          <a:latin typeface="Calibri" panose="020F0502020204030204" pitchFamily="34" charset="0"/>
                          <a:ea typeface="Calibri" panose="020F0502020204030204" pitchFamily="34" charset="0"/>
                          <a:cs typeface="Times New Roman" panose="02020603050405020304" pitchFamily="18" charset="0"/>
                        </a:rPr>
                        <a:t>z</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.00</a:t>
                      </a:r>
                    </a:p>
                  </a:txBody>
                  <a:tcPr marL="73025" marR="73025" marT="0" marB="0" anchor="ct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.01</a:t>
                      </a:r>
                    </a:p>
                  </a:txBody>
                  <a:tcPr marL="73025" marR="7302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.02</a:t>
                      </a:r>
                    </a:p>
                  </a:txBody>
                  <a:tcPr marL="73025" marR="73025" marT="0" marB="0" anchor="ct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.03</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.04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0"/>
                  </a:ext>
                </a:extLst>
              </a:tr>
              <a:tr h="251662">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1"/>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.5</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.6915</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.6950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.6985</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.7019</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.7054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2"/>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.6</a:t>
                      </a:r>
                    </a:p>
                  </a:txBody>
                  <a:tcPr marL="73025" marR="7302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.7257</a:t>
                      </a:r>
                    </a:p>
                  </a:txBody>
                  <a:tcPr marL="73025" marR="7302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.7291</a:t>
                      </a:r>
                    </a:p>
                  </a:txBody>
                  <a:tcPr marL="73025" marR="7302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.7324</a:t>
                      </a:r>
                    </a:p>
                  </a:txBody>
                  <a:tcPr marL="73025" marR="73025" marT="0" marB="0" anchor="ct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.7387</a:t>
                      </a:r>
                    </a:p>
                  </a:txBody>
                  <a:tcPr marL="73025" marR="73025" marT="0"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.7389</a:t>
                      </a:r>
                    </a:p>
                  </a:txBody>
                  <a:tcPr marL="73025" marR="73025" marT="0" marB="0" anchor="ctr">
                    <a:lnL w="381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3"/>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.7</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.7580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.7611</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.7642</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.7673</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.7704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4"/>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.8</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.7881</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.7910</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.7939</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.7967</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.7995</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5"/>
                  </a:ext>
                </a:extLst>
              </a:tr>
              <a:tr h="442728">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.9</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.8159</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.8186</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.8212</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.8238</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.8264</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6"/>
                  </a:ext>
                </a:extLst>
              </a:tr>
              <a:tr h="251662">
                <a:tc>
                  <a:txBody>
                    <a:bodyPr/>
                    <a:lstStyle/>
                    <a:p>
                      <a:pPr marL="0" marR="0" algn="ctr">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algn="ctr">
                        <a:lnSpc>
                          <a:spcPct val="107000"/>
                        </a:lnSpc>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txBody>
                  <a:tcPr marL="73025" marR="7302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7"/>
                  </a:ext>
                </a:extLst>
              </a:tr>
            </a:tbl>
          </a:graphicData>
        </a:graphic>
      </p:graphicFrame>
      <p:pic>
        <p:nvPicPr>
          <p:cNvPr id="13" name="Content Placeholder 12" descr="A sampling distribution of p overbar. The median is .72, sigma subscript p overbar baseline equals .082, and an area shaded below the p overbar values of .77 has the value: .7291.">
            <a:extLst>
              <a:ext uri="{FF2B5EF4-FFF2-40B4-BE49-F238E27FC236}">
                <a16:creationId xmlns:a16="http://schemas.microsoft.com/office/drawing/2014/main" id="{A10ED540-695F-4D28-BA2F-20DFD55CDA93}"/>
              </a:ext>
            </a:extLst>
          </p:cNvPr>
          <p:cNvPicPr>
            <a:picLocks noGrp="1" noChangeAspect="1"/>
          </p:cNvPicPr>
          <p:nvPr>
            <p:ph sz="half" idx="14"/>
          </p:nvPr>
        </p:nvPicPr>
        <p:blipFill>
          <a:blip r:embed="rId3"/>
          <a:stretch>
            <a:fillRect/>
          </a:stretch>
        </p:blipFill>
        <p:spPr>
          <a:xfrm>
            <a:off x="5859494" y="2497583"/>
            <a:ext cx="5645190" cy="3514930"/>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t>39</a:t>
            </a:fld>
            <a:endParaRPr lang="en-US"/>
          </a:p>
        </p:txBody>
      </p:sp>
    </p:spTree>
    <p:extLst>
      <p:ext uri="{BB962C8B-B14F-4D97-AF65-F5344CB8AC3E}">
        <p14:creationId xmlns:p14="http://schemas.microsoft.com/office/powerpoint/2010/main" val="25141427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itle 5"/>
              <p:cNvSpPr>
                <a:spLocks noGrp="1"/>
              </p:cNvSpPr>
              <p:nvPr>
                <p:ph type="title"/>
              </p:nvPr>
            </p:nvSpPr>
            <p:spPr/>
            <p:txBody>
              <a:bodyPr>
                <a:noAutofit/>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(9 of 10)</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blipFill>
                <a:blip r:embed="rId3"/>
                <a:stretch>
                  <a:fillRect l="-1453" t="-3361" b="-15126"/>
                </a:stretch>
              </a:blipFill>
            </p:spPr>
            <p:txBody>
              <a:bodyPr/>
              <a:lstStyle/>
              <a:p>
                <a:r>
                  <a:rPr lang="en-US">
                    <a:noFill/>
                  </a:rPr>
                  <a:t> </a:t>
                </a:r>
              </a:p>
            </p:txBody>
          </p:sp>
        </mc:Fallback>
      </mc:AlternateContent>
      <p:sp>
        <p:nvSpPr>
          <p:cNvPr id="2" name="Content Placeholder 1"/>
          <p:cNvSpPr>
            <a:spLocks noGrp="1"/>
          </p:cNvSpPr>
          <p:nvPr>
            <p:ph sz="half" idx="1"/>
          </p:nvPr>
        </p:nvSpPr>
        <p:spPr/>
        <p:txBody>
          <a:bodyPr>
            <a:noAutofit/>
          </a:bodyPr>
          <a:lstStyle/>
          <a:p>
            <a:pPr marL="0" indent="0">
              <a:buNone/>
            </a:pPr>
            <a:r>
              <a:rPr lang="en-US" dirty="0">
                <a:solidFill>
                  <a:srgbClr val="000000"/>
                </a:solidFill>
                <a:cs typeface="Arial" panose="020B0604020202020204" pitchFamily="34" charset="0"/>
              </a:rPr>
              <a:t>Example:  St. Andrew’s College</a:t>
            </a:r>
          </a:p>
          <a:p>
            <a:pPr marL="0" indent="0">
              <a:buNone/>
            </a:pPr>
            <a:r>
              <a:rPr lang="en-US" sz="2400" dirty="0">
                <a:solidFill>
                  <a:srgbClr val="000000"/>
                </a:solidFill>
                <a:cs typeface="Arial" panose="020B0604020202020204" pitchFamily="34" charset="0"/>
              </a:rPr>
              <a:t>Step 3:  Calculate the </a:t>
            </a:r>
            <a:r>
              <a:rPr lang="en-US" sz="2400" i="1" dirty="0">
                <a:solidFill>
                  <a:srgbClr val="000000"/>
                </a:solidFill>
                <a:cs typeface="Arial" panose="020B0604020202020204" pitchFamily="34" charset="0"/>
              </a:rPr>
              <a:t>z</a:t>
            </a:r>
            <a:r>
              <a:rPr lang="en-US" sz="2400" dirty="0">
                <a:solidFill>
                  <a:srgbClr val="000000"/>
                </a:solidFill>
                <a:cs typeface="Arial" panose="020B0604020202020204" pitchFamily="34" charset="0"/>
              </a:rPr>
              <a:t>-value at the </a:t>
            </a:r>
            <a:r>
              <a:rPr lang="en-US" sz="2400" u="sng" dirty="0">
                <a:solidFill>
                  <a:srgbClr val="000000"/>
                </a:solidFill>
                <a:cs typeface="Arial" panose="020B0604020202020204" pitchFamily="34" charset="0"/>
              </a:rPr>
              <a:t>lower</a:t>
            </a:r>
            <a:r>
              <a:rPr lang="en-US" sz="2400" dirty="0">
                <a:solidFill>
                  <a:srgbClr val="000000"/>
                </a:solidFill>
                <a:cs typeface="Arial" panose="020B0604020202020204" pitchFamily="34" charset="0"/>
              </a:rPr>
              <a:t> endpoint of the interval.</a:t>
            </a:r>
          </a:p>
          <a:p>
            <a:pPr marL="0" indent="0">
              <a:buNone/>
            </a:pPr>
            <a:endParaRPr lang="en-US" b="0" i="1" dirty="0">
              <a:solidFill>
                <a:srgbClr val="000000"/>
              </a:solidFill>
              <a:latin typeface="Cambria Math" panose="02040503050406030204" pitchFamily="18" charset="0"/>
              <a:cs typeface="Arial" panose="020B0604020202020204" pitchFamily="34" charset="0"/>
            </a:endParaRPr>
          </a:p>
        </p:txBody>
      </p:sp>
      <p:sp>
        <p:nvSpPr>
          <p:cNvPr id="3" name="Content Placeholder 2"/>
          <p:cNvSpPr>
            <a:spLocks noGrp="1"/>
          </p:cNvSpPr>
          <p:nvPr>
            <p:ph sz="half" idx="2"/>
          </p:nvPr>
        </p:nvSpPr>
        <p:spPr>
          <a:xfrm>
            <a:off x="836126" y="3364203"/>
            <a:ext cx="5023368" cy="809585"/>
          </a:xfrm>
        </p:spPr>
        <p:txBody>
          <a:bodyPr>
            <a:noAutofit/>
          </a:bodyPr>
          <a:lstStyle/>
          <a:p>
            <a:pPr marL="0" indent="0">
              <a:buNone/>
            </a:pPr>
            <a:r>
              <a:rPr lang="en-US" sz="2400" dirty="0">
                <a:solidFill>
                  <a:srgbClr val="000000"/>
                </a:solidFill>
                <a:cs typeface="Arial" panose="020B0604020202020204" pitchFamily="34" charset="0"/>
              </a:rPr>
              <a:t>Step 4:  Find the area under the curve to the left of the </a:t>
            </a:r>
            <a:r>
              <a:rPr lang="en-US" sz="2400" u="sng" dirty="0">
                <a:solidFill>
                  <a:srgbClr val="000000"/>
                </a:solidFill>
                <a:cs typeface="Arial" panose="020B0604020202020204" pitchFamily="34" charset="0"/>
              </a:rPr>
              <a:t>lower</a:t>
            </a:r>
            <a:r>
              <a:rPr lang="en-US" sz="2400" dirty="0">
                <a:solidFill>
                  <a:srgbClr val="000000"/>
                </a:solidFill>
                <a:cs typeface="Arial" panose="020B0604020202020204" pitchFamily="34" charset="0"/>
              </a:rPr>
              <a:t> endpoint.</a:t>
            </a:r>
          </a:p>
        </p:txBody>
      </p:sp>
      <p:pic>
        <p:nvPicPr>
          <p:cNvPr id="8" name="Content Placeholder 7" descr="A sampling distribution of p overbar. The median is .72, sigma subscript p overbar baseline equals .082, and an area shaded below the p overbar values of .67 has the value: .2709.&#10;">
            <a:extLst>
              <a:ext uri="{FF2B5EF4-FFF2-40B4-BE49-F238E27FC236}">
                <a16:creationId xmlns:a16="http://schemas.microsoft.com/office/drawing/2014/main" id="{C73E02CB-6FFF-4295-AD98-8275FFD3028F}"/>
              </a:ext>
            </a:extLst>
          </p:cNvPr>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1630781" y="4173788"/>
            <a:ext cx="3070486" cy="1914236"/>
          </a:xfrm>
        </p:spPr>
      </p:pic>
      <p:pic>
        <p:nvPicPr>
          <p:cNvPr id="13" name="Content Placeholder 12" descr="An equation. Begin equation. Z equals begin fraction left parenthesis 0.67 minus 0.72 right parenthesis over 0.082 end fraction equals negative 0 .61. End equation.">
            <a:extLst>
              <a:ext uri="{FF2B5EF4-FFF2-40B4-BE49-F238E27FC236}">
                <a16:creationId xmlns:a16="http://schemas.microsoft.com/office/drawing/2014/main" id="{F24A165F-BB68-44AE-BB5C-5FD202064FE4}"/>
              </a:ext>
            </a:extLst>
          </p:cNvPr>
          <p:cNvPicPr>
            <a:picLocks noGrp="1" noChangeAspect="1"/>
          </p:cNvPicPr>
          <p:nvPr>
            <p:ph sz="half" idx="14"/>
          </p:nvPr>
        </p:nvPicPr>
        <p:blipFill>
          <a:blip r:embed="rId5"/>
          <a:stretch>
            <a:fillRect/>
          </a:stretch>
        </p:blipFill>
        <p:spPr>
          <a:xfrm>
            <a:off x="6613525" y="1715294"/>
            <a:ext cx="3872578" cy="863367"/>
          </a:xfrm>
          <a:prstGeom prst="rect">
            <a:avLst/>
          </a:prstGeom>
        </p:spPr>
      </p:pic>
      <p:pic>
        <p:nvPicPr>
          <p:cNvPr id="17" name="Content Placeholder 16" descr="An equation. Begin equation. Upper P left parenthesis z is less than or equal to negative 0.61 right parenthesis equals 0.2709. End equation.&#10;">
            <a:extLst>
              <a:ext uri="{FF2B5EF4-FFF2-40B4-BE49-F238E27FC236}">
                <a16:creationId xmlns:a16="http://schemas.microsoft.com/office/drawing/2014/main" id="{E84B3545-2766-4B26-8C18-649EB9B18DA2}"/>
              </a:ext>
            </a:extLst>
          </p:cNvPr>
          <p:cNvPicPr>
            <a:picLocks noGrp="1" noChangeAspect="1"/>
          </p:cNvPicPr>
          <p:nvPr>
            <p:ph sz="half" idx="15"/>
          </p:nvPr>
        </p:nvPicPr>
        <p:blipFill>
          <a:blip r:embed="rId6">
            <a:extLst>
              <a:ext uri="{28A0092B-C50C-407E-A947-70E740481C1C}">
                <a14:useLocalDpi xmlns:a14="http://schemas.microsoft.com/office/drawing/2010/main" val="0"/>
              </a:ext>
            </a:extLst>
          </a:blip>
          <a:stretch>
            <a:fillRect/>
          </a:stretch>
        </p:blipFill>
        <p:spPr>
          <a:xfrm>
            <a:off x="6613525" y="3429000"/>
            <a:ext cx="3311640" cy="460178"/>
          </a:xfrm>
        </p:spPr>
      </p:pic>
      <p:sp>
        <p:nvSpPr>
          <p:cNvPr id="5" name="Slide Number Placeholder 4"/>
          <p:cNvSpPr>
            <a:spLocks noGrp="1"/>
          </p:cNvSpPr>
          <p:nvPr>
            <p:ph type="sldNum" sz="quarter" idx="12"/>
          </p:nvPr>
        </p:nvSpPr>
        <p:spPr/>
        <p:txBody>
          <a:bodyPr/>
          <a:lstStyle/>
          <a:p>
            <a:fld id="{949EBC64-41CB-41B8-B6DF-9B1367312BD4}" type="slidenum">
              <a:rPr lang="en-US" smtClean="0"/>
              <a:pPr/>
              <a:t>40</a:t>
            </a:fld>
            <a:endParaRPr lang="en-US"/>
          </a:p>
        </p:txBody>
      </p:sp>
    </p:spTree>
    <p:extLst>
      <p:ext uri="{BB962C8B-B14F-4D97-AF65-F5344CB8AC3E}">
        <p14:creationId xmlns:p14="http://schemas.microsoft.com/office/powerpoint/2010/main" val="2895627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cs typeface="Arial" panose="020B0604020202020204" pitchFamily="34" charset="0"/>
                  </a:rPr>
                  <a:t>Sampling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oMath>
                </a14:m>
                <a:r>
                  <a:rPr lang="en-US" dirty="0"/>
                  <a:t> </a:t>
                </a:r>
                <a:r>
                  <a:rPr lang="en-US" sz="1600" dirty="0"/>
                  <a:t>(10 of 10)</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3"/>
                <a:stretch>
                  <a:fillRect l="-1453" t="-3361" b="-151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Placeholder 5"/>
              <p:cNvSpPr>
                <a:spLocks noGrp="1"/>
              </p:cNvSpPr>
              <p:nvPr>
                <p:ph sz="half" idx="1"/>
              </p:nvPr>
            </p:nvSpPr>
            <p:spPr>
              <a:xfrm>
                <a:off x="836127" y="1547264"/>
                <a:ext cx="10489585" cy="2626530"/>
              </a:xfrm>
            </p:spPr>
            <p:txBody>
              <a:bodyPr/>
              <a:lstStyle/>
              <a:p>
                <a:pPr marL="0" indent="0">
                  <a:buNone/>
                </a:pPr>
                <a:r>
                  <a:rPr lang="en-US" sz="2400" dirty="0">
                    <a:solidFill>
                      <a:srgbClr val="000000"/>
                    </a:solidFill>
                    <a:cs typeface="Arial" panose="020B0604020202020204" pitchFamily="34" charset="0"/>
                  </a:rPr>
                  <a:t>The probability that the estimate of the population proportion of applicants desiring on-campus housing is within </a:t>
                </a:r>
                <a14:m>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r>
                  <a:rPr lang="en-US" sz="2400" dirty="0">
                    <a:solidFill>
                      <a:srgbClr val="000000"/>
                    </a:solidFill>
                    <a:cs typeface="Arial" panose="020B0604020202020204" pitchFamily="34" charset="0"/>
                  </a:rPr>
                  <a:t>0.05 of the actual population proportion:</a:t>
                </a:r>
              </a:p>
              <a:p>
                <a:pPr marL="0" indent="0">
                  <a:buNone/>
                </a:pPr>
                <a:r>
                  <a:rPr lang="en-US" sz="2400" dirty="0">
                    <a:solidFill>
                      <a:srgbClr val="000000"/>
                    </a:solidFill>
                    <a:cs typeface="Arial" panose="020B0604020202020204" pitchFamily="34" charset="0"/>
                  </a:rPr>
                  <a:t>Example:  St. Andrew’s College</a:t>
                </a:r>
              </a:p>
              <a:p>
                <a:pPr marL="0" indent="0">
                  <a:spcBef>
                    <a:spcPts val="1800"/>
                  </a:spcBef>
                  <a:buNone/>
                </a:pPr>
                <a:r>
                  <a:rPr lang="en-US" sz="2400" dirty="0">
                    <a:solidFill>
                      <a:srgbClr val="000000"/>
                    </a:solidFill>
                    <a:cs typeface="Arial" panose="020B0604020202020204" pitchFamily="34" charset="0"/>
                  </a:rPr>
                  <a:t>Step 5:  Calculate the area under the </a:t>
                </a:r>
                <a:br>
                  <a:rPr lang="en-US" sz="2400" dirty="0">
                    <a:solidFill>
                      <a:srgbClr val="000000"/>
                    </a:solidFill>
                    <a:cs typeface="Arial" panose="020B0604020202020204" pitchFamily="34" charset="0"/>
                  </a:rPr>
                </a:br>
                <a:r>
                  <a:rPr lang="en-US" sz="2400" dirty="0">
                    <a:solidFill>
                      <a:srgbClr val="000000"/>
                    </a:solidFill>
                    <a:cs typeface="Arial" panose="020B0604020202020204" pitchFamily="34" charset="0"/>
                  </a:rPr>
                  <a:t>curve between the lower and upper </a:t>
                </a:r>
                <a:br>
                  <a:rPr lang="en-US" sz="2400" dirty="0">
                    <a:solidFill>
                      <a:srgbClr val="000000"/>
                    </a:solidFill>
                    <a:cs typeface="Arial" panose="020B0604020202020204" pitchFamily="34" charset="0"/>
                  </a:rPr>
                </a:br>
                <a:r>
                  <a:rPr lang="en-US" sz="2400" dirty="0">
                    <a:solidFill>
                      <a:srgbClr val="000000"/>
                    </a:solidFill>
                    <a:cs typeface="Arial" panose="020B0604020202020204" pitchFamily="34" charset="0"/>
                  </a:rPr>
                  <a:t>endpoints of the interval.</a:t>
                </a:r>
              </a:p>
            </p:txBody>
          </p:sp>
        </mc:Choice>
        <mc:Fallback xmlns="">
          <p:sp>
            <p:nvSpPr>
              <p:cNvPr id="6" name="Text Placeholder 5"/>
              <p:cNvSpPr>
                <a:spLocks noGrp="1" noRot="1" noChangeAspect="1" noMove="1" noResize="1" noEditPoints="1" noAdjustHandles="1" noChangeArrowheads="1" noChangeShapeType="1" noTextEdit="1"/>
              </p:cNvSpPr>
              <p:nvPr>
                <p:ph sz="half" idx="1"/>
              </p:nvPr>
            </p:nvSpPr>
            <p:spPr>
              <a:xfrm>
                <a:off x="836127" y="1547264"/>
                <a:ext cx="10489585" cy="2626530"/>
              </a:xfrm>
              <a:blipFill>
                <a:blip r:embed="rId4"/>
                <a:stretch>
                  <a:fillRect l="-872" t="-3248"/>
                </a:stretch>
              </a:blipFill>
            </p:spPr>
            <p:txBody>
              <a:bodyPr/>
              <a:lstStyle/>
              <a:p>
                <a:r>
                  <a:rPr lang="en-US">
                    <a:noFill/>
                  </a:rPr>
                  <a:t> </a:t>
                </a:r>
              </a:p>
            </p:txBody>
          </p:sp>
        </mc:Fallback>
      </mc:AlternateContent>
      <p:pic>
        <p:nvPicPr>
          <p:cNvPr id="8" name="Content Placeholder 7" descr="A sampling distribution of p overbar. The median is .72, sigma subscript p overbar baseline equals .082, and an area shaded between the p overbar values of .67 and .77 has the value: .4582.">
            <a:extLst>
              <a:ext uri="{FF2B5EF4-FFF2-40B4-BE49-F238E27FC236}">
                <a16:creationId xmlns:a16="http://schemas.microsoft.com/office/drawing/2014/main" id="{17C427D8-0AC1-4AFD-81D4-027147F71D25}"/>
              </a:ext>
            </a:extLst>
          </p:cNvPr>
          <p:cNvPicPr>
            <a:picLocks noGrp="1" noChangeAspect="1"/>
          </p:cNvPicPr>
          <p:nvPr>
            <p:ph sz="half" idx="2"/>
          </p:nvPr>
        </p:nvPicPr>
        <p:blipFill>
          <a:blip r:embed="rId5"/>
          <a:stretch>
            <a:fillRect/>
          </a:stretch>
        </p:blipFill>
        <p:spPr>
          <a:xfrm>
            <a:off x="6080919" y="2339604"/>
            <a:ext cx="5446419" cy="3668380"/>
          </a:xfrm>
          <a:prstGeom prst="rect">
            <a:avLst/>
          </a:prstGeom>
        </p:spPr>
      </p:pic>
      <p:sp>
        <p:nvSpPr>
          <p:cNvPr id="2" name="Slide Number Placeholder 1"/>
          <p:cNvSpPr>
            <a:spLocks noGrp="1"/>
          </p:cNvSpPr>
          <p:nvPr>
            <p:ph type="sldNum" sz="quarter" idx="12"/>
          </p:nvPr>
        </p:nvSpPr>
        <p:spPr/>
        <p:txBody>
          <a:bodyPr/>
          <a:lstStyle/>
          <a:p>
            <a:fld id="{949EBC64-41CB-41B8-B6DF-9B1367312BD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noFill/>
          <a:ln/>
        </p:spPr>
        <p:txBody>
          <a:bodyPr/>
          <a:lstStyle/>
          <a:p>
            <a:r>
              <a:rPr lang="en-US" dirty="0"/>
              <a:t>Other Sampling Methods</a:t>
            </a:r>
          </a:p>
        </p:txBody>
      </p:sp>
      <p:sp>
        <p:nvSpPr>
          <p:cNvPr id="3" name="Content Placeholder 2"/>
          <p:cNvSpPr>
            <a:spLocks noGrp="1"/>
          </p:cNvSpPr>
          <p:nvPr>
            <p:ph sz="quarter" idx="13"/>
          </p:nvPr>
        </p:nvSpPr>
        <p:spPr/>
        <p:txBody>
          <a:bodyPr>
            <a:noAutofit/>
          </a:bodyPr>
          <a:lstStyle/>
          <a:p>
            <a:pPr marL="342900" indent="-342900">
              <a:spcBef>
                <a:spcPct val="20000"/>
              </a:spcBef>
              <a:buSzPct val="100000"/>
            </a:pPr>
            <a:r>
              <a:rPr lang="en-US" sz="2400" dirty="0">
                <a:solidFill>
                  <a:srgbClr val="000000"/>
                </a:solidFill>
                <a:cs typeface="Arial" panose="020B0604020202020204" pitchFamily="34" charset="0"/>
              </a:rPr>
              <a:t>Stratified Random Sampling</a:t>
            </a:r>
          </a:p>
          <a:p>
            <a:pPr marL="342900" lvl="0" indent="-342900">
              <a:spcBef>
                <a:spcPct val="20000"/>
              </a:spcBef>
              <a:buSzPct val="100000"/>
            </a:pPr>
            <a:r>
              <a:rPr lang="en-US" sz="2400" dirty="0">
                <a:solidFill>
                  <a:srgbClr val="000000"/>
                </a:solidFill>
                <a:cs typeface="Arial" panose="020B0604020202020204" pitchFamily="34" charset="0"/>
              </a:rPr>
              <a:t>Cluster Sampling</a:t>
            </a:r>
          </a:p>
          <a:p>
            <a:pPr marL="342900" lvl="0" indent="-342900">
              <a:spcBef>
                <a:spcPct val="20000"/>
              </a:spcBef>
              <a:buSzPct val="100000"/>
            </a:pPr>
            <a:r>
              <a:rPr lang="en-US" sz="2400" dirty="0">
                <a:solidFill>
                  <a:srgbClr val="000000"/>
                </a:solidFill>
                <a:cs typeface="Arial" panose="020B0604020202020204" pitchFamily="34" charset="0"/>
              </a:rPr>
              <a:t>Systematic Sampling</a:t>
            </a:r>
          </a:p>
          <a:p>
            <a:pPr marL="342900" lvl="0" indent="-342900">
              <a:spcBef>
                <a:spcPct val="20000"/>
              </a:spcBef>
              <a:buSzPct val="100000"/>
            </a:pPr>
            <a:r>
              <a:rPr lang="en-US" sz="2400" dirty="0">
                <a:solidFill>
                  <a:srgbClr val="000000"/>
                </a:solidFill>
                <a:cs typeface="Arial" panose="020B0604020202020204" pitchFamily="34" charset="0"/>
              </a:rPr>
              <a:t>Convenience Sampling</a:t>
            </a:r>
          </a:p>
          <a:p>
            <a:pPr marL="342900" lvl="0" indent="-342900">
              <a:spcBef>
                <a:spcPct val="20000"/>
              </a:spcBef>
              <a:buSzPct val="100000"/>
            </a:pPr>
            <a:r>
              <a:rPr lang="en-US" sz="2400" dirty="0">
                <a:solidFill>
                  <a:srgbClr val="000000"/>
                </a:solidFill>
                <a:cs typeface="Arial" panose="020B0604020202020204" pitchFamily="34" charset="0"/>
              </a:rPr>
              <a:t>Judgment Sampling</a:t>
            </a:r>
          </a:p>
        </p:txBody>
      </p:sp>
      <p:sp>
        <p:nvSpPr>
          <p:cNvPr id="2" name="Slide Number Placeholder 1"/>
          <p:cNvSpPr>
            <a:spLocks noGrp="1"/>
          </p:cNvSpPr>
          <p:nvPr>
            <p:ph type="sldNum" sz="quarter" idx="12"/>
          </p:nvPr>
        </p:nvSpPr>
        <p:spPr/>
        <p:txBody>
          <a:bodyPr/>
          <a:lstStyle/>
          <a:p>
            <a:fld id="{949EBC64-41CB-41B8-B6DF-9B1367312BD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Stratified Random Sampling</a:t>
            </a:r>
            <a:endParaRPr lang="en-US" dirty="0"/>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The population is first divided into groups of elements called </a:t>
            </a:r>
            <a:r>
              <a:rPr lang="en-US" sz="2400" u="sng" dirty="0">
                <a:solidFill>
                  <a:srgbClr val="000000"/>
                </a:solidFill>
                <a:cs typeface="Arial" panose="020B0604020202020204" pitchFamily="34" charset="0"/>
              </a:rPr>
              <a:t>strata</a:t>
            </a:r>
            <a:r>
              <a:rPr lang="en-US" sz="2400" dirty="0">
                <a:solidFill>
                  <a:srgbClr val="000000"/>
                </a:solidFill>
                <a:cs typeface="Arial" panose="020B0604020202020204" pitchFamily="34" charset="0"/>
              </a:rPr>
              <a:t>.</a:t>
            </a:r>
          </a:p>
          <a:p>
            <a:pPr marL="342900" lvl="0" indent="-342900"/>
            <a:r>
              <a:rPr lang="en-US" sz="2400" dirty="0">
                <a:solidFill>
                  <a:srgbClr val="000000"/>
                </a:solidFill>
                <a:cs typeface="Arial" panose="020B0604020202020204" pitchFamily="34" charset="0"/>
              </a:rPr>
              <a:t>Each element in the population belongs to one and only one stratum.</a:t>
            </a:r>
          </a:p>
          <a:p>
            <a:pPr marL="342900" lvl="0" indent="-342900"/>
            <a:r>
              <a:rPr lang="en-US" sz="2400" dirty="0">
                <a:solidFill>
                  <a:srgbClr val="000000"/>
                </a:solidFill>
                <a:cs typeface="Arial" panose="020B0604020202020204" pitchFamily="34" charset="0"/>
              </a:rPr>
              <a:t>Best results are obtained when the elements within each stratum are as much alike as possible (i.e. a </a:t>
            </a:r>
            <a:r>
              <a:rPr lang="en-US" sz="2400" u="sng" dirty="0">
                <a:solidFill>
                  <a:srgbClr val="000000"/>
                </a:solidFill>
                <a:cs typeface="Arial" panose="020B0604020202020204" pitchFamily="34" charset="0"/>
              </a:rPr>
              <a:t>homogeneous group</a:t>
            </a:r>
            <a:r>
              <a:rPr lang="en-US" sz="2400" dirty="0">
                <a:solidFill>
                  <a:srgbClr val="000000"/>
                </a:solidFill>
                <a:cs typeface="Arial" panose="020B0604020202020204" pitchFamily="34" charset="0"/>
              </a:rPr>
              <a:t>).</a:t>
            </a:r>
          </a:p>
        </p:txBody>
      </p:sp>
      <p:sp>
        <p:nvSpPr>
          <p:cNvPr id="2" name="Slide Number Placeholder 1"/>
          <p:cNvSpPr>
            <a:spLocks noGrp="1"/>
          </p:cNvSpPr>
          <p:nvPr>
            <p:ph type="sldNum" sz="quarter" idx="12"/>
          </p:nvPr>
        </p:nvSpPr>
        <p:spPr/>
        <p:txBody>
          <a:bodyPr/>
          <a:lstStyle/>
          <a:p>
            <a:fld id="{949EBC64-41CB-41B8-B6DF-9B1367312BD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Stratified Random Sampling, Part 2</a:t>
            </a:r>
            <a:endParaRPr lang="en-US" dirty="0"/>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A simple random sample is taken from each stratum.</a:t>
            </a:r>
          </a:p>
          <a:p>
            <a:pPr marL="342900" lvl="0" indent="-342900"/>
            <a:r>
              <a:rPr lang="en-US" sz="2400" dirty="0">
                <a:solidFill>
                  <a:srgbClr val="000000"/>
                </a:solidFill>
                <a:cs typeface="Arial" panose="020B0604020202020204" pitchFamily="34" charset="0"/>
              </a:rPr>
              <a:t>Formulas are available for combining the stratum sample results into one population parameter estimate.</a:t>
            </a:r>
          </a:p>
          <a:p>
            <a:pPr marL="342900" lvl="0" indent="-342900"/>
            <a:r>
              <a:rPr lang="en-US" sz="2400" u="sng" dirty="0">
                <a:solidFill>
                  <a:srgbClr val="000000"/>
                </a:solidFill>
                <a:cs typeface="Arial" panose="020B0604020202020204" pitchFamily="34" charset="0"/>
              </a:rPr>
              <a:t>Advantage</a:t>
            </a:r>
            <a:r>
              <a:rPr lang="en-US" sz="2400" dirty="0">
                <a:solidFill>
                  <a:srgbClr val="000000"/>
                </a:solidFill>
                <a:cs typeface="Arial" panose="020B0604020202020204" pitchFamily="34" charset="0"/>
              </a:rPr>
              <a:t>:  If strata are homogeneous, this method provides results that is as “precise” as simple random sampling but with a smaller total sample size.</a:t>
            </a:r>
          </a:p>
          <a:p>
            <a:pPr marL="342900" lvl="0" indent="-342900"/>
            <a:r>
              <a:rPr lang="en-US" sz="2400" u="sng" dirty="0">
                <a:solidFill>
                  <a:srgbClr val="000000"/>
                </a:solidFill>
                <a:cs typeface="Arial" panose="020B0604020202020204" pitchFamily="34" charset="0"/>
              </a:rPr>
              <a:t>Example</a:t>
            </a:r>
            <a:r>
              <a:rPr lang="en-US" sz="2400" dirty="0">
                <a:solidFill>
                  <a:srgbClr val="000000"/>
                </a:solidFill>
                <a:cs typeface="Arial" panose="020B0604020202020204" pitchFamily="34" charset="0"/>
              </a:rPr>
              <a:t>:  The basis for forming the strata might be department, location, age, industry type, and so on.</a:t>
            </a:r>
          </a:p>
        </p:txBody>
      </p:sp>
      <p:sp>
        <p:nvSpPr>
          <p:cNvPr id="2" name="Slide Number Placeholder 1"/>
          <p:cNvSpPr>
            <a:spLocks noGrp="1"/>
          </p:cNvSpPr>
          <p:nvPr>
            <p:ph type="sldNum" sz="quarter" idx="12"/>
          </p:nvPr>
        </p:nvSpPr>
        <p:spPr/>
        <p:txBody>
          <a:bodyPr/>
          <a:lstStyle/>
          <a:p>
            <a:fld id="{949EBC64-41CB-41B8-B6DF-9B1367312BD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Cluster Sampling </a:t>
            </a:r>
            <a:r>
              <a:rPr lang="en-US" sz="1600" dirty="0"/>
              <a:t>(1 of 2)</a:t>
            </a:r>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The population is first divided into separate groups of elements called </a:t>
            </a:r>
            <a:r>
              <a:rPr lang="en-US" sz="2400" u="sng" dirty="0">
                <a:solidFill>
                  <a:srgbClr val="000000"/>
                </a:solidFill>
                <a:cs typeface="Arial" panose="020B0604020202020204" pitchFamily="34" charset="0"/>
              </a:rPr>
              <a:t>clusters</a:t>
            </a:r>
            <a:r>
              <a:rPr lang="en-US" sz="2400" dirty="0">
                <a:solidFill>
                  <a:srgbClr val="000000"/>
                </a:solidFill>
                <a:cs typeface="Arial" panose="020B0604020202020204" pitchFamily="34" charset="0"/>
              </a:rPr>
              <a:t>.</a:t>
            </a:r>
          </a:p>
          <a:p>
            <a:pPr marL="342900" indent="-342900"/>
            <a:r>
              <a:rPr lang="en-US" sz="2400" dirty="0">
                <a:solidFill>
                  <a:srgbClr val="000000"/>
                </a:solidFill>
                <a:cs typeface="Arial" panose="020B0604020202020204" pitchFamily="34" charset="0"/>
              </a:rPr>
              <a:t>Ideally, each cluster is a representative small-scale version of the population (i.e. heterogeneous group).</a:t>
            </a:r>
          </a:p>
          <a:p>
            <a:pPr marL="342900" indent="-342900"/>
            <a:r>
              <a:rPr lang="en-US" sz="2400" dirty="0">
                <a:solidFill>
                  <a:srgbClr val="000000"/>
                </a:solidFill>
                <a:cs typeface="Arial" panose="020B0604020202020204" pitchFamily="34" charset="0"/>
              </a:rPr>
              <a:t>A simple random sample of the clusters is then taken.</a:t>
            </a:r>
          </a:p>
          <a:p>
            <a:pPr marL="342900" indent="-342900"/>
            <a:r>
              <a:rPr lang="en-US" sz="2400" dirty="0">
                <a:solidFill>
                  <a:srgbClr val="000000"/>
                </a:solidFill>
                <a:cs typeface="Arial" panose="020B0604020202020204" pitchFamily="34" charset="0"/>
              </a:rPr>
              <a:t>All elements within each sampled (chosen) cluster form the sample.</a:t>
            </a:r>
          </a:p>
        </p:txBody>
      </p:sp>
      <p:sp>
        <p:nvSpPr>
          <p:cNvPr id="2" name="Slide Number Placeholder 1"/>
          <p:cNvSpPr>
            <a:spLocks noGrp="1"/>
          </p:cNvSpPr>
          <p:nvPr>
            <p:ph type="sldNum" sz="quarter" idx="12"/>
          </p:nvPr>
        </p:nvSpPr>
        <p:spPr/>
        <p:txBody>
          <a:bodyPr/>
          <a:lstStyle/>
          <a:p>
            <a:fld id="{949EBC64-41CB-41B8-B6DF-9B1367312BD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Cluster Sampling </a:t>
            </a:r>
            <a:r>
              <a:rPr lang="en-US" sz="1600" dirty="0"/>
              <a:t>(2 of 2)</a:t>
            </a:r>
          </a:p>
        </p:txBody>
      </p:sp>
      <p:sp>
        <p:nvSpPr>
          <p:cNvPr id="4" name="Content Placeholder 3"/>
          <p:cNvSpPr>
            <a:spLocks noGrp="1"/>
          </p:cNvSpPr>
          <p:nvPr>
            <p:ph sz="quarter" idx="13"/>
          </p:nvPr>
        </p:nvSpPr>
        <p:spPr/>
        <p:txBody>
          <a:bodyPr>
            <a:noAutofit/>
          </a:bodyPr>
          <a:lstStyle/>
          <a:p>
            <a:pPr marL="342900" indent="-342900"/>
            <a:r>
              <a:rPr lang="en-US" sz="2400" u="sng" dirty="0">
                <a:solidFill>
                  <a:srgbClr val="000000"/>
                </a:solidFill>
                <a:cs typeface="Arial" panose="020B0604020202020204" pitchFamily="34" charset="0"/>
              </a:rPr>
              <a:t>Example</a:t>
            </a:r>
            <a:r>
              <a:rPr lang="en-US" sz="2400" dirty="0">
                <a:solidFill>
                  <a:srgbClr val="000000"/>
                </a:solidFill>
                <a:cs typeface="Arial" panose="020B0604020202020204" pitchFamily="34" charset="0"/>
              </a:rPr>
              <a:t>: A primary application is area sampling, where clusters are city blocks or other well-defined areas.</a:t>
            </a:r>
          </a:p>
          <a:p>
            <a:pPr marL="342900" lvl="0" indent="-342900"/>
            <a:r>
              <a:rPr lang="en-US" sz="2400" u="sng" dirty="0">
                <a:solidFill>
                  <a:srgbClr val="000000"/>
                </a:solidFill>
                <a:cs typeface="Arial" panose="020B0604020202020204" pitchFamily="34" charset="0"/>
              </a:rPr>
              <a:t>Advantage</a:t>
            </a:r>
            <a:r>
              <a:rPr lang="en-US" sz="2400" dirty="0">
                <a:solidFill>
                  <a:srgbClr val="000000"/>
                </a:solidFill>
                <a:cs typeface="Arial" panose="020B0604020202020204" pitchFamily="34" charset="0"/>
              </a:rPr>
              <a:t>: The close proximity of elements can be cost effective (i.e. many sample observations can be obtained in a short time).</a:t>
            </a:r>
          </a:p>
          <a:p>
            <a:pPr marL="342900" lvl="0" indent="-342900"/>
            <a:r>
              <a:rPr lang="en-US" sz="2400" u="sng" dirty="0">
                <a:solidFill>
                  <a:srgbClr val="000000"/>
                </a:solidFill>
                <a:cs typeface="Arial" panose="020B0604020202020204" pitchFamily="34" charset="0"/>
              </a:rPr>
              <a:t>Disadvantage</a:t>
            </a:r>
            <a:r>
              <a:rPr lang="en-US" sz="2400" dirty="0">
                <a:solidFill>
                  <a:srgbClr val="000000"/>
                </a:solidFill>
                <a:cs typeface="Arial" panose="020B0604020202020204" pitchFamily="34" charset="0"/>
              </a:rPr>
              <a:t>: This method generally requires a larger total sample size than simple or stratified random sampling.</a:t>
            </a:r>
          </a:p>
        </p:txBody>
      </p:sp>
      <p:sp>
        <p:nvSpPr>
          <p:cNvPr id="2" name="Slide Number Placeholder 1"/>
          <p:cNvSpPr>
            <a:spLocks noGrp="1"/>
          </p:cNvSpPr>
          <p:nvPr>
            <p:ph type="sldNum" sz="quarter" idx="12"/>
          </p:nvPr>
        </p:nvSpPr>
        <p:spPr/>
        <p:txBody>
          <a:bodyPr/>
          <a:lstStyle/>
          <a:p>
            <a:fld id="{949EBC64-41CB-41B8-B6DF-9B1367312BD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Systematic Sampling </a:t>
            </a:r>
            <a:r>
              <a:rPr lang="en-US" sz="1600" dirty="0"/>
              <a:t>(1 of 2)</a:t>
            </a:r>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If a sample size of </a:t>
            </a:r>
            <a:r>
              <a:rPr lang="en-US" sz="2400" i="1" dirty="0">
                <a:solidFill>
                  <a:srgbClr val="000000"/>
                </a:solidFill>
                <a:cs typeface="Arial" panose="020B0604020202020204" pitchFamily="34" charset="0"/>
              </a:rPr>
              <a:t>n</a:t>
            </a:r>
            <a:r>
              <a:rPr lang="en-US" sz="2400" dirty="0">
                <a:solidFill>
                  <a:srgbClr val="000000"/>
                </a:solidFill>
                <a:cs typeface="Arial" panose="020B0604020202020204" pitchFamily="34" charset="0"/>
              </a:rPr>
              <a:t> is desired from a population containing </a:t>
            </a:r>
            <a:r>
              <a:rPr lang="en-US" sz="2400" i="1" dirty="0">
                <a:solidFill>
                  <a:srgbClr val="000000"/>
                </a:solidFill>
                <a:cs typeface="Arial" panose="020B0604020202020204" pitchFamily="34" charset="0"/>
              </a:rPr>
              <a:t>N</a:t>
            </a:r>
            <a:r>
              <a:rPr lang="en-US" sz="2400" dirty="0">
                <a:solidFill>
                  <a:srgbClr val="000000"/>
                </a:solidFill>
                <a:cs typeface="Arial" panose="020B0604020202020204" pitchFamily="34" charset="0"/>
              </a:rPr>
              <a:t> elements, we might sample one element for every </a:t>
            </a:r>
            <a:r>
              <a:rPr lang="en-US" sz="2400" i="1" dirty="0">
                <a:solidFill>
                  <a:srgbClr val="000000"/>
                </a:solidFill>
                <a:cs typeface="Arial" panose="020B0604020202020204" pitchFamily="34" charset="0"/>
              </a:rPr>
              <a:t>N/n</a:t>
            </a:r>
            <a:r>
              <a:rPr lang="en-US" sz="2400" dirty="0">
                <a:solidFill>
                  <a:srgbClr val="000000"/>
                </a:solidFill>
                <a:cs typeface="Arial" panose="020B0604020202020204" pitchFamily="34" charset="0"/>
              </a:rPr>
              <a:t> elements in the population.</a:t>
            </a:r>
          </a:p>
          <a:p>
            <a:pPr marL="342900" lvl="0" indent="-342900"/>
            <a:r>
              <a:rPr lang="en-US" sz="2400" dirty="0">
                <a:solidFill>
                  <a:srgbClr val="000000"/>
                </a:solidFill>
                <a:cs typeface="Arial" panose="020B0604020202020204" pitchFamily="34" charset="0"/>
              </a:rPr>
              <a:t>We randomly select one of the first </a:t>
            </a:r>
            <a:r>
              <a:rPr lang="en-US" sz="2400" i="1" dirty="0">
                <a:solidFill>
                  <a:srgbClr val="000000"/>
                </a:solidFill>
                <a:cs typeface="Arial" panose="020B0604020202020204" pitchFamily="34" charset="0"/>
              </a:rPr>
              <a:t>N/n</a:t>
            </a:r>
            <a:r>
              <a:rPr lang="en-US" sz="2400" dirty="0">
                <a:solidFill>
                  <a:srgbClr val="000000"/>
                </a:solidFill>
                <a:cs typeface="Arial" panose="020B0604020202020204" pitchFamily="34" charset="0"/>
              </a:rPr>
              <a:t> elements from the population list.</a:t>
            </a:r>
          </a:p>
          <a:p>
            <a:pPr marL="342900" lvl="0" indent="-342900"/>
            <a:r>
              <a:rPr lang="en-US" sz="2400" dirty="0">
                <a:solidFill>
                  <a:srgbClr val="000000"/>
                </a:solidFill>
                <a:cs typeface="Arial" panose="020B0604020202020204" pitchFamily="34" charset="0"/>
              </a:rPr>
              <a:t>We then select every </a:t>
            </a:r>
            <a:r>
              <a:rPr lang="en-US" sz="2400" i="1" dirty="0">
                <a:solidFill>
                  <a:srgbClr val="000000"/>
                </a:solidFill>
                <a:cs typeface="Arial" panose="020B0604020202020204" pitchFamily="34" charset="0"/>
              </a:rPr>
              <a:t>N/n</a:t>
            </a:r>
            <a:r>
              <a:rPr lang="en-US" sz="2400" dirty="0">
                <a:solidFill>
                  <a:srgbClr val="000000"/>
                </a:solidFill>
                <a:cs typeface="Arial" panose="020B0604020202020204" pitchFamily="34" charset="0"/>
              </a:rPr>
              <a:t>th element that follows in the population list.</a:t>
            </a:r>
          </a:p>
        </p:txBody>
      </p:sp>
      <p:sp>
        <p:nvSpPr>
          <p:cNvPr id="2" name="Slide Number Placeholder 1"/>
          <p:cNvSpPr>
            <a:spLocks noGrp="1"/>
          </p:cNvSpPr>
          <p:nvPr>
            <p:ph type="sldNum" sz="quarter" idx="12"/>
          </p:nvPr>
        </p:nvSpPr>
        <p:spPr/>
        <p:txBody>
          <a:bodyPr/>
          <a:lstStyle/>
          <a:p>
            <a:fld id="{949EBC64-41CB-41B8-B6DF-9B1367312BD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Systematic Sampling </a:t>
            </a:r>
            <a:r>
              <a:rPr lang="en-US" sz="1600" dirty="0"/>
              <a:t>(2 of 2)</a:t>
            </a:r>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This method has the properties of a simple random sample, especially if the list of the population elements is a random ordering.</a:t>
            </a:r>
          </a:p>
          <a:p>
            <a:pPr marL="342900" lvl="0" indent="-342900"/>
            <a:r>
              <a:rPr lang="en-US" sz="2400" u="sng" dirty="0">
                <a:solidFill>
                  <a:srgbClr val="000000"/>
                </a:solidFill>
                <a:cs typeface="Arial" panose="020B0604020202020204" pitchFamily="34" charset="0"/>
              </a:rPr>
              <a:t>Advantage</a:t>
            </a:r>
            <a:r>
              <a:rPr lang="en-US" sz="2400" dirty="0">
                <a:solidFill>
                  <a:srgbClr val="000000"/>
                </a:solidFill>
                <a:cs typeface="Arial" panose="020B0604020202020204" pitchFamily="34" charset="0"/>
              </a:rPr>
              <a:t>: The sample usually will be easier to identify than it would be if simple random sampling were used.</a:t>
            </a:r>
          </a:p>
          <a:p>
            <a:pPr marL="342900" lvl="0" indent="-342900"/>
            <a:r>
              <a:rPr lang="en-US" sz="2400" u="sng" dirty="0">
                <a:solidFill>
                  <a:srgbClr val="000000"/>
                </a:solidFill>
                <a:cs typeface="Arial" panose="020B0604020202020204" pitchFamily="34" charset="0"/>
              </a:rPr>
              <a:t>Example</a:t>
            </a:r>
            <a:r>
              <a:rPr lang="en-US" sz="2400" dirty="0">
                <a:solidFill>
                  <a:srgbClr val="000000"/>
                </a:solidFill>
                <a:cs typeface="Arial" panose="020B0604020202020204" pitchFamily="34" charset="0"/>
              </a:rPr>
              <a:t>: Selecting every 100</a:t>
            </a:r>
            <a:r>
              <a:rPr lang="en-US" sz="2400" baseline="30000" dirty="0">
                <a:solidFill>
                  <a:srgbClr val="000000"/>
                </a:solidFill>
                <a:cs typeface="Arial" panose="020B0604020202020204" pitchFamily="34" charset="0"/>
              </a:rPr>
              <a:t>th</a:t>
            </a:r>
            <a:r>
              <a:rPr lang="en-US" sz="2400" dirty="0">
                <a:solidFill>
                  <a:srgbClr val="000000"/>
                </a:solidFill>
                <a:cs typeface="Arial" panose="020B0604020202020204" pitchFamily="34" charset="0"/>
              </a:rPr>
              <a:t> listing in a telephone book after the first randomly selected listing.</a:t>
            </a:r>
          </a:p>
        </p:txBody>
      </p:sp>
      <p:sp>
        <p:nvSpPr>
          <p:cNvPr id="2" name="Slide Number Placeholder 1"/>
          <p:cNvSpPr>
            <a:spLocks noGrp="1"/>
          </p:cNvSpPr>
          <p:nvPr>
            <p:ph type="sldNum" sz="quarter" idx="12"/>
          </p:nvPr>
        </p:nvSpPr>
        <p:spPr/>
        <p:txBody>
          <a:bodyPr/>
          <a:lstStyle/>
          <a:p>
            <a:fld id="{949EBC64-41CB-41B8-B6DF-9B1367312BD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Convenience Sampling</a:t>
            </a:r>
            <a:endParaRPr lang="en-US" dirty="0"/>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It is a </a:t>
            </a:r>
            <a:r>
              <a:rPr lang="en-US" sz="2400" u="sng" dirty="0">
                <a:solidFill>
                  <a:srgbClr val="000000"/>
                </a:solidFill>
                <a:cs typeface="Arial" panose="020B0604020202020204" pitchFamily="34" charset="0"/>
              </a:rPr>
              <a:t>nonprobability sampling technique</a:t>
            </a:r>
            <a:r>
              <a:rPr lang="en-US" sz="2400" dirty="0">
                <a:solidFill>
                  <a:srgbClr val="000000"/>
                </a:solidFill>
                <a:cs typeface="Arial" panose="020B0604020202020204" pitchFamily="34" charset="0"/>
              </a:rPr>
              <a:t>.  Items are included in the sample without known probabilities of being selected.</a:t>
            </a:r>
          </a:p>
          <a:p>
            <a:pPr marL="342900" lvl="0" indent="-342900"/>
            <a:r>
              <a:rPr lang="en-US" sz="2400" dirty="0">
                <a:solidFill>
                  <a:srgbClr val="000000"/>
                </a:solidFill>
                <a:cs typeface="Arial" panose="020B0604020202020204" pitchFamily="34" charset="0"/>
              </a:rPr>
              <a:t>The sample is identified primarily by </a:t>
            </a:r>
            <a:r>
              <a:rPr lang="en-US" sz="2400" u="sng" dirty="0">
                <a:solidFill>
                  <a:srgbClr val="000000"/>
                </a:solidFill>
                <a:cs typeface="Arial" panose="020B0604020202020204" pitchFamily="34" charset="0"/>
              </a:rPr>
              <a:t>convenience</a:t>
            </a:r>
            <a:r>
              <a:rPr lang="en-US" sz="2400" dirty="0">
                <a:solidFill>
                  <a:srgbClr val="000000"/>
                </a:solidFill>
                <a:cs typeface="Arial" panose="020B0604020202020204" pitchFamily="34" charset="0"/>
              </a:rPr>
              <a:t>.</a:t>
            </a:r>
          </a:p>
          <a:p>
            <a:pPr marL="342900" lvl="0" indent="-342900"/>
            <a:r>
              <a:rPr lang="en-US" sz="2400" u="sng" dirty="0">
                <a:solidFill>
                  <a:srgbClr val="000000"/>
                </a:solidFill>
                <a:cs typeface="Arial" panose="020B0604020202020204" pitchFamily="34" charset="0"/>
              </a:rPr>
              <a:t>Example</a:t>
            </a:r>
            <a:r>
              <a:rPr lang="en-US" sz="2400" dirty="0">
                <a:solidFill>
                  <a:srgbClr val="000000"/>
                </a:solidFill>
                <a:cs typeface="Arial" panose="020B0604020202020204" pitchFamily="34" charset="0"/>
              </a:rPr>
              <a:t>:  A professor conducting research might use student volunteers to constitute a sample.</a:t>
            </a:r>
          </a:p>
          <a:p>
            <a:pPr marL="342900" indent="-342900"/>
            <a:r>
              <a:rPr lang="en-US" sz="2400" u="sng" dirty="0">
                <a:solidFill>
                  <a:srgbClr val="000000"/>
                </a:solidFill>
                <a:cs typeface="Arial" panose="020B0604020202020204" pitchFamily="34" charset="0"/>
              </a:rPr>
              <a:t>Advantage</a:t>
            </a:r>
            <a:r>
              <a:rPr lang="en-US" sz="2400" dirty="0">
                <a:solidFill>
                  <a:srgbClr val="000000"/>
                </a:solidFill>
                <a:cs typeface="Arial" panose="020B0604020202020204" pitchFamily="34" charset="0"/>
              </a:rPr>
              <a:t>: Sample selection and data collection are relatively easy.</a:t>
            </a:r>
          </a:p>
          <a:p>
            <a:pPr marL="342900" lvl="0" indent="-342900"/>
            <a:r>
              <a:rPr lang="en-US" sz="2400" u="sng" dirty="0">
                <a:solidFill>
                  <a:srgbClr val="000000"/>
                </a:solidFill>
                <a:cs typeface="Arial" panose="020B0604020202020204" pitchFamily="34" charset="0"/>
              </a:rPr>
              <a:t>Disadvantage</a:t>
            </a:r>
            <a:r>
              <a:rPr lang="en-US" sz="2400" dirty="0">
                <a:solidFill>
                  <a:srgbClr val="000000"/>
                </a:solidFill>
                <a:cs typeface="Arial" panose="020B0604020202020204" pitchFamily="34" charset="0"/>
              </a:rPr>
              <a:t>:  It is impossible to determine how representative of the population the sample is.</a:t>
            </a:r>
          </a:p>
        </p:txBody>
      </p:sp>
      <p:sp>
        <p:nvSpPr>
          <p:cNvPr id="2" name="Slide Number Placeholder 1"/>
          <p:cNvSpPr>
            <a:spLocks noGrp="1"/>
          </p:cNvSpPr>
          <p:nvPr>
            <p:ph type="sldNum" sz="quarter" idx="12"/>
          </p:nvPr>
        </p:nvSpPr>
        <p:spPr/>
        <p:txBody>
          <a:bodyPr/>
          <a:lstStyle/>
          <a:p>
            <a:fld id="{949EBC64-41CB-41B8-B6DF-9B1367312BD4}"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cs typeface="Arial" panose="020B0604020202020204" pitchFamily="34" charset="0"/>
              </a:rPr>
              <a:t>Judgment Sampling</a:t>
            </a:r>
            <a:endParaRPr lang="en-US" dirty="0"/>
          </a:p>
        </p:txBody>
      </p:sp>
      <p:sp>
        <p:nvSpPr>
          <p:cNvPr id="4" name="Content Placeholder 3"/>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The person most knowledgeable on the subject of the study selects elements of the population that he or she feels are most representative of the population.</a:t>
            </a:r>
          </a:p>
          <a:p>
            <a:pPr marL="342900" lvl="0" indent="-342900"/>
            <a:r>
              <a:rPr lang="en-US" sz="2400" dirty="0">
                <a:solidFill>
                  <a:srgbClr val="000000"/>
                </a:solidFill>
                <a:cs typeface="Arial" panose="020B0604020202020204" pitchFamily="34" charset="0"/>
              </a:rPr>
              <a:t>It is a </a:t>
            </a:r>
            <a:r>
              <a:rPr lang="en-US" sz="2400" u="sng" dirty="0">
                <a:solidFill>
                  <a:srgbClr val="000000"/>
                </a:solidFill>
                <a:cs typeface="Arial" panose="020B0604020202020204" pitchFamily="34" charset="0"/>
              </a:rPr>
              <a:t>nonprobability sampling technique</a:t>
            </a:r>
            <a:r>
              <a:rPr lang="en-US" sz="2400" dirty="0">
                <a:solidFill>
                  <a:srgbClr val="000000"/>
                </a:solidFill>
                <a:cs typeface="Arial" panose="020B0604020202020204" pitchFamily="34" charset="0"/>
              </a:rPr>
              <a:t>.</a:t>
            </a:r>
          </a:p>
          <a:p>
            <a:pPr marL="342900" lvl="0" indent="-342900"/>
            <a:r>
              <a:rPr lang="en-US" sz="2400" u="sng" dirty="0">
                <a:solidFill>
                  <a:srgbClr val="000000"/>
                </a:solidFill>
                <a:cs typeface="Arial" panose="020B0604020202020204" pitchFamily="34" charset="0"/>
              </a:rPr>
              <a:t>Example</a:t>
            </a:r>
            <a:r>
              <a:rPr lang="en-US" sz="2400" dirty="0">
                <a:solidFill>
                  <a:srgbClr val="000000"/>
                </a:solidFill>
                <a:cs typeface="Arial" panose="020B0604020202020204" pitchFamily="34" charset="0"/>
              </a:rPr>
              <a:t>:  A reporter might sample three or four senators, judging them as reflecting the general opinion of the senate.</a:t>
            </a:r>
          </a:p>
          <a:p>
            <a:pPr marL="342900" indent="-342900"/>
            <a:r>
              <a:rPr lang="en-US" sz="2400" u="sng" dirty="0">
                <a:solidFill>
                  <a:srgbClr val="000000"/>
                </a:solidFill>
                <a:cs typeface="Arial" panose="020B0604020202020204" pitchFamily="34" charset="0"/>
              </a:rPr>
              <a:t>Advantage</a:t>
            </a:r>
            <a:r>
              <a:rPr lang="en-US" sz="2400" dirty="0">
                <a:solidFill>
                  <a:srgbClr val="000000"/>
                </a:solidFill>
                <a:cs typeface="Arial" panose="020B0604020202020204" pitchFamily="34" charset="0"/>
              </a:rPr>
              <a:t>:  It is a relatively easy way of selecting a sample.</a:t>
            </a:r>
          </a:p>
          <a:p>
            <a:pPr marL="342900" lvl="0" indent="-342900"/>
            <a:r>
              <a:rPr lang="en-US" sz="2400" u="sng" dirty="0">
                <a:solidFill>
                  <a:srgbClr val="000000"/>
                </a:solidFill>
                <a:cs typeface="Arial" panose="020B0604020202020204" pitchFamily="34" charset="0"/>
              </a:rPr>
              <a:t>Disadvantage</a:t>
            </a:r>
            <a:r>
              <a:rPr lang="en-US" sz="2400" dirty="0">
                <a:solidFill>
                  <a:srgbClr val="000000"/>
                </a:solidFill>
                <a:cs typeface="Arial" panose="020B0604020202020204" pitchFamily="34" charset="0"/>
              </a:rPr>
              <a:t>:  The quality of the sample results depends on the judgment of the person selecting the sample.</a:t>
            </a:r>
          </a:p>
        </p:txBody>
      </p:sp>
      <p:sp>
        <p:nvSpPr>
          <p:cNvPr id="2" name="Slide Number Placeholder 1"/>
          <p:cNvSpPr>
            <a:spLocks noGrp="1"/>
          </p:cNvSpPr>
          <p:nvPr>
            <p:ph type="sldNum" sz="quarter" idx="12"/>
          </p:nvPr>
        </p:nvSpPr>
        <p:spPr/>
        <p:txBody>
          <a:bodyPr/>
          <a:lstStyle/>
          <a:p>
            <a:fld id="{949EBC64-41CB-41B8-B6DF-9B1367312BD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cs typeface="Arial" panose="020B0604020202020204" pitchFamily="34" charset="0"/>
              </a:rPr>
              <a:t>Recommendation</a:t>
            </a:r>
            <a:endParaRPr lang="en-US" dirty="0"/>
          </a:p>
        </p:txBody>
      </p:sp>
      <p:sp>
        <p:nvSpPr>
          <p:cNvPr id="8" name="Content Placeholder 7"/>
          <p:cNvSpPr>
            <a:spLocks noGrp="1"/>
          </p:cNvSpPr>
          <p:nvPr>
            <p:ph sz="quarter" idx="13"/>
          </p:nvPr>
        </p:nvSpPr>
        <p:spPr/>
        <p:txBody>
          <a:bodyPr>
            <a:noAutofit/>
          </a:bodyPr>
          <a:lstStyle/>
          <a:p>
            <a:pPr marL="342900" indent="-342900"/>
            <a:r>
              <a:rPr lang="en-US" sz="2400" dirty="0">
                <a:solidFill>
                  <a:srgbClr val="000000"/>
                </a:solidFill>
                <a:cs typeface="Arial" panose="020B0604020202020204" pitchFamily="34" charset="0"/>
              </a:rPr>
              <a:t>It is recommended that probability sampling methods (simple random, stratified, cluster, or systematic) be used.</a:t>
            </a:r>
          </a:p>
          <a:p>
            <a:pPr marL="342900" indent="-342900"/>
            <a:r>
              <a:rPr lang="en-US" sz="2400" dirty="0">
                <a:solidFill>
                  <a:srgbClr val="000000"/>
                </a:solidFill>
                <a:cs typeface="Arial" panose="020B0604020202020204" pitchFamily="34" charset="0"/>
              </a:rPr>
              <a:t>For these methods, formulas are available for evaluating the “goodness” of the sample results in terms of the closeness of the results to the population  parameters being estimated.</a:t>
            </a:r>
          </a:p>
          <a:p>
            <a:pPr marL="342900" indent="-342900"/>
            <a:r>
              <a:rPr lang="en-US" sz="2400" dirty="0">
                <a:solidFill>
                  <a:srgbClr val="000000"/>
                </a:solidFill>
                <a:cs typeface="Arial" panose="020B0604020202020204" pitchFamily="34" charset="0"/>
              </a:rPr>
              <a:t>An evaluation of the goodness cannot be made with non-probability (convenience or judgment) sampling methods.</a:t>
            </a:r>
          </a:p>
        </p:txBody>
      </p:sp>
      <p:sp>
        <p:nvSpPr>
          <p:cNvPr id="4" name="Slide Number Placeholder 3"/>
          <p:cNvSpPr>
            <a:spLocks noGrp="1"/>
          </p:cNvSpPr>
          <p:nvPr>
            <p:ph type="sldNum" sz="quarter" idx="12"/>
          </p:nvPr>
        </p:nvSpPr>
        <p:spPr/>
        <p:txBody>
          <a:bodyPr/>
          <a:lstStyle/>
          <a:p>
            <a:fld id="{949EBC64-41CB-41B8-B6DF-9B1367312BD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 of Chapter 7</a:t>
            </a:r>
          </a:p>
        </p:txBody>
      </p:sp>
      <p:pic>
        <p:nvPicPr>
          <p:cNvPr id="6" name="Content Placeholder 5" descr="A check mark.">
            <a:extLst>
              <a:ext uri="{FF2B5EF4-FFF2-40B4-BE49-F238E27FC236}">
                <a16:creationId xmlns:a16="http://schemas.microsoft.com/office/drawing/2014/main" id="{974453CD-1C53-43D0-BCC2-3A9B3FEECA29}"/>
              </a:ext>
            </a:extLst>
          </p:cNvPr>
          <p:cNvPicPr>
            <a:picLocks noGrp="1" noChangeAspect="1"/>
          </p:cNvPicPr>
          <p:nvPr>
            <p:ph sz="quarter" idx="13"/>
          </p:nvPr>
        </p:nvPicPr>
        <p:blipFill>
          <a:blip r:embed="rId2"/>
          <a:stretch>
            <a:fillRect/>
          </a:stretch>
        </p:blipFill>
        <p:spPr>
          <a:xfrm>
            <a:off x="4304506" y="1635125"/>
            <a:ext cx="3552825" cy="4124325"/>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solidFill>
                  <a:prstClr val="black">
                    <a:tint val="75000"/>
                  </a:prstClr>
                </a:solidFill>
              </a:rPr>
              <a:pPr/>
              <a:t>52</a:t>
            </a:fld>
            <a:endParaRPr lang="en-US">
              <a:solidFill>
                <a:prstClr val="black">
                  <a:tint val="75000"/>
                </a:prstClr>
              </a:solidFill>
            </a:endParaRPr>
          </a:p>
        </p:txBody>
      </p:sp>
    </p:spTree>
    <p:extLst>
      <p:ext uri="{BB962C8B-B14F-4D97-AF65-F5344CB8AC3E}">
        <p14:creationId xmlns:p14="http://schemas.microsoft.com/office/powerpoint/2010/main" val="3958288097"/>
      </p:ext>
    </p:extLst>
  </p:cSld>
  <p:clrMapOvr>
    <a:masterClrMapping/>
  </p:clrMapOvr>
</p:sld>
</file>

<file path=ppt/theme/theme1.xml><?xml version="1.0" encoding="utf-8"?>
<a:theme xmlns:a="http://schemas.openxmlformats.org/drawingml/2006/main" name="SBE14ch07_New">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SBE13ch01_New</Template>
  <TotalTime>9514</TotalTime>
  <Pages>30</Pages>
  <Words>3106</Words>
  <Application>Microsoft Office PowerPoint</Application>
  <PresentationFormat>Custom</PresentationFormat>
  <Paragraphs>373</Paragraphs>
  <Slides>52</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Book Antiqua</vt:lpstr>
      <vt:lpstr>Arial</vt:lpstr>
      <vt:lpstr>Symbol</vt:lpstr>
      <vt:lpstr>MS Reference Serif</vt:lpstr>
      <vt:lpstr>Calibri</vt:lpstr>
      <vt:lpstr>Cambria Math</vt:lpstr>
      <vt:lpstr>SBE14ch07_New</vt:lpstr>
      <vt:lpstr>Statistics for  Business and Economics (14e)</vt:lpstr>
      <vt:lpstr>Chapter 7 - Sampling and Sampling Distributions</vt:lpstr>
      <vt:lpstr>Introduction (1 of 2)</vt:lpstr>
      <vt:lpstr>Introduction (2 of 2)</vt:lpstr>
      <vt:lpstr>Sampling from a Finite Population (1 of 2)</vt:lpstr>
      <vt:lpstr>Sampling from a Finite Population (2 of 2)</vt:lpstr>
      <vt:lpstr>Sampling from an Infinite Population (1 of 3)</vt:lpstr>
      <vt:lpstr>Sampling from an Infinite Population (2 of 3)</vt:lpstr>
      <vt:lpstr>Sampling from an Infinite Population (3 of 3)</vt:lpstr>
      <vt:lpstr>Point Estimation (1 of 4)</vt:lpstr>
      <vt:lpstr>Point Estimation (2 of 4)</vt:lpstr>
      <vt:lpstr>Point Estimation (3 of 4)</vt:lpstr>
      <vt:lpstr>Point Estimation (4 of 4)</vt:lpstr>
      <vt:lpstr>Summary of Point Estimates Obtained from a Simple Random Sample</vt:lpstr>
      <vt:lpstr>Practical Advice</vt:lpstr>
      <vt:lpstr>Sampling Distribution of x ̅ (1 of 10)</vt:lpstr>
      <vt:lpstr>Sampling Distribution of x ̅ (2 of 10)</vt:lpstr>
      <vt:lpstr>Sampling Distribution of x ̅ (3 of 10)</vt:lpstr>
      <vt:lpstr>Sampling Distribution of x ̅ (4 of 10)</vt:lpstr>
      <vt:lpstr>Sampling Distribution of x ̅ (5 of 10)</vt:lpstr>
      <vt:lpstr>Central Limit Theorem</vt:lpstr>
      <vt:lpstr>Sampling Distribution of x ̅ (6 of 10)</vt:lpstr>
      <vt:lpstr>Sampling Distribution of x ̅ (7 of 10)</vt:lpstr>
      <vt:lpstr>Sampling Distribution of x ̅ (8 of 10)</vt:lpstr>
      <vt:lpstr>Sampling Distribution of x ̅ (9 of 10)</vt:lpstr>
      <vt:lpstr>Sampling Distribution of x ̅ (10 of 10)</vt:lpstr>
      <vt:lpstr>Sampling Distribution of x ̅ for SAT Scores</vt:lpstr>
      <vt:lpstr>Relationship Between the Sample Size and the Sampling Distribution of x ̅ (1 of 4)</vt:lpstr>
      <vt:lpstr>Relationship Between the Sample Size and the Sampling Distribution of x ̅ (2 of 4)</vt:lpstr>
      <vt:lpstr>Relationship Between the Sample Size and the Sampling Distribution of x ̅ (3 of 4)</vt:lpstr>
      <vt:lpstr>Relationship Between the Sample Size and the Sampling Distribution of x ̅ (4 of 4)</vt:lpstr>
      <vt:lpstr>Sampling Distribution of p ̅ (1 of 10)</vt:lpstr>
      <vt:lpstr>Sampling Distribution of p ̅ (2 of 10)</vt:lpstr>
      <vt:lpstr>Sampling Distribution of p ̅ (3 of 10)</vt:lpstr>
      <vt:lpstr>Sampling Distribution of p ̅ (4 of 10)</vt:lpstr>
      <vt:lpstr>Sampling Distribution of p ̅ (5 of 10)</vt:lpstr>
      <vt:lpstr>Sampling Distribution of p ̅ (6 of 10)</vt:lpstr>
      <vt:lpstr>Sampling Distribution of p ̅ (7 of 10)</vt:lpstr>
      <vt:lpstr>Sampling Distribution of p ̅ (8 of 10)</vt:lpstr>
      <vt:lpstr>Sampling Distribution of p ̅ (9 of 10)</vt:lpstr>
      <vt:lpstr>Sampling Distribution of p ̅ (10 of 10)</vt:lpstr>
      <vt:lpstr>Other Sampling Methods</vt:lpstr>
      <vt:lpstr>Stratified Random Sampling</vt:lpstr>
      <vt:lpstr>Stratified Random Sampling, Part 2</vt:lpstr>
      <vt:lpstr>Cluster Sampling (1 of 2)</vt:lpstr>
      <vt:lpstr>Cluster Sampling (2 of 2)</vt:lpstr>
      <vt:lpstr>Systematic Sampling (1 of 2)</vt:lpstr>
      <vt:lpstr>Systematic Sampling (2 of 2)</vt:lpstr>
      <vt:lpstr>Convenience Sampling</vt:lpstr>
      <vt:lpstr>Judgment Sampling</vt:lpstr>
      <vt:lpstr>Recommendation</vt:lpstr>
      <vt:lpstr>End of Chapter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7 Sampling Distributions</dc:title>
  <dc:creator>John IV</dc:creator>
  <cp:lastModifiedBy>Lazaj, Klotilda</cp:lastModifiedBy>
  <cp:revision>481</cp:revision>
  <cp:lastPrinted>1601-01-01T00:00:00Z</cp:lastPrinted>
  <dcterms:created xsi:type="dcterms:W3CDTF">1996-08-26T13:38:50Z</dcterms:created>
  <dcterms:modified xsi:type="dcterms:W3CDTF">2025-10-28T03:35:14Z</dcterms:modified>
</cp:coreProperties>
</file>